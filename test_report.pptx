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10972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A032"/>
                </a:solidFill>
                <a:latin typeface="Calibri"/>
              </a:rPr>
              <a:t>27.03.2026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Banco de Desenvolvimento de Angola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1.  Sumário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2.  Liquidez – Moeda 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3.  Liquidez – Moeda Estrangeira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7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4.  Mercado Cambial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5.  Mercado de Capitais (BODIVA)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6.  Informação de Mercados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Sumário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315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  <a:gridCol w="301752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Variação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Taxa de Juro de Referência (TJR)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19,50%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LUIBOR O/N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20,10%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+0,05%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USD/AOA (BNA)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912,50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+0,30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USD/AOA (Mercado)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915,00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+0,50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IBOVESPA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Petróleo Brent (USD/barril)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73,20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  <a:latin typeface="Calibri"/>
                        </a:rPr>
                        <a:t>-0,45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Ouro (USD/oz)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2.045,00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7000"/>
                          </a:solidFill>
                          <a:latin typeface="Calibri"/>
                        </a:rPr>
                        <a:t>+5,00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Reembolso de Crédito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Montante: N/D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Liquidez MN (Milhões AOA)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7772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342"/>
                <a:gridCol w="1110342"/>
                <a:gridCol w="1110342"/>
                <a:gridCol w="1110342"/>
                <a:gridCol w="1110342"/>
                <a:gridCol w="1110342"/>
                <a:gridCol w="1110348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Banco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Dia-5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Dia-4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Dia-3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Dia-2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Dia-1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BDA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Total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685800"/>
            <a:ext cx="36576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685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LUIBOR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0" y="1005840"/>
          <a:ext cx="3749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731520"/>
              </a:tblGrid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Hoje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Ant.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Var.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O/N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20,10%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20,05%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+0,05%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20,25%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20,25%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20,50%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20,50%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21,00%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21,00%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6M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21,50%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21,50%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22,00%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22,00%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7000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880" y="210312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103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Transações MN (Milhões AOA)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82880" y="2423160"/>
          <a:ext cx="7772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Nº Ops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Montante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Mín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Máx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Média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Depósitos O/N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FTO Absorção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FTO Injecção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82880" y="365760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3657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Operações Vivas MN (Milhões AOA)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82880" y="3977639"/>
          <a:ext cx="7772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Nº Ops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Montante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Média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FTO Absorção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FTO Injecção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Liquidez – Moeda Nacional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Fluxos de Caixa MN (Milhões AOA)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11795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Saldo Líquido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Saldo Acum.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82880" y="3474720"/>
            <a:ext cx="36576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3794760"/>
          <a:ext cx="11795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Mês Actual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Acum. Ano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Desvio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Juros Recebidos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Juros Pagos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Margem Líquida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Liquidez ME (Milhões USD)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7772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342"/>
                <a:gridCol w="1110342"/>
                <a:gridCol w="1110342"/>
                <a:gridCol w="1110342"/>
                <a:gridCol w="1110342"/>
                <a:gridCol w="1110342"/>
                <a:gridCol w="111034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Banco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Dia-5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Dia-4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Dia-3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Dia-2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Dia-1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BDA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82880" y="201168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20116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Transações ME (Milhões USD)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2331720"/>
          <a:ext cx="7772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Nº Ops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Montante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Mín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Máx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Média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Depósitos O/N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880" y="347472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3474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Operações Vivas ME (Milhões USD)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82880" y="3794760"/>
          <a:ext cx="7772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Nº Ops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Montante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 Média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FTO Absorção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82880" y="4846320"/>
            <a:ext cx="36576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4846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82880" y="5166360"/>
          <a:ext cx="7772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Saldo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Mercado Cambial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45720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Taxas de Câmbio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11795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Compra BNA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Venda BNA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Compra Merc.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Venda Merc.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%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USD/AOA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912,00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913,00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914,50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916,00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EUR/AOA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990,00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991,50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993,00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995,00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GBP/AOA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1.150,00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1.151,50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1.153,00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1.155,00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82880" y="2560320"/>
            <a:ext cx="45720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2560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Transações BDA (Milhões USD)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2880360"/>
          <a:ext cx="117957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Nº Ops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Montante Compra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Montante Venda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Taxa Média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Leilão USD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880" y="393192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Transações do Mercado (Milhões USD)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82880" y="4251960"/>
          <a:ext cx="5943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Banco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Compra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Venda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Líquido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Mercado de Capitais – BODIVA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Segmentado por Produtos (Milhões AOA)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11795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Nº Transacções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Valor Total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%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Obrigações do Tesouro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Acções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82880" y="2651760"/>
            <a:ext cx="36576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2651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Bolsa de Acções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2971800"/>
          <a:ext cx="9875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1371600"/>
                <a:gridCol w="1371600"/>
                <a:gridCol w="137160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Preço Ant.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Preço Actual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Variação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BAI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Banco Angolano de Investimentos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Banco de Fomento Angola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BCGA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Banco Caixa Geral Angola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ENSA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Empresa Nacional de Seguros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BDV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Banco de Desenvolvimento de Angola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45720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Carteira de Títulos BDA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108"/>
                <a:gridCol w="1685108"/>
                <a:gridCol w="1685108"/>
                <a:gridCol w="1685108"/>
                <a:gridCol w="1685108"/>
                <a:gridCol w="1685108"/>
                <a:gridCol w="1685112"/>
              </a:tblGrid>
              <a:tr h="16002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Título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VN (M AOA)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VM (M AOA)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P&amp;L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OT 2025-01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82880" y="438912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4389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Transações BDA no Mercado Secundário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4709160"/>
          <a:ext cx="11795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Título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Montante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Contraparte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54864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Mercados de Capitais Internacionais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5852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Índice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Variação 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Variação YTD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4.800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+12,0%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NASDAQ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16.500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+18,0%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16.800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+8,0%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FTSE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7.600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JSE (SA)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75.000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+5,0%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IBOVESPA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128.000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+6,0%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2880" y="33832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Mercados internacionais sem grandes variações.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685800"/>
            <a:ext cx="45720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685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Mercado de Criptomoedas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00584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Criptomoeda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Preço (USD)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24h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Market Cap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Bitcoin (BTC)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42.000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+1,5%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820B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Ethereum (ETH)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BNB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47B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XRP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0,65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+2,1%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29260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Bitcoin mantém-se acima dos 42.000 USD.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Informação de Mercados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Calibri"/>
              </a:rPr>
              <a:t>Banco de Desenvolvimento de Angola | Av. 4 de Fevereiro, nº 113, Luanda – Angola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36576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0584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Commodity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Preço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Unidade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YTD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Petróleo Brent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73,20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USD/bbl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-5,0%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Petróleo WTI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68,80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USD/bbl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-6,0%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Gás Natural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2,50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USD/MMBtu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+1,2%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-20,0%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Milho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USD/bu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Soja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1.350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USD/bu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-1,0%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Algodão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+3,0%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2880" y="36576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Petróleo Brent recua ligeiramente.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685800"/>
            <a:ext cx="4572000" cy="2743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685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Metais &amp; Minerais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00584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Metal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Preço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Unidade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Dia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Var. YTD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Ouro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2.045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USD/oz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+10,0%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24,50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USD/oz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+8,0%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Platina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USD/oz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-2,0%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Diamante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Cobre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8.500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+0,4%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Calibri"/>
                        </a:rPr>
                        <a:t>+5,0%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Ferro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USD/t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-3,0%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36576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Ouro mantém tendência positiva.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