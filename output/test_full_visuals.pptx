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jp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429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29000"/>
            <a:ext cx="12188952" cy="2770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429000"/>
            <a:ext cx="73152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239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4B36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681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504748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B36"/>
                </a:solidFill>
                <a:latin typeface="Calibri"/>
              </a:rPr>
              <a:t>30.03.2026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897880"/>
            <a:ext cx="2423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Calibri"/>
              </a:rPr>
              <a:t>Edifício BDA, Condomínio Dolce Vita, Via S8, Talatona
Luanda - Angola</a:t>
            </a:r>
          </a:p>
        </p:txBody>
      </p:sp>
      <p:pic>
        <p:nvPicPr>
          <p:cNvPr id="9" name="Picture 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d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nner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308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83864"/>
            <a:ext cx="1664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D34A3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3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
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
De Mercado</a:t>
            </a:r>
          </a:p>
        </p:txBody>
      </p:sp>
      <p:pic>
        <p:nvPicPr>
          <p:cNvPr id="17" name="Picture 16" descr="icon_report_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144" y="4928616"/>
            <a:ext cx="466344" cy="466344"/>
          </a:xfrm>
          <a:prstGeom prst="rect">
            <a:avLst/>
          </a:prstGeom>
        </p:spPr>
      </p:pic>
      <p:pic>
        <p:nvPicPr>
          <p:cNvPr id="18" name="Picture 17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64008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n 7"/>
          <p:cNvSpPr/>
          <p:nvPr/>
        </p:nvSpPr>
        <p:spPr>
          <a:xfrm>
            <a:off x="356616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48656" y="2752344"/>
            <a:ext cx="1627632" cy="13624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2843784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275,45M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096" y="3438144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Juros de DP</a:t>
            </a:r>
          </a:p>
        </p:txBody>
      </p:sp>
      <p:pic>
        <p:nvPicPr>
          <p:cNvPr id="12" name="Picture 11" descr="icon_s3_liquidez_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837943"/>
            <a:ext cx="40233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066544" y="1837943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1876043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MN (mM Kz)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203703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73,59</a:t>
            </a:r>
          </a:p>
        </p:txBody>
      </p:sp>
      <p:pic>
        <p:nvPicPr>
          <p:cNvPr id="16" name="Picture 15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1837943"/>
            <a:ext cx="155448" cy="9235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-768096" y="2020823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+0,26%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768096" y="2496311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19" name="Picture 18" descr="icon_s3_liquidez_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020824"/>
            <a:ext cx="393192" cy="34747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45352" y="2020824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58924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ME (M USD)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386584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17,10</a:t>
            </a:r>
          </a:p>
        </p:txBody>
      </p:sp>
      <p:pic>
        <p:nvPicPr>
          <p:cNvPr id="23" name="Picture 22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020824"/>
            <a:ext cx="155448" cy="9235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10712" y="2203704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+0,50%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2679192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26" name="Picture 25" descr="icon_s3_posicao_camb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794760"/>
            <a:ext cx="512064" cy="40233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05256" y="3794760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3832860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4160520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39,16</a:t>
            </a:r>
          </a:p>
        </p:txBody>
      </p:sp>
      <p:pic>
        <p:nvPicPr>
          <p:cNvPr id="30" name="Picture 29" descr="icon_s3_reembols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3675887"/>
            <a:ext cx="502920" cy="39319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739128" y="3675887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3713987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4041647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135,69</a:t>
            </a:r>
          </a:p>
        </p:txBody>
      </p:sp>
      <p:pic>
        <p:nvPicPr>
          <p:cNvPr id="34" name="Picture 33" descr="icon_s3_rentabilid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631" y="1344168"/>
            <a:ext cx="420624" cy="2743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799831" y="134416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19" y="138226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170992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23,56</a:t>
            </a:r>
          </a:p>
        </p:txBody>
      </p:sp>
      <p:pic>
        <p:nvPicPr>
          <p:cNvPr id="38" name="Picture 37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1" y="1344168"/>
            <a:ext cx="155448" cy="9235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65191" y="1527048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-6,45%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5191" y="2002536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41" name="Picture 40" descr="icon_s3_rentabilid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2130552"/>
            <a:ext cx="420624" cy="27432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650224" y="2130552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68512" y="2168652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2496312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1.351,69</a:t>
            </a:r>
          </a:p>
        </p:txBody>
      </p:sp>
      <p:pic>
        <p:nvPicPr>
          <p:cNvPr id="45" name="Picture 44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130552"/>
            <a:ext cx="155448" cy="9235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15584" y="2313432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-0,66%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5584" y="2788920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48" name="Picture 47" descr="icon_s3_rentabilid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1618488"/>
            <a:ext cx="420624" cy="27432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7790688" y="161848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6" y="165658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08976" y="198424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26,85</a:t>
            </a:r>
          </a:p>
        </p:txBody>
      </p:sp>
      <p:pic>
        <p:nvPicPr>
          <p:cNvPr id="52" name="Picture 51" descr="icon_s3_reembols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3831336"/>
            <a:ext cx="502920" cy="393192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9125712" y="3831336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869436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197096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9,82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029200"/>
            <a:ext cx="5303520" cy="109728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06577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Enquadramento: Enquadramento teste.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5029200"/>
            <a:ext cx="5303520" cy="109728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06577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Breve conclusão: Conclusão teste.</a:t>
            </a:r>
          </a:p>
        </p:txBody>
      </p:sp>
      <p:pic>
        <p:nvPicPr>
          <p:cNvPr id="60" name="Picture 59" descr="icon_report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0656" y="5870448"/>
            <a:ext cx="320040" cy="320040"/>
          </a:xfrm>
          <a:prstGeom prst="rect">
            <a:avLst/>
          </a:prstGeom>
        </p:spPr>
      </p:pic>
      <p:pic>
        <p:nvPicPr>
          <p:cNvPr id="61" name="Picture 60" descr="footer_bann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Reservas BNA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1,300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4,000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4,400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4,800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5,200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73,590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84708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120" y="185978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03120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1158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2103120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71320" y="211582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21031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0120" y="21158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103120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97400" y="211582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2103120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3400" y="211582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2103120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12200" y="2115820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3591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720" y="23718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2359152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71320" y="237185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23591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00120" y="23718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235915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97400" y="237185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2359152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83400" y="237185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2359152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12200" y="2371852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7249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5120" y="27376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720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50284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75684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26249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1649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02213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27613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78178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03578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54142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79542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30107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55507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9720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50284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75684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26249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1649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02213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27613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78178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03578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54142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79542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330107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55507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60273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5120" y="361543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9720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20670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46070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67020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92420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13371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38771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59721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85121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9720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20670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46070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9.15%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967020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992420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9.15%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13371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338771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9.15%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59721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685121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99720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20670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46070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67020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992420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13371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38771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59721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85121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97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620670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4607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967020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9924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13371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3877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59721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8512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4320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997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20670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4607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967020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924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313371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33877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659721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8512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97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20670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64607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967020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9924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313371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33877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59721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8512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7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620670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64607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967020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9924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313371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33877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59721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8512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7744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2824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Total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2824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73,590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48056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3136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Juros Diário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3136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Kz 22,04M</a:t>
            </a:r>
          </a:p>
        </p:txBody>
      </p:sp>
      <p:pic>
        <p:nvPicPr>
          <p:cNvPr id="179" name="Picture 178" descr="icon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4983480"/>
            <a:ext cx="740664" cy="713232"/>
          </a:xfrm>
          <a:prstGeom prst="rect">
            <a:avLst/>
          </a:prstGeom>
        </p:spPr>
      </p:pic>
      <p:pic>
        <p:nvPicPr>
          <p:cNvPr id="180" name="Picture 179" descr="icon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111496"/>
            <a:ext cx="521207" cy="612648"/>
          </a:xfrm>
          <a:prstGeom prst="rect">
            <a:avLst/>
          </a:prstGeom>
        </p:spPr>
      </p:pic>
      <p:pic>
        <p:nvPicPr>
          <p:cNvPr id="181" name="Picture 180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33502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120" y="134772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591056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720" y="160375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0196" y="1591056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5596" y="160375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3134" y="1591056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534" y="160375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3054096"/>
            <a:ext cx="2459736" cy="2313432"/>
          </a:xfrm>
          <a:prstGeom prst="rect">
            <a:avLst/>
          </a:prstGeom>
        </p:spPr>
      </p:pic>
      <p:pic>
        <p:nvPicPr>
          <p:cNvPr id="30" name="Picture 29" descr="icon_kz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5468112"/>
            <a:ext cx="512064" cy="374904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154680"/>
            <a:ext cx="3739896" cy="2194560"/>
          </a:xfrm>
          <a:prstGeom prst="rect">
            <a:avLst/>
          </a:prstGeom>
        </p:spPr>
      </p:pic>
      <p:pic>
        <p:nvPicPr>
          <p:cNvPr id="32" name="Picture 31" descr="footer_b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17.00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17.50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18.00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18.50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19.00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84708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120" y="185978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50284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75684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26249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1649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2213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27613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8178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03578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4142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79542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30107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55507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720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50284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75684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26249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1649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2213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27613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78178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03578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54142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79542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30107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55507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27249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5120" y="27376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29612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55012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84904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10304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40196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65596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95488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20888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0780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76180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29612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55012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84904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10304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40196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65596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95488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20888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50780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76180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60273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5120" y="361543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858768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9720" y="387146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3383280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08680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56048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81448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28816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54216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01584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26984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4352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99752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7744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42824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Total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2824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19.00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48056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3136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Juros Diário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3136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USD 1.358</a:t>
            </a:r>
          </a:p>
        </p:txBody>
      </p:sp>
      <p:pic>
        <p:nvPicPr>
          <p:cNvPr id="121" name="Picture 120" descr="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5129784"/>
            <a:ext cx="557784" cy="649224"/>
          </a:xfrm>
          <a:prstGeom prst="rect">
            <a:avLst/>
          </a:prstGeom>
        </p:spPr>
      </p:pic>
      <p:pic>
        <p:nvPicPr>
          <p:cNvPr id="122" name="Picture 121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911.00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912.43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+0.16%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1848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5120" y="163118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874520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887220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874520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800" y="18872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1874520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11400" y="18872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1874520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83000" y="1887220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18745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1720" y="1887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130552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2143252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21305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800" y="21432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21305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11400" y="21432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2130552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83000" y="2143252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21305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1720" y="2143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523744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5120" y="2536444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77977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9720" y="279247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2779776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97000" y="27924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2779776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42920" y="279247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2779776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5960" y="279247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03580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720" y="30485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3035808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97000" y="3048508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3035808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42920" y="3048508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3035808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05960" y="3048508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160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Transações (USD)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5160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157,30 M USD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3544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8624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 (Kz)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8624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39,16 mM Kz</a:t>
            </a:r>
          </a:p>
        </p:txBody>
      </p:sp>
      <p:pic>
        <p:nvPicPr>
          <p:cNvPr id="91" name="Picture 90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40280"/>
            <a:ext cx="493776" cy="493776"/>
          </a:xfrm>
          <a:prstGeom prst="rect">
            <a:avLst/>
          </a:prstGeom>
        </p:spPr>
      </p:pic>
      <p:pic>
        <p:nvPicPr>
          <p:cNvPr id="92" name="Picture 91" descr="icon_fx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612648"/>
            <a:ext cx="429768" cy="429768"/>
          </a:xfrm>
          <a:prstGeom prst="rect">
            <a:avLst/>
          </a:prstGeom>
        </p:spPr>
      </p:pic>
      <p:pic>
        <p:nvPicPr>
          <p:cNvPr id="93" name="Picture 92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8552" y="749808"/>
            <a:ext cx="274320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9352" y="787908"/>
            <a:ext cx="264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9352" y="1042416"/>
            <a:ext cx="264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91,21 mM Kz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8988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120" y="140258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64592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720" y="165862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164592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45640" y="165862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1645920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1560" y="165862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1645920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0360" y="165862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164592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9160" y="165862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1645920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5080" y="1658620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901952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720" y="191465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1901952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45640" y="191465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1901952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1560" y="191465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1901952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0360" y="191465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1901952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49160" y="191465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1901952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5080" y="1914652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46" name="Picture 45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9400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400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0,00 mM Kz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008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Juros Diário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008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29,21 M Kz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77" name="Picture 76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5700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5650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-0.88%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713232"/>
            <a:ext cx="5925312" cy="274320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1240" y="749808"/>
            <a:ext cx="57729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Os principais índices dos EUA encerraram com quedas moderadas.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23360"/>
            <a:ext cx="5925312" cy="237744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1240" y="4059936"/>
            <a:ext cx="57729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e Ethereum registaram altas.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581144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0440" y="459028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41" name="Picture 40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685800"/>
            <a:ext cx="356616" cy="356616"/>
          </a:xfrm>
          <a:prstGeom prst="rect">
            <a:avLst/>
          </a:prstGeom>
        </p:spPr>
      </p:pic>
      <p:pic>
        <p:nvPicPr>
          <p:cNvPr id="42" name="Picture 41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713232"/>
            <a:ext cx="5925312" cy="274320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1240" y="749808"/>
            <a:ext cx="57729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em alta.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89888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120" y="1402588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645920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6586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16459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4280" y="16586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1560" y="16586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459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8840" y="16586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947672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60440" y="195681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31" name="Picture 30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207008"/>
            <a:ext cx="576072" cy="566928"/>
          </a:xfrm>
          <a:prstGeom prst="rect">
            <a:avLst/>
          </a:prstGeom>
        </p:spPr>
      </p:pic>
      <p:pic>
        <p:nvPicPr>
          <p:cNvPr id="32" name="Picture 31" descr="icon_report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822960"/>
            <a:ext cx="356616" cy="356616"/>
          </a:xfrm>
          <a:prstGeom prst="rect">
            <a:avLst/>
          </a:prstGeom>
        </p:spPr>
      </p:pic>
      <p:pic>
        <p:nvPicPr>
          <p:cNvPr id="33" name="Picture 32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