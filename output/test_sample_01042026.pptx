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7"/>
  </p:normalViewPr>
  <p:slideViewPr>
    <p:cSldViewPr snapToGrid="0" snapToObjects="1">
      <p:cViewPr varScale="1">
        <p:scale>
          <a:sx n="108" d="100"/>
          <a:sy n="108" d="100"/>
        </p:scale>
        <p:origin x="7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3429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29000"/>
            <a:ext cx="12188952" cy="2770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3429000"/>
            <a:ext cx="73152" cy="201168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123944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4B36"/>
                </a:solidFill>
                <a:latin typeface="Calibri"/>
              </a:rPr>
              <a:t>Resumo Diário Dos Mercados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681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DIRECÇÃO FINANCEIRA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5047488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4B36"/>
                </a:solidFill>
                <a:latin typeface="Calibri"/>
              </a:rPr>
              <a:t>01.04.2026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897880"/>
            <a:ext cx="2423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Calibri"/>
              </a:rPr>
              <a:t>Edifício BDA, Condomínio Dolce Vita, Via S8, Talatona
Luanda - Angola</a:t>
            </a:r>
          </a:p>
        </p:txBody>
      </p:sp>
      <p:pic>
        <p:nvPicPr>
          <p:cNvPr id="9" name="Picture 8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nner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3081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3483864"/>
            <a:ext cx="1664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D34A3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7943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3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
Capitais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Informação
De Mercado</a:t>
            </a:r>
          </a:p>
        </p:txBody>
      </p:sp>
      <p:pic>
        <p:nvPicPr>
          <p:cNvPr id="17" name="Picture 16" descr="icon_report_b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144" y="4928616"/>
            <a:ext cx="466344" cy="466344"/>
          </a:xfrm>
          <a:prstGeom prst="rect">
            <a:avLst/>
          </a:prstGeom>
        </p:spPr>
      </p:pic>
      <p:pic>
        <p:nvPicPr>
          <p:cNvPr id="18" name="Picture 17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n 6"/>
          <p:cNvSpPr/>
          <p:nvPr/>
        </p:nvSpPr>
        <p:spPr>
          <a:xfrm>
            <a:off x="64008" y="694944"/>
            <a:ext cx="429768" cy="347472"/>
          </a:xfrm>
          <a:prstGeom prst="can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n 7"/>
          <p:cNvSpPr/>
          <p:nvPr/>
        </p:nvSpPr>
        <p:spPr>
          <a:xfrm>
            <a:off x="356616" y="694944"/>
            <a:ext cx="429768" cy="347472"/>
          </a:xfrm>
          <a:prstGeom prst="can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249570" y="2751429"/>
            <a:ext cx="1626717" cy="1363370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41010" y="2842869"/>
            <a:ext cx="144383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275,45M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1010" y="3437229"/>
            <a:ext cx="144383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Juros de DP</a:t>
            </a:r>
          </a:p>
        </p:txBody>
      </p:sp>
      <p:pic>
        <p:nvPicPr>
          <p:cNvPr id="12" name="Picture 11" descr="icon_s3_liquidez_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837943"/>
            <a:ext cx="402336" cy="502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066544" y="1837943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84832" y="1876043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Liquidez MN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2" y="2203703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8.432,10 mM Kz</a:t>
            </a:r>
          </a:p>
        </p:txBody>
      </p:sp>
      <p:pic>
        <p:nvPicPr>
          <p:cNvPr id="16" name="Picture 15" descr="icon_s3_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344" y="1837943"/>
            <a:ext cx="155448" cy="9235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-768096" y="2020823"/>
            <a:ext cx="2359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A33"/>
                </a:solidFill>
                <a:latin typeface="Calibri"/>
              </a:rPr>
              <a:t>+2,3%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768096" y="2496311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Face ao dia anterior</a:t>
            </a:r>
          </a:p>
        </p:txBody>
      </p:sp>
      <p:pic>
        <p:nvPicPr>
          <p:cNvPr id="19" name="Picture 18" descr="icon_s3_liquidez_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2020824"/>
            <a:ext cx="393192" cy="34747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45352" y="2020824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058924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Liquidez 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386584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1.204,50 MUSD</a:t>
            </a:r>
          </a:p>
        </p:txBody>
      </p:sp>
      <p:pic>
        <p:nvPicPr>
          <p:cNvPr id="23" name="Picture 22" descr="icon_s3_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2020824"/>
            <a:ext cx="155448" cy="9235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410712" y="2203704"/>
            <a:ext cx="2359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Calibri"/>
              </a:rPr>
              <a:t>-0,8%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2679192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Face ao dia anterior</a:t>
            </a:r>
          </a:p>
        </p:txBody>
      </p:sp>
      <p:pic>
        <p:nvPicPr>
          <p:cNvPr id="26" name="Picture 25" descr="icon_s3_posicao_cambi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794760"/>
            <a:ext cx="512064" cy="40233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905256" y="3794760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" y="3832860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Posição Cambial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" y="4160520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620,30 MUSD</a:t>
            </a:r>
          </a:p>
        </p:txBody>
      </p:sp>
      <p:pic>
        <p:nvPicPr>
          <p:cNvPr id="30" name="Picture 29" descr="icon_s3_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3794760"/>
            <a:ext cx="155448" cy="9235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-1929384" y="3977640"/>
            <a:ext cx="2359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A33"/>
                </a:solidFill>
                <a:latin typeface="Calibri"/>
              </a:rPr>
              <a:t>+1,1%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1929384" y="4453128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Face ao dia anterior</a:t>
            </a:r>
          </a:p>
        </p:txBody>
      </p:sp>
      <p:pic>
        <p:nvPicPr>
          <p:cNvPr id="33" name="Picture 32" descr="icon_s3_reembols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3675887"/>
            <a:ext cx="502920" cy="39319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6739128" y="3675887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7416" y="3713987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Carteira Títulos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7416" y="4041647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3.870,00 mM Kz</a:t>
            </a:r>
          </a:p>
        </p:txBody>
      </p:sp>
      <p:pic>
        <p:nvPicPr>
          <p:cNvPr id="37" name="Picture 36" descr="icon_s3_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675887"/>
            <a:ext cx="155448" cy="9235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904488" y="3858767"/>
            <a:ext cx="2359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A33"/>
                </a:solidFill>
                <a:latin typeface="Calibri"/>
              </a:rPr>
              <a:t>+0,5%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04488" y="4334255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Face ao dia anterior</a:t>
            </a:r>
          </a:p>
        </p:txBody>
      </p:sp>
      <p:pic>
        <p:nvPicPr>
          <p:cNvPr id="40" name="Picture 39" descr="icon_s3_rentabilida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2631" y="1344168"/>
            <a:ext cx="420624" cy="27432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7799831" y="1344168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18119" y="1382268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Rentabilidade MN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19" y="1709928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12,50%</a:t>
            </a:r>
          </a:p>
        </p:txBody>
      </p:sp>
      <p:pic>
        <p:nvPicPr>
          <p:cNvPr id="44" name="Picture 43" descr="icon_s3_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1" y="1344168"/>
            <a:ext cx="155448" cy="9235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965191" y="1527048"/>
            <a:ext cx="2359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A33"/>
                </a:solidFill>
                <a:latin typeface="Calibri"/>
              </a:rPr>
              <a:t>+0,2%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65191" y="2002536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Face ao dia anterior</a:t>
            </a:r>
          </a:p>
        </p:txBody>
      </p:sp>
      <p:pic>
        <p:nvPicPr>
          <p:cNvPr id="47" name="Picture 46" descr="icon_s3_rentabilida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024" y="2130552"/>
            <a:ext cx="420624" cy="27432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650224" y="2130552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68512" y="2168652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Rentabilidade 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68512" y="2496312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4,80%</a:t>
            </a:r>
          </a:p>
        </p:txBody>
      </p:sp>
      <p:pic>
        <p:nvPicPr>
          <p:cNvPr id="51" name="Picture 50" descr="icon_s3_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130552"/>
            <a:ext cx="155448" cy="92354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815584" y="2313432"/>
            <a:ext cx="2359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  <a:latin typeface="Calibri"/>
              </a:rPr>
              <a:t>-0,1%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15584" y="2788920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Face ao dia anterior</a:t>
            </a:r>
          </a:p>
        </p:txBody>
      </p:sp>
      <p:pic>
        <p:nvPicPr>
          <p:cNvPr id="54" name="Picture 53" descr="icon_s3_rentabilida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3488" y="1618488"/>
            <a:ext cx="420624" cy="27432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7790688" y="1618488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808976" y="1656588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Rentabilidade Títulos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08976" y="1984248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9,30%</a:t>
            </a:r>
          </a:p>
        </p:txBody>
      </p:sp>
      <p:pic>
        <p:nvPicPr>
          <p:cNvPr id="58" name="Picture 57" descr="icon_s3_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1618488"/>
            <a:ext cx="155448" cy="92354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956048" y="1801368"/>
            <a:ext cx="2359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A33"/>
                </a:solidFill>
                <a:latin typeface="Calibri"/>
              </a:rPr>
              <a:t>+0,3%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56048" y="2276856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Face ao dia anterior</a:t>
            </a:r>
          </a:p>
        </p:txBody>
      </p:sp>
      <p:pic>
        <p:nvPicPr>
          <p:cNvPr id="61" name="Picture 60" descr="icon_s3_reembols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8512" y="3831336"/>
            <a:ext cx="502920" cy="393192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9125712" y="3831336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144000" y="3869436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Reembolsos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4197096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275,45 mM Kz</a:t>
            </a:r>
          </a:p>
        </p:txBody>
      </p:sp>
      <p:pic>
        <p:nvPicPr>
          <p:cNvPr id="65" name="Picture 64" descr="icon_s3_v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2" y="3831336"/>
            <a:ext cx="155448" cy="92354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291072" y="4014216"/>
            <a:ext cx="2359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A33"/>
                </a:solidFill>
                <a:latin typeface="Calibri"/>
              </a:rPr>
              <a:t>+5,0%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1072" y="4489704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Face ao dia anterior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0333" y="1895551"/>
            <a:ext cx="2977286" cy="1077163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68680" y="1920240"/>
            <a:ext cx="2916936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Enquadramento: O mercado apresentou estabilidade nos principais indicadores de liquidez em MN e ME, com leve pressão cambial motivada por sazonalidade de fim de trimestre.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26019" y="2212848"/>
            <a:ext cx="2977286" cy="831189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955279" y="2240280"/>
            <a:ext cx="29169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Breve conclusão: Perspectiva positiva para o segundo trimestre, com expectativa de aumento de liquidez após período de reembolsos.</a:t>
            </a:r>
          </a:p>
        </p:txBody>
      </p:sp>
      <p:pic>
        <p:nvPicPr>
          <p:cNvPr id="72" name="Picture 71" descr="icon_report_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0656" y="5870448"/>
            <a:ext cx="320040" cy="320040"/>
          </a:xfrm>
          <a:prstGeom prst="rect">
            <a:avLst/>
          </a:prstGeom>
        </p:spPr>
      </p:pic>
      <p:pic>
        <p:nvPicPr>
          <p:cNvPr id="73" name="Picture 72" descr="footer_bann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MN  (Em Milhares)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25/03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26/03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27/03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28/03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01/04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Reservas Livres BNA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1.200,00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1.215,00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1.230,00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1.245,00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1.260,00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DO B. Comerciais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3.100,50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3.120,30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3.098,70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3.150,00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3.172,10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7373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99720" y="17500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DP B. Comerciais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0868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2.400,00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5604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8144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2.410,00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2881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5421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2.395,00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0158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2698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2.420,00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7435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975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2.430,00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1993392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9720" y="20060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OMAs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0868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800,00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5604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8144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790,00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2881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5421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810,00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0158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2698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795,00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7435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69975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800,00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224942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99720" y="226212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8328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40868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7.500,50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5604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98144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7.535,30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2881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55421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7.533,70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0158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12698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7.610,00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7435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69975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7.662,10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2615184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25120" y="2627884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2871216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99720" y="28839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5920" y="2871216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671320" y="288391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0" y="2871216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500120" y="288391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2871216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597400" y="288391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58000" y="2871216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883400" y="288391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86800" y="2871216"/>
            <a:ext cx="35021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712200" y="2883916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3127248"/>
            <a:ext cx="13716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99720" y="3139948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OMA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645920" y="3127248"/>
            <a:ext cx="1828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671320" y="313994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BNA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474720" y="312724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500120" y="313994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10,00%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3127248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97400" y="313994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8.768.000.000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858000" y="3127248"/>
            <a:ext cx="1828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883400" y="313994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02/04/2026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686800" y="3127248"/>
            <a:ext cx="35021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712200" y="3139948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2.402.192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" y="3383280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99720" y="3395980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645920" y="3383280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671320" y="3395980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BAI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474720" y="33832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500120" y="339598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9,50%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3383280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597400" y="3395980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5.000.000.000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58000" y="3383280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883400" y="3395980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15/04/2026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686800" y="3383280"/>
            <a:ext cx="35021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712200" y="3395980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1.301.370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3639312"/>
            <a:ext cx="13716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99720" y="3652012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DP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0" y="3639312"/>
            <a:ext cx="1828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671320" y="3652012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BIC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474720" y="363931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500120" y="365201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8,75%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3639312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597400" y="3652012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3.200.000.000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858000" y="3639312"/>
            <a:ext cx="1828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883400" y="3652012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30/04/2026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86800" y="3639312"/>
            <a:ext cx="35021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712200" y="3652012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769.863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" y="400507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25120" y="401777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4320" y="426110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99720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50284" y="426110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975684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626249" y="426110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3651649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302213" y="426110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327613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978178" y="426110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7003578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654142" y="426110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679542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330107" y="426110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0355507" y="427380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74320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299720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DP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950284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975684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BAI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626249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651649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5.000.000.000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302213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5327613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9,50%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978178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7003578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14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54142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8679542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15/04/2026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330107" y="451713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10355507" y="452983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1.301.370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74320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9720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DP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950284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975684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BIC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626249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3651649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3.200.000.000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302213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327613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8,75%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978178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003578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29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654142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8679542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30/04/2026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330107" y="4773168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10355507" y="4785868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769.863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74320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299720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OMA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950284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975684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BNA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626249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3651649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8.768.000.000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302213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5327613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10,00%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978178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7003578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654142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8679542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02/04/2026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330107" y="5029200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10355507" y="504190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2.402.192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74320" y="539496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325120" y="540766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Taxas LUIBOR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74320" y="5650992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29972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620670" y="5650992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64607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(D-2)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967020" y="5650992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499242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313371" y="5650992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7338771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9659721" y="5650992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9685121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 (%)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27432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29972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O/N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262067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264607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9,25%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96702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499242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9,25%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313371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7338771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9,25%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659721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9685121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0,00%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27432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29972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1M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62067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264607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10,00%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96702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499242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10,00%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313371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7338771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10,00%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659721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9685121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+0,05%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274320" y="641908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299720" y="643178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3M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620670" y="641908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2646070" y="643178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10,50%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4967020" y="641908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4992420" y="643178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10,50%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7313371" y="641908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7338771" y="643178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10,50%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659721" y="6419088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9685121" y="643178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+0,05%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4320" y="667512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299720" y="668782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6M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2620670" y="667512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2646070" y="668782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11,00%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4967020" y="667512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4992420" y="668782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11,00%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7313371" y="667512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7338771" y="668782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11,00%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659721" y="6675120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9685121" y="668782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0,00%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274320" y="6931152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299720" y="694385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9M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620670" y="6931152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2646070" y="694385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11,25%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4967020" y="6931152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4992420" y="694385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11,25%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7313371" y="6931152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7338771" y="694385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11,25%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9659721" y="6931152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9685121" y="694385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-0,05%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74320" y="7187184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299720" y="719988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12M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2620670" y="7187184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2646070" y="719988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11,50%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4967020" y="7187184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4992420" y="719988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11,50%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313371" y="7187184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7338771" y="719988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11,50%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659721" y="7187184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9685121" y="719988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0,00%</a:t>
            </a:r>
          </a:p>
        </p:txBody>
      </p:sp>
      <p:sp>
        <p:nvSpPr>
          <p:cNvPr id="261" name="Oval 260"/>
          <p:cNvSpPr/>
          <p:nvPr/>
        </p:nvSpPr>
        <p:spPr>
          <a:xfrm>
            <a:off x="2450592" y="4923129"/>
            <a:ext cx="1002182" cy="79095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2487168" y="4959705"/>
            <a:ext cx="929030" cy="295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Liquidez Total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487168" y="5255330"/>
            <a:ext cx="929030" cy="458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7.662,10</a:t>
            </a:r>
          </a:p>
        </p:txBody>
      </p:sp>
      <p:sp>
        <p:nvSpPr>
          <p:cNvPr id="264" name="Oval 263"/>
          <p:cNvSpPr/>
          <p:nvPr/>
        </p:nvSpPr>
        <p:spPr>
          <a:xfrm>
            <a:off x="3842308" y="4940503"/>
            <a:ext cx="1002182" cy="79095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3878884" y="4977079"/>
            <a:ext cx="929030" cy="295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 Diário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3878884" y="5272704"/>
            <a:ext cx="929030" cy="458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4.473.425 Kz</a:t>
            </a:r>
          </a:p>
        </p:txBody>
      </p:sp>
      <p:pic>
        <p:nvPicPr>
          <p:cNvPr id="267" name="Picture 266" descr="icon_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4983480"/>
            <a:ext cx="740664" cy="713232"/>
          </a:xfrm>
          <a:prstGeom prst="rect">
            <a:avLst/>
          </a:prstGeom>
        </p:spPr>
      </p:pic>
      <p:pic>
        <p:nvPicPr>
          <p:cNvPr id="268" name="Picture 267" descr="icon_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5111496"/>
            <a:ext cx="521207" cy="612648"/>
          </a:xfrm>
          <a:prstGeom prst="rect">
            <a:avLst/>
          </a:prstGeom>
        </p:spPr>
      </p:pic>
      <p:pic>
        <p:nvPicPr>
          <p:cNvPr id="269" name="Picture 268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3474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7444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25/03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720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26/03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9457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1997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27/03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6734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9274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28/03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4011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6551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01/04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2529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720" y="123799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7444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12.500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2180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4720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13.200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9457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1997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11.800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6734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9274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14.000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011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6551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13.600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48132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720" y="149402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Recebimentos de cupão de títulos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7444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2.300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2180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720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2.300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9457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1997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2.300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6734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9274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2.300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011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6551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2.300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73736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99720" y="175006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crédito (+)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4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7444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3.200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2180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4720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3.100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9457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1997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3.400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6734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9274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3.500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4011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6551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3.200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199339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9720" y="200609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OMA-O/N + Juros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7444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4.000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2180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4720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4.800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9457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1997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3.100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6734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9274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5.200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4011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06551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5.100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2249424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99720" y="226212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Transferencia a favor conta BNA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4904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77444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2180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34720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9457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91997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3.000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6734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49274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4011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06551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3.000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250545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9720" y="251815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49040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774440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10.200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21808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347208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10.800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94576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919976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9.900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67344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92744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11.500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40112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065512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11.200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2761488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99720" y="277418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(-) Juros, comissões e outros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49040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774440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21808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347208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850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894576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919976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780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67344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492744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40112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065512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870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301752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99720" y="303022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Custos Com Pessoal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49040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774440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1.200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21808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347208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94576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919976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67344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92744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40112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065512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3273552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99720" y="328625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Fornecimentos e Serviços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749040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774440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321808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347208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894576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919976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390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467344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492744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430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040112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065512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410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74320" y="352958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9720" y="354228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 (-)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749040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774440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5.800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321808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5347208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6.100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894576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6919976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5.500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67344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492744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6.500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040112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065512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6.300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74320" y="378561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99720" y="379831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Impostos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749040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774440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600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321808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347208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630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894576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919976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580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467344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492744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670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040112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0065512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620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74320" y="404164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299720" y="405434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OMA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749040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74440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1.400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321808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347208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1.600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894576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919976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1.450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467344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8492744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1.800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040112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0065512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1.800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4320" y="429768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299720" y="431038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749040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3774440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+2.300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321808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5347208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+2.400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894576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6919976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+1.900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67344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492744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+2.500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0040112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10065512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+2.400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74320" y="46634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325120" y="46761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P&amp;L Control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74320" y="4919472"/>
            <a:ext cx="5865876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299720" y="4932172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Categoria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140196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6165596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Nº Operações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073134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9098534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74320" y="5175504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299720" y="5188204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 de Crédito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140196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6165596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12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073134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9098534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3.200.000.000 Kz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74320" y="5431536"/>
            <a:ext cx="58658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299720" y="5444236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Fornecedores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140196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6165596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073134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9098534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410.000.000 Kz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74320" y="5687568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299720" y="5700268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140196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6165596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15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73134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9098534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6.300.000.000 Kz</a:t>
            </a:r>
          </a:p>
        </p:txBody>
      </p:sp>
      <p:pic>
        <p:nvPicPr>
          <p:cNvPr id="203" name="Picture 20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3054096"/>
            <a:ext cx="2459736" cy="2313432"/>
          </a:xfrm>
          <a:prstGeom prst="rect">
            <a:avLst/>
          </a:prstGeom>
        </p:spPr>
      </p:pic>
      <p:pic>
        <p:nvPicPr>
          <p:cNvPr id="204" name="Picture 203" descr="icon_kz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5468112"/>
            <a:ext cx="512064" cy="374904"/>
          </a:xfrm>
          <a:prstGeom prst="rect">
            <a:avLst/>
          </a:prstGeom>
        </p:spPr>
      </p:pic>
      <p:pic>
        <p:nvPicPr>
          <p:cNvPr id="205" name="Picture 20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3154680"/>
            <a:ext cx="3739896" cy="2194560"/>
          </a:xfrm>
          <a:prstGeom prst="rect">
            <a:avLst/>
          </a:prstGeom>
        </p:spPr>
      </p:pic>
      <p:pic>
        <p:nvPicPr>
          <p:cNvPr id="206" name="Picture 205" descr="footer_bann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ESTRANGEIRA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ME  (Em Milhões USD)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25/03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26/03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27/03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28/03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01/04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SALDO D.O Estrangeiros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580,20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585,10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579,80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590,00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594,30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DPs 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400,00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400,00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400,00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410,00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410,00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7373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99720" y="17500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COLATERAL CDI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0868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210,00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5604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8144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210,00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2881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5421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210,00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0158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2698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205,00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7435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975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200,00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1993392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9720" y="20060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0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0868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1.190,20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56048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8144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1.195,10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28816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5421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1.189,80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01584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12698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1.205,00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74352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69975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1.204,30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235915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5120" y="237185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ME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99720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50284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975684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26249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651649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02213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327613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78178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003578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654142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679542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330107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355507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287121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99720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DP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50284" y="287121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975684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USD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26249" y="287121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651649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BNA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02213" y="287121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27613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3,50%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78178" y="287121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003578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200.000.000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54142" y="287121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679542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30/04/2026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330107" y="2871216"/>
            <a:ext cx="1675964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355507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192.329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3236976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25120" y="3249676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 ME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99720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29612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255012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184904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210304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40196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165596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095488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120888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50780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0076180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3749040"/>
            <a:ext cx="195529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99720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BNA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29612" y="3749040"/>
            <a:ext cx="195529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255012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200.000.000 USD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84904" y="3749040"/>
            <a:ext cx="195529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210304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3,50%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40196" y="3749040"/>
            <a:ext cx="195529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165596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095488" y="3749040"/>
            <a:ext cx="195529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120888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30/04/2026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50780" y="3749040"/>
            <a:ext cx="195529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076180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192.329 USD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74320" y="411480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25120" y="412750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4370832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99720" y="438353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383280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408680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25/03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956048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4981448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26/03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28816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554216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27/03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101584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8126984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28/03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74352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9699752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01/04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74320" y="462686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99720" y="46395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383280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408680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420,0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956048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4981448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415,0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528816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6554216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430,0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101584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8126984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425,0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674352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699752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418,0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4320" y="4882896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99720" y="48955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Outros recebimentos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383280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408680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20,0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956048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981448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18,5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528816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6554216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22,0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101584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126984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19,0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74352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9699752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21,0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74320" y="5138928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299720" y="51516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DP + Juros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383280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3408680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400,0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956048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4981448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396,5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528816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6554216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408,0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101584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8126984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406,0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674352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9699752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397,0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74320" y="5394960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299720" y="54076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383280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3408680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390,0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956048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4981448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388,0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528816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6554216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395,0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101584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8126984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400,0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674352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9699752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392,0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74320" y="5650992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299720" y="56636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DP ME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383280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3408680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390,0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956048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4981448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388,0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528816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6554216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395,0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101584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8126984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400,0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674352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699752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392,0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4320" y="590702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299720" y="591972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3383280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3408680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+30,0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4956048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4981448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+27,0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528816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554216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+35,0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101584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8126984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+25,0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9674352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9699752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+26,0</a:t>
            </a:r>
          </a:p>
        </p:txBody>
      </p:sp>
      <p:sp>
        <p:nvSpPr>
          <p:cNvPr id="211" name="Oval 210"/>
          <p:cNvSpPr/>
          <p:nvPr/>
        </p:nvSpPr>
        <p:spPr>
          <a:xfrm>
            <a:off x="2575864" y="4809744"/>
            <a:ext cx="1075334" cy="860450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2612440" y="4846320"/>
            <a:ext cx="1002182" cy="324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Liquidez Total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612440" y="5171133"/>
            <a:ext cx="1002182" cy="49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1.204,30</a:t>
            </a:r>
          </a:p>
        </p:txBody>
      </p:sp>
      <p:sp>
        <p:nvSpPr>
          <p:cNvPr id="214" name="Oval 213"/>
          <p:cNvSpPr/>
          <p:nvPr/>
        </p:nvSpPr>
        <p:spPr>
          <a:xfrm>
            <a:off x="3977639" y="4809744"/>
            <a:ext cx="1074420" cy="860450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014215" y="4846320"/>
            <a:ext cx="1001268" cy="324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 Diário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014215" y="5171133"/>
            <a:ext cx="1001268" cy="49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192.329 USD</a:t>
            </a:r>
          </a:p>
        </p:txBody>
      </p:sp>
      <p:pic>
        <p:nvPicPr>
          <p:cNvPr id="217" name="Picture 216" descr="icon_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5129784"/>
            <a:ext cx="557784" cy="649224"/>
          </a:xfrm>
          <a:prstGeom prst="rect">
            <a:avLst/>
          </a:prstGeom>
        </p:spPr>
      </p:pic>
      <p:pic>
        <p:nvPicPr>
          <p:cNvPr id="218" name="Picture 217" descr="footer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Cambiais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12801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798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771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744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172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25296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9720" y="1237996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798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912,00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771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914,80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744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916,50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7172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+0,18%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481328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9720" y="1494028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EUR/AKZ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798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998,50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771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1.001,00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744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1.003,20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7172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+0,22%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737360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9720" y="1750060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EUR/USD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5798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1,0941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517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771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1,0943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744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1,0946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4632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7172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+0,03%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13055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5120" y="214325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BDA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386584"/>
            <a:ext cx="6400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99720" y="2399284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2386584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9800" y="2399284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Par de moeda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0" y="2386584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311400" y="2399284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 Debt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2386584"/>
            <a:ext cx="1188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83000" y="2399284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Câmbio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46320" y="238658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871720" y="239928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P/L AKZ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642616"/>
            <a:ext cx="6400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99720" y="2655316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2642616"/>
            <a:ext cx="13716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9800" y="26553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0" y="2642616"/>
            <a:ext cx="13716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311400" y="26553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15.000.000 USD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0" y="2642616"/>
            <a:ext cx="1188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683000" y="2655316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916,50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6320" y="264261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871720" y="265531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+120.000 Kz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2898648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99720" y="2911348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V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0" y="289864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39800" y="2911348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86000" y="289864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311400" y="2911348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10.000.000 USD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0" y="2898648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683000" y="2911348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917,20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46320" y="289864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871720" y="291134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+85.000 Kz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3154680"/>
            <a:ext cx="6400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9720" y="3167380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" y="3154680"/>
            <a:ext cx="13716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39800" y="3167380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EUR/AKZ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0" y="3154680"/>
            <a:ext cx="13716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311400" y="3167380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5.000.000 EUR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0" y="3154680"/>
            <a:ext cx="1188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683000" y="3167380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1.003,20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46320" y="315468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871720" y="316738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+42.000 Kz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354787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25120" y="356057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do Mercado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380390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99720" y="38166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Liquidação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371600" y="380390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397000" y="381660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 USD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017520" y="3803904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042920" y="3816604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Mínimo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480560" y="3803904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505960" y="3816604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Máximo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405993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99720" y="40726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371600" y="4059936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397000" y="407263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20.300.000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017520" y="4059936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042920" y="407263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916,00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480560" y="4059936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505960" y="407263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917,50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" y="431596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99720" y="432866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371600" y="4315968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397000" y="4328668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15.000.000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017520" y="4315968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042920" y="4328668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916,20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480560" y="4315968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505960" y="4328668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917,80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457200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99720" y="458470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71600" y="4572000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397000" y="458470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10.000.000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017520" y="4572000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042920" y="458470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916,50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480560" y="4572000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505960" y="458470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918,00</a:t>
            </a:r>
          </a:p>
        </p:txBody>
      </p:sp>
      <p:sp>
        <p:nvSpPr>
          <p:cNvPr id="125" name="Oval 124"/>
          <p:cNvSpPr/>
          <p:nvPr/>
        </p:nvSpPr>
        <p:spPr>
          <a:xfrm>
            <a:off x="7774228" y="1300276"/>
            <a:ext cx="1134770" cy="892454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810804" y="1336852"/>
            <a:ext cx="1061618" cy="338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Transações (USD)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810804" y="1675106"/>
            <a:ext cx="1061618" cy="517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45,3 MUSD</a:t>
            </a:r>
          </a:p>
        </p:txBody>
      </p:sp>
      <p:sp>
        <p:nvSpPr>
          <p:cNvPr id="128" name="Oval 127"/>
          <p:cNvSpPr/>
          <p:nvPr/>
        </p:nvSpPr>
        <p:spPr>
          <a:xfrm>
            <a:off x="9425635" y="1329537"/>
            <a:ext cx="1134770" cy="872337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462211" y="1366113"/>
            <a:ext cx="1061618" cy="329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Posição Cambial (Kz)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62211" y="1695918"/>
            <a:ext cx="1061618" cy="50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620,30 MUSD</a:t>
            </a:r>
          </a:p>
        </p:txBody>
      </p:sp>
      <p:pic>
        <p:nvPicPr>
          <p:cNvPr id="131" name="Picture 130" descr="icon_report_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240280"/>
            <a:ext cx="493776" cy="493776"/>
          </a:xfrm>
          <a:prstGeom prst="rect">
            <a:avLst/>
          </a:prstGeom>
        </p:spPr>
      </p:pic>
      <p:pic>
        <p:nvPicPr>
          <p:cNvPr id="132" name="Picture 131" descr="icon_fx_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096" y="612648"/>
            <a:ext cx="429768" cy="429768"/>
          </a:xfrm>
          <a:prstGeom prst="rect">
            <a:avLst/>
          </a:prstGeom>
        </p:spPr>
      </p:pic>
      <p:pic>
        <p:nvPicPr>
          <p:cNvPr id="133" name="Picture 132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DE CAPITAIS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Segmentado Por Produtos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4114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Segmento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969264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4520" y="98196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969264"/>
            <a:ext cx="27432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0520" y="98196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969264"/>
            <a:ext cx="25877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43720" y="98196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25296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9720" y="123799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De Tesouro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225296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14520" y="123799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2.850.000.000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225296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00520" y="123799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2.920.000.000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225296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43720" y="123799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+2,46%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481328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9720" y="149402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Bilhetes Do Tesouro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148132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14520" y="149402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1.200.000.000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1481328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00520" y="149402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1.180.000.000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1481328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43720" y="149402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-1,67%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737360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720" y="1750060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Privadas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1737360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14520" y="1750060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450.000.000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1737360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00520" y="1750060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465.000.000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1737360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43720" y="1750060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+3,33%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1993392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9720" y="2006092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Unidades De Participações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199339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14520" y="2006092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320.000.000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1993392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00520" y="2006092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335.000.000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1993392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43720" y="2006092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+4,69%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249424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9720" y="226212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Acções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2249424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14520" y="226212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180.000.000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2249424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700520" y="226212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192.000.000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2249424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43720" y="226212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+6,67%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505456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9720" y="251815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Repos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120" y="2505456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414520" y="251815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500.000.000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75120" y="2505456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700520" y="251815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510.000.000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2505456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43720" y="251815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+2,00%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761488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9720" y="277418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Total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89120" y="2761488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414520" y="277418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5.500.000.000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75120" y="2761488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700520" y="277418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5.602.000.000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18320" y="2761488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43720" y="277418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+1,85%</a:t>
            </a:r>
          </a:p>
        </p:txBody>
      </p:sp>
      <p:sp>
        <p:nvSpPr>
          <p:cNvPr id="73" name="Oval 72"/>
          <p:cNvSpPr/>
          <p:nvPr/>
        </p:nvSpPr>
        <p:spPr>
          <a:xfrm>
            <a:off x="4316882" y="2888589"/>
            <a:ext cx="1346911" cy="967435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53458" y="2925165"/>
            <a:ext cx="1273759" cy="36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Kz  Transações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53458" y="3294911"/>
            <a:ext cx="1273759" cy="56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5.602.000.000 Kz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318211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25120" y="319481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Mercado de Bolsas de Acções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9972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2024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94564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Vol. Transacc.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661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5915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Anterior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949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4203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Actual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2376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24916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Variação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869680" y="3438144"/>
            <a:ext cx="341071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895080" y="3450844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Cap. Bolsista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3694176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9972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XXXX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20240" y="3694176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94564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50.000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66160" y="3694176"/>
            <a:ext cx="1828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5915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1.250,00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94960" y="3694176"/>
            <a:ext cx="1828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4203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1.280,00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23760" y="3694176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24916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+2.40%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869680" y="3694176"/>
            <a:ext cx="341071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895080" y="3706876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128.000.000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" y="3950208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299720" y="3962908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YYYY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20240" y="3950208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945640" y="3962908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32.000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566160" y="395020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591560" y="396290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980,00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394960" y="395020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420360" y="396290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975,00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23760" y="3950208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249160" y="3962908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-0.51%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869680" y="3950208"/>
            <a:ext cx="34107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895080" y="3962908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97.500.000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4206240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299720" y="421894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ZZZZ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920240" y="4206240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945640" y="421894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18.500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566160" y="4206240"/>
            <a:ext cx="1828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591560" y="4218940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2.100,00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394960" y="4206240"/>
            <a:ext cx="1828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420360" y="4218940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2.145,00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23760" y="4206240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249160" y="421894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+2.14%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869680" y="4206240"/>
            <a:ext cx="341071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895080" y="4218940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214.500.000</a:t>
            </a:r>
          </a:p>
        </p:txBody>
      </p:sp>
      <p:pic>
        <p:nvPicPr>
          <p:cNvPr id="126" name="Picture 125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DE CAPITAIS – OPERAÇÕES BDA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 de Operação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9612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55012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Data Contrat.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4904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10304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0196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65596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Preço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5488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20888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Quantidades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078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7618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207008"/>
            <a:ext cx="1955292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72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Compra 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29612" y="1207008"/>
            <a:ext cx="1955292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55012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01/04/2026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4904" y="1207008"/>
            <a:ext cx="1955292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10304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0196" y="1207008"/>
            <a:ext cx="1955292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65596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98,50%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5488" y="1207008"/>
            <a:ext cx="1955292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20888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10.000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0780" y="1207008"/>
            <a:ext cx="1955292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7618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985.000.000 Kz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444752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720" y="1457452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Venda BT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29612" y="1444752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55012" y="1457452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01/04/2026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84904" y="1444752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10304" y="1457452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40196" y="1444752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65596" y="1457452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99,20%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5488" y="1444752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20888" y="1457452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5.000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0780" y="1444752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76180" y="1457452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496.000.000 Kz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682496"/>
            <a:ext cx="1955292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99720" y="1695196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Compra OP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29612" y="1682496"/>
            <a:ext cx="1955292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255012" y="1695196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01/04/2026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84904" y="1682496"/>
            <a:ext cx="1955292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10304" y="1695196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0196" y="1682496"/>
            <a:ext cx="1955292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65596" y="1695196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100,50%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5488" y="1682496"/>
            <a:ext cx="1955292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20888" y="1695196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2.000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0780" y="1682496"/>
            <a:ext cx="1955292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76180" y="1695196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201.000.000 Kz</a:t>
            </a:r>
          </a:p>
        </p:txBody>
      </p:sp>
      <p:sp>
        <p:nvSpPr>
          <p:cNvPr id="57" name="Oval 56"/>
          <p:cNvSpPr/>
          <p:nvPr/>
        </p:nvSpPr>
        <p:spPr>
          <a:xfrm>
            <a:off x="4507992" y="2120493"/>
            <a:ext cx="1148486" cy="80558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44568" y="2157069"/>
            <a:ext cx="1075334" cy="301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Kz  Transações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44568" y="2458839"/>
            <a:ext cx="1075334" cy="46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1.682.000.000 Kz</a:t>
            </a:r>
          </a:p>
        </p:txBody>
      </p:sp>
      <p:sp>
        <p:nvSpPr>
          <p:cNvPr id="60" name="Oval 59"/>
          <p:cNvSpPr/>
          <p:nvPr/>
        </p:nvSpPr>
        <p:spPr>
          <a:xfrm>
            <a:off x="5657392" y="2120493"/>
            <a:ext cx="1148486" cy="80558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93968" y="2157069"/>
            <a:ext cx="1075334" cy="301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Kz  Juros Diário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93968" y="2458839"/>
            <a:ext cx="1075334" cy="46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4.215.068 Kz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28346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25120" y="28473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Carteira De Títulos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972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Carteira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7784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60324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Cód. Neg.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8137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90677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D-1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8490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21030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8432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513832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Val. Nominal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9196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81736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548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12088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Montante 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9901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2441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Anual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70254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72794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Diário 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3328416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9972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Calibri"/>
              </a:rPr>
              <a:t>OT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77848" y="3328416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60324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OT-2028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881376" y="3328416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90677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10.000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84904" y="3328416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21030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20.000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8432" y="3328416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513832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1.000 Kz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91960" y="3328416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81736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9,75%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095488" y="3328416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12088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20.000.000.000 Kz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399016" y="3328416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42441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1.950.000.000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702544" y="3328416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72794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5.342.466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3566160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99720" y="3578860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Calibri"/>
              </a:rPr>
              <a:t>BT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577848" y="3566160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603248" y="3578860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BT-0626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881376" y="3566160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906776" y="3578860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5.000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84904" y="3566160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210304" y="3578860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5.000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8432" y="3566160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513832" y="3578860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100.000 Kz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791960" y="3566160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817360" y="3578860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10,50%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095488" y="3566160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120888" y="3578860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500.000.000 Kz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399016" y="3566160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424416" y="3578860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52.500.000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702544" y="3566160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0727944" y="3578860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143.836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3803904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99720" y="3816604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C05000"/>
                </a:solidFill>
                <a:latin typeface="Calibri"/>
              </a:rPr>
              <a:t>TOTAL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577848" y="3803904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603248" y="3816604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2881376" y="3803904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2906776" y="3816604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4184904" y="3803904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210304" y="3816604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5488432" y="3803904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5513832" y="3816604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6791960" y="3803904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817360" y="3816604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8095488" y="3803904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120888" y="3816604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C05000"/>
                </a:solidFill>
                <a:latin typeface="Calibri"/>
              </a:rPr>
              <a:t>20.500.000.000 Kz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399016" y="3803904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424416" y="3816604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C05000"/>
                </a:solidFill>
                <a:latin typeface="Calibri"/>
              </a:rPr>
              <a:t>2.002.500.000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702544" y="3803904"/>
            <a:ext cx="1303528" cy="237744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0727944" y="3816604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C05000"/>
                </a:solidFill>
                <a:latin typeface="Calibri"/>
              </a:rPr>
              <a:t>5.486.301</a:t>
            </a:r>
          </a:p>
        </p:txBody>
      </p:sp>
      <p:pic>
        <p:nvPicPr>
          <p:cNvPr id="137" name="Picture 136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INFORMAÇÃO DE MERCADOS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Capital Markets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S&amp;P 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5.611,85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5.580,94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-0,55%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9720" y="14940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Dow Jones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942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41.985,35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915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41.794,60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888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-0,45%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73736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720" y="17500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NASDAQ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942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17.784,05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915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17.637,00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888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-0,83%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9720" y="2006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NIKKEI 225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9428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35.617,56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6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9156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34.735,93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8884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-2,47%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249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9720" y="2262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IBOVESPA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6888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9428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131.024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6616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9156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132.510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8884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+1,13%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505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9720" y="2518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SHANGHAI COMPOSITE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888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49428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3.351,80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6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59156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3.323,90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68884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-0,83%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761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9720" y="2774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EUROSTOX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6888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9428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5.101,80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6616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59156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5.074,30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6344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68884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-0,54%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3017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99720" y="3030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Bolsa de Londres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6888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49428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8.652,40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6616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59156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8.614,20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68884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-0,44%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3273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9720" y="3286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PSI 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46888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49428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6.872,10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6616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59156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6.841,30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6344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68884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-0,45%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23329" y="605332"/>
            <a:ext cx="5213908" cy="1899208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599529" y="630936"/>
            <a:ext cx="50615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Os mercados accionistas globais encerraram a sessão em terreno negativo, pressionados pela incerteza em torno da política comercial norte-americana. O S&amp;P 500 recuou 0,55%, enquanto o Nikkei registou a maior queda (-2,47%) devido à valorização do iene. O IBOVESPA foi a excepção positiva, apoiado por resultados corporativos acima das expectativas.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283696" y="3042208"/>
            <a:ext cx="546811" cy="28803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287353" y="3045866"/>
            <a:ext cx="539496" cy="28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4023360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25120" y="4036060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Criptomoedas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4279392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99720" y="4292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46888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49428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56616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59156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66344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68884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4535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99720" y="4548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BITCOIN (BTC)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6888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49428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82.150,00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56616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59156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83.450,20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6344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68884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+1,58%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" y="4791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99720" y="4804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ETHEREUM (ETH)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46888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249428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1.795,30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56616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59156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1.821,40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66344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68884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+1,45%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4320" y="5047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99720" y="5060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XRP (XRP)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46888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49428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2,1840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56616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59156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2,2110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66344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68884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+1,24%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5303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99720" y="5316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USDC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6888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49428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1,0001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56616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59156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1,0002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66344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68884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+0,01%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" y="5559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99720" y="5572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TETHER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46888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249428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0,9999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56616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59156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1,0000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66344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68884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+0,01%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476695" y="3719779"/>
            <a:ext cx="5307177" cy="1267358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492240" y="3739896"/>
            <a:ext cx="526694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 mercado cripto registou ganhos moderados, com o Bitcoin a recuperar acima dos 83.000 USD. A melhoria do sentimento de risco global impulsionou os activos digitais, com o Ethereum a acompanhar a tendência positiva.</a:t>
            </a:r>
          </a:p>
        </p:txBody>
      </p:sp>
      <p:pic>
        <p:nvPicPr>
          <p:cNvPr id="145" name="Picture 144" descr="icon_report_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685800"/>
            <a:ext cx="356616" cy="356616"/>
          </a:xfrm>
          <a:prstGeom prst="rect">
            <a:avLst/>
          </a:prstGeom>
        </p:spPr>
      </p:pic>
      <p:pic>
        <p:nvPicPr>
          <p:cNvPr id="146" name="Picture 145" descr="footer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INFORMAÇÃO DE MERCADOS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01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01.04.2026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Commodities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Commodity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PETRÓLEO (BRENT)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74,82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74,95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+0,17%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9720" y="14940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MILHO (USD/BU)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942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465,50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915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468,75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888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+0,70%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73736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9720" y="17500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SOJA (USD/BU)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942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1.042,25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915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1.038,50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888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-0,36%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9720" y="2006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TRIGO (USD/LBS)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9428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532,00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6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9156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528,75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8884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-0,61%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249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99720" y="2262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CAFÉ (USD/LBS)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6888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9428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387,50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6616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9156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391,20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8884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+0,95%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2505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9720" y="2518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AÇÚCAR (USD/LBS)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888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49428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19,84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6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59156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19,71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68884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-0,66%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761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9720" y="2774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ÓLEO DE PALMA (USD/LBS)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6888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9428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4.120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6616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59156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4.150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6344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68884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+0,73%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3017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99720" y="3030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ALGODÃO (USD/LBS)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6888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49428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68,45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6616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59156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67,90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68884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-0,80%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3273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9720" y="3286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BANANA (USD/LBS)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46888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49428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1,42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6616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59156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1,44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6344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68884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+1,41%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48348" y="661111"/>
            <a:ext cx="5095036" cy="1437436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73952" y="685800"/>
            <a:ext cx="505663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 petróleo Brent manteve-se estável perto dos 75 USD/barril, suportado por perspectivas de procura moderada. Os cereais apresentaram comportamento misto, com milho a apreciar e soja/trigo sob pressão de stocks elevados nos EUA.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3694176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25120" y="3706876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Minerais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3950208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99720" y="396290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Mineral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46888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49428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56616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59156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6344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68884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420624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99720" y="421894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46888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49428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3.109,80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6616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59156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3.124,60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6344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68884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+0,48%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" y="446227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99720" y="447497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FERRO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6888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49428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103,50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56616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59156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104,20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6344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68884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+0,68%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471830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99720" y="473100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COBRE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46888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49428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9.820,00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56616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59156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9.875,50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6344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68884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+0,57%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74320" y="497433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299720" y="498703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MANGANÊS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46888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49428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1.820,00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56616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59156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1.835,00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66344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468884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+0,82%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71792" y="3467404"/>
            <a:ext cx="4997196" cy="1292047"/>
          </a:xfrm>
          <a:prstGeom prst="rect">
            <a:avLst/>
          </a:prstGeom>
          <a:solidFill>
            <a:srgbClr val="FFF0E0"/>
          </a:solidFill>
          <a:ln w="1016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601968" y="3493008"/>
            <a:ext cx="495604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Os metais preciosos e industriais registaram ganhos, com o ouro a consolidar acima dos 3.100 USD/oz, beneficiando da procura como activo de refúgio. O cobre subiu 0,57%, reflectindo expectativas de maior procura da China.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597335" y="3603650"/>
            <a:ext cx="546811" cy="28803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1600992" y="3607308"/>
            <a:ext cx="539496" cy="28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pic>
        <p:nvPicPr>
          <p:cNvPr id="137" name="Picture 136" descr="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207008"/>
            <a:ext cx="576072" cy="566928"/>
          </a:xfrm>
          <a:prstGeom prst="rect">
            <a:avLst/>
          </a:prstGeom>
        </p:spPr>
      </p:pic>
      <p:pic>
        <p:nvPicPr>
          <p:cNvPr id="138" name="Picture 137" descr="icon_report_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822960"/>
            <a:ext cx="356616" cy="356616"/>
          </a:xfrm>
          <a:prstGeom prst="rect">
            <a:avLst/>
          </a:prstGeom>
        </p:spPr>
      </p:pic>
      <p:pic>
        <p:nvPicPr>
          <p:cNvPr id="139" name="Picture 138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1525</Words>
  <Application>Microsoft Macintosh PowerPoint</Application>
  <PresentationFormat>Custom</PresentationFormat>
  <Paragraphs>720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UG-Trindade, Reinaldo</cp:lastModifiedBy>
  <cp:revision>1</cp:revision>
  <dcterms:created xsi:type="dcterms:W3CDTF">2013-01-27T09:14:16Z</dcterms:created>
  <dcterms:modified xsi:type="dcterms:W3CDTF">2026-04-01T02:10:55Z</dcterms:modified>
  <cp:category/>
</cp:coreProperties>
</file>