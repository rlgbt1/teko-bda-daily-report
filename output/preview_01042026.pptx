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3.png"/><Relationship Id="rId4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7.png"/><Relationship Id="rId4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9.jpg"/><Relationship Id="rId4" Type="http://schemas.openxmlformats.org/officeDocument/2006/relationships/image" Target="../media/image17.png"/><Relationship Id="rId5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3429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3429000"/>
            <a:ext cx="12188952" cy="2770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6032" y="3429000"/>
            <a:ext cx="73152" cy="2011680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4123944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D44B36"/>
                </a:solidFill>
                <a:latin typeface="Calibri"/>
              </a:rPr>
              <a:t>Resumo Diário Dos Mercados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4681728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Calibri"/>
              </a:rPr>
              <a:t>DIRECÇÃO FINANCEIRA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" y="5047488"/>
            <a:ext cx="7315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4B36"/>
                </a:solidFill>
                <a:latin typeface="Calibri"/>
              </a:rPr>
              <a:t>01.04.2026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5897880"/>
            <a:ext cx="24231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000000"/>
                </a:solidFill>
                <a:latin typeface="Calibri"/>
              </a:rPr>
              <a:t>Edifício BDA, Condomínio Dolce Vita, Via S8, Talatona
Luanda - Angola</a:t>
            </a:r>
          </a:p>
        </p:txBody>
      </p:sp>
      <p:pic>
        <p:nvPicPr>
          <p:cNvPr id="9" name="Picture 8" descr="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99632"/>
            <a:ext cx="12188952" cy="65836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genda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Picture 2" descr="inner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30815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3483864"/>
            <a:ext cx="166420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D34A36"/>
                </a:solidFill>
                <a:latin typeface="Calibr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005072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EB8B34"/>
                </a:solidFill>
                <a:latin typeface="Calibri"/>
              </a:rPr>
              <a:t>1.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352544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Calibri"/>
              </a:rPr>
              <a:t>Sumário Executivo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37943" y="4005072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EB8B34"/>
                </a:solidFill>
                <a:latin typeface="Calibri"/>
              </a:rPr>
              <a:t>2.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37943" y="4352544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Calibri"/>
              </a:rPr>
              <a:t>Liquidez (MN)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27832" y="4005072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EB8B34"/>
                </a:solidFill>
                <a:latin typeface="Calibri"/>
              </a:rPr>
              <a:t>3.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27832" y="4352544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Calibri"/>
              </a:rPr>
              <a:t>Liquidez (ME)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72584" y="4005072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EB8B34"/>
                </a:solidFill>
                <a:latin typeface="Calibri"/>
              </a:rPr>
              <a:t>4.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72584" y="4352544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Calibri"/>
              </a:rPr>
              <a:t>Mercado Cambial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70448" y="4005072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EB8B34"/>
                </a:solidFill>
                <a:latin typeface="Calibri"/>
              </a:rPr>
              <a:t>5.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70448" y="4352544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Calibri"/>
              </a:rPr>
              <a:t>Mercado
Capitais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87768" y="4005072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EB8B34"/>
                </a:solidFill>
                <a:latin typeface="Calibri"/>
              </a:rPr>
              <a:t>6.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87768" y="4352544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Calibri"/>
              </a:rPr>
              <a:t>Informação
De Mercado</a:t>
            </a:r>
          </a:p>
        </p:txBody>
      </p:sp>
      <p:pic>
        <p:nvPicPr>
          <p:cNvPr id="17" name="Picture 16" descr="icon_report_b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9144" y="4928616"/>
            <a:ext cx="466344" cy="466344"/>
          </a:xfrm>
          <a:prstGeom prst="rect">
            <a:avLst/>
          </a:prstGeom>
        </p:spPr>
      </p:pic>
      <p:pic>
        <p:nvPicPr>
          <p:cNvPr id="18" name="Picture 17" descr="footer_bann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199632"/>
            <a:ext cx="12188952" cy="65836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nner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47548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365760"/>
            <a:ext cx="256032" cy="365760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9875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Calibri"/>
              </a:rPr>
              <a:t>Sumário Executivo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20116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01.04.2026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566928"/>
            <a:ext cx="11686032" cy="18288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an 6"/>
          <p:cNvSpPr/>
          <p:nvPr/>
        </p:nvSpPr>
        <p:spPr>
          <a:xfrm>
            <a:off x="64008" y="694944"/>
            <a:ext cx="429768" cy="347472"/>
          </a:xfrm>
          <a:prstGeom prst="can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an 7"/>
          <p:cNvSpPr/>
          <p:nvPr/>
        </p:nvSpPr>
        <p:spPr>
          <a:xfrm>
            <a:off x="356616" y="694944"/>
            <a:ext cx="429768" cy="347472"/>
          </a:xfrm>
          <a:prstGeom prst="can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249570" y="2751429"/>
            <a:ext cx="1626717" cy="1363370"/>
          </a:xfrm>
          <a:prstGeom prst="ellipse">
            <a:avLst/>
          </a:prstGeom>
          <a:solidFill>
            <a:srgbClr val="5C2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41010" y="2842869"/>
            <a:ext cx="1443837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41010" y="3437229"/>
            <a:ext cx="144383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Juros de DP</a:t>
            </a:r>
          </a:p>
        </p:txBody>
      </p:sp>
      <p:pic>
        <p:nvPicPr>
          <p:cNvPr id="12" name="Picture 11" descr="icon_s3_liquidez_m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9344" y="1837943"/>
            <a:ext cx="402336" cy="50292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2066544" y="1837943"/>
            <a:ext cx="2359152" cy="1106424"/>
          </a:xfrm>
          <a:prstGeom prst="rect">
            <a:avLst/>
          </a:prstGeom>
          <a:solidFill>
            <a:srgbClr val="FFF0E0"/>
          </a:solidFill>
          <a:ln w="12700">
            <a:solidFill>
              <a:srgbClr val="E875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84832" y="1876043"/>
            <a:ext cx="23083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Liquidez MN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84832" y="2203703"/>
            <a:ext cx="23083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8751A"/>
                </a:solidFill>
                <a:latin typeface="Calibri"/>
              </a:rPr>
              <a:t>—</a:t>
            </a:r>
          </a:p>
        </p:txBody>
      </p:sp>
      <p:pic>
        <p:nvPicPr>
          <p:cNvPr id="16" name="Picture 15" descr="icon_s3_liquidez_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8152" y="2020824"/>
            <a:ext cx="393192" cy="347472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6245352" y="2020824"/>
            <a:ext cx="2359152" cy="1106424"/>
          </a:xfrm>
          <a:prstGeom prst="rect">
            <a:avLst/>
          </a:prstGeom>
          <a:solidFill>
            <a:srgbClr val="FFF0E0"/>
          </a:solidFill>
          <a:ln w="12700">
            <a:solidFill>
              <a:srgbClr val="E875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2058924"/>
            <a:ext cx="23083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Liquidez 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2386584"/>
            <a:ext cx="23083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8751A"/>
                </a:solidFill>
                <a:latin typeface="Calibri"/>
              </a:rPr>
              <a:t>—</a:t>
            </a:r>
          </a:p>
        </p:txBody>
      </p:sp>
      <p:pic>
        <p:nvPicPr>
          <p:cNvPr id="20" name="Picture 19" descr="icon_s3_posicao_cambi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056" y="3794760"/>
            <a:ext cx="512064" cy="402336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905256" y="3794760"/>
            <a:ext cx="2359152" cy="1106424"/>
          </a:xfrm>
          <a:prstGeom prst="rect">
            <a:avLst/>
          </a:prstGeom>
          <a:solidFill>
            <a:srgbClr val="FFF0E0"/>
          </a:solidFill>
          <a:ln w="12700">
            <a:solidFill>
              <a:srgbClr val="E875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3544" y="3832860"/>
            <a:ext cx="23083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Posição Cambial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" y="4160520"/>
            <a:ext cx="23083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8751A"/>
                </a:solidFill>
                <a:latin typeface="Calibri"/>
              </a:rPr>
              <a:t>—</a:t>
            </a:r>
          </a:p>
        </p:txBody>
      </p:sp>
      <p:pic>
        <p:nvPicPr>
          <p:cNvPr id="24" name="Picture 23" descr="icon_s3_reembolso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1928" y="3675887"/>
            <a:ext cx="502920" cy="393192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6739128" y="3675887"/>
            <a:ext cx="2359152" cy="1106424"/>
          </a:xfrm>
          <a:prstGeom prst="rect">
            <a:avLst/>
          </a:prstGeom>
          <a:solidFill>
            <a:srgbClr val="FFF0E0"/>
          </a:solidFill>
          <a:ln w="12700">
            <a:solidFill>
              <a:srgbClr val="E875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57416" y="3713987"/>
            <a:ext cx="23083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Carteira Títulos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57416" y="4041647"/>
            <a:ext cx="23083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8751A"/>
                </a:solidFill>
                <a:latin typeface="Calibri"/>
              </a:rPr>
              <a:t>—</a:t>
            </a:r>
          </a:p>
        </p:txBody>
      </p:sp>
      <p:pic>
        <p:nvPicPr>
          <p:cNvPr id="28" name="Picture 27" descr="icon_s3_rentabilidad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42631" y="1344168"/>
            <a:ext cx="420624" cy="274320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7799831" y="1344168"/>
            <a:ext cx="2359152" cy="1106424"/>
          </a:xfrm>
          <a:prstGeom prst="rect">
            <a:avLst/>
          </a:prstGeom>
          <a:solidFill>
            <a:srgbClr val="FFF0E0"/>
          </a:solidFill>
          <a:ln w="12700">
            <a:solidFill>
              <a:srgbClr val="E875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18119" y="1382268"/>
            <a:ext cx="23083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Rentabilidade MN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18119" y="1709928"/>
            <a:ext cx="23083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8751A"/>
                </a:solidFill>
                <a:latin typeface="Calibri"/>
              </a:rPr>
              <a:t>—</a:t>
            </a:r>
          </a:p>
        </p:txBody>
      </p:sp>
      <p:pic>
        <p:nvPicPr>
          <p:cNvPr id="32" name="Picture 31" descr="icon_s3_rentabilidad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93024" y="2130552"/>
            <a:ext cx="420624" cy="274320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8650224" y="2130552"/>
            <a:ext cx="2359152" cy="1106424"/>
          </a:xfrm>
          <a:prstGeom prst="rect">
            <a:avLst/>
          </a:prstGeom>
          <a:solidFill>
            <a:srgbClr val="FFF0E0"/>
          </a:solidFill>
          <a:ln w="12700">
            <a:solidFill>
              <a:srgbClr val="E875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68512" y="2168652"/>
            <a:ext cx="23083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Rentabilidade ME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68512" y="2496312"/>
            <a:ext cx="23083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8751A"/>
                </a:solidFill>
                <a:latin typeface="Calibri"/>
              </a:rPr>
              <a:t>—</a:t>
            </a:r>
          </a:p>
        </p:txBody>
      </p:sp>
      <p:pic>
        <p:nvPicPr>
          <p:cNvPr id="36" name="Picture 35" descr="icon_s3_rentabilidad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33488" y="1618488"/>
            <a:ext cx="420624" cy="274320"/>
          </a:xfrm>
          <a:prstGeom prst="rect">
            <a:avLst/>
          </a:prstGeom>
        </p:spPr>
      </p:pic>
      <p:sp>
        <p:nvSpPr>
          <p:cNvPr id="37" name="Rectangle 36"/>
          <p:cNvSpPr/>
          <p:nvPr/>
        </p:nvSpPr>
        <p:spPr>
          <a:xfrm>
            <a:off x="7790688" y="1618488"/>
            <a:ext cx="2359152" cy="1106424"/>
          </a:xfrm>
          <a:prstGeom prst="rect">
            <a:avLst/>
          </a:prstGeom>
          <a:solidFill>
            <a:srgbClr val="FFF0E0"/>
          </a:solidFill>
          <a:ln w="12700">
            <a:solidFill>
              <a:srgbClr val="E875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808976" y="1656588"/>
            <a:ext cx="23083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Rentabilidade Títulos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08976" y="1984248"/>
            <a:ext cx="23083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8751A"/>
                </a:solidFill>
                <a:latin typeface="Calibri"/>
              </a:rPr>
              <a:t>—</a:t>
            </a:r>
          </a:p>
        </p:txBody>
      </p:sp>
      <p:pic>
        <p:nvPicPr>
          <p:cNvPr id="40" name="Picture 39" descr="icon_s3_reembolso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8512" y="3831336"/>
            <a:ext cx="502920" cy="393192"/>
          </a:xfrm>
          <a:prstGeom prst="rect">
            <a:avLst/>
          </a:prstGeom>
        </p:spPr>
      </p:pic>
      <p:sp>
        <p:nvSpPr>
          <p:cNvPr id="41" name="Rectangle 40"/>
          <p:cNvSpPr/>
          <p:nvPr/>
        </p:nvSpPr>
        <p:spPr>
          <a:xfrm>
            <a:off x="9125712" y="3831336"/>
            <a:ext cx="2359152" cy="1106424"/>
          </a:xfrm>
          <a:prstGeom prst="rect">
            <a:avLst/>
          </a:prstGeom>
          <a:solidFill>
            <a:srgbClr val="FFF0E0"/>
          </a:solidFill>
          <a:ln w="12700">
            <a:solidFill>
              <a:srgbClr val="E875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0" y="3869436"/>
            <a:ext cx="23083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Reembolsos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0" y="4197096"/>
            <a:ext cx="23083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8751A"/>
                </a:solidFill>
                <a:latin typeface="Calibri"/>
              </a:rPr>
              <a:t>—</a:t>
            </a:r>
          </a:p>
        </p:txBody>
      </p:sp>
      <p:pic>
        <p:nvPicPr>
          <p:cNvPr id="44" name="Picture 43" descr="icon_report_colo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20656" y="5870448"/>
            <a:ext cx="320040" cy="320040"/>
          </a:xfrm>
          <a:prstGeom prst="rect">
            <a:avLst/>
          </a:prstGeom>
        </p:spPr>
      </p:pic>
      <p:pic>
        <p:nvPicPr>
          <p:cNvPr id="45" name="Picture 44" descr="footer_banne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6199632"/>
            <a:ext cx="12188952" cy="65836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nner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47548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365760"/>
            <a:ext cx="256032" cy="365760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9875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Calibri"/>
              </a:rPr>
              <a:t>LIQUIDEZ – MOEDA NACIONAL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20116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01.04.2026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566928"/>
            <a:ext cx="11686032" cy="18288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713232"/>
            <a:ext cx="11731752" cy="256032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5120" y="725932"/>
            <a:ext cx="116301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Liquidez MN  (Em Milhares)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969264"/>
            <a:ext cx="310896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9720" y="981964"/>
            <a:ext cx="30581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0" y="969264"/>
            <a:ext cx="1572768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08680" y="98196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D-4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969264"/>
            <a:ext cx="1572768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81448" y="98196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D-3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28816" y="969264"/>
            <a:ext cx="1572768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54216" y="98196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D-2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01584" y="969264"/>
            <a:ext cx="1572768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26984" y="98196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D-1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74352" y="969264"/>
            <a:ext cx="1572768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99752" y="98196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1225296"/>
            <a:ext cx="31089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9720" y="1237996"/>
            <a:ext cx="30581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Posição Reservas Livres BNA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83280" y="1225296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08680" y="123799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56048" y="1225296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81448" y="123799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28816" y="1225296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54216" y="123799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01584" y="1225296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26984" y="123799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74352" y="1225296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99752" y="123799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1481328"/>
            <a:ext cx="31089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99720" y="1494028"/>
            <a:ext cx="30581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Posição DO B. Comerciais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383280" y="1481328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408680" y="149402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956048" y="1481328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81448" y="149402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28816" y="1481328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54216" y="149402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101584" y="1481328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26984" y="149402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674352" y="1481328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99752" y="149402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1737360"/>
            <a:ext cx="31089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99720" y="1750060"/>
            <a:ext cx="30581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Posição DP B. Comerciais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383280" y="1737360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408680" y="175006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956048" y="1737360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81448" y="175006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528816" y="1737360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554216" y="175006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101584" y="1737360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126984" y="175006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74352" y="1737360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699752" y="175006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74320" y="1993392"/>
            <a:ext cx="31089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99720" y="2006092"/>
            <a:ext cx="30581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Posição OMAs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383280" y="1993392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408680" y="200609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956048" y="1993392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981448" y="200609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528816" y="1993392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554216" y="200609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101584" y="1993392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126984" y="200609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674352" y="1993392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699752" y="200609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74320" y="2249424"/>
            <a:ext cx="31089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99720" y="2262124"/>
            <a:ext cx="30581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05000"/>
                </a:solidFill>
                <a:latin typeface="Calibri"/>
              </a:rPr>
              <a:t>LIQUIDEZ BDA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383280" y="2249424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408680" y="226212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5000"/>
                </a:solidFill>
                <a:latin typeface="Calibri"/>
              </a:rPr>
              <a:t>—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956048" y="2249424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981448" y="226212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5000"/>
                </a:solidFill>
                <a:latin typeface="Calibri"/>
              </a:rPr>
              <a:t>—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528816" y="2249424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554216" y="226212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5000"/>
                </a:solidFill>
                <a:latin typeface="Calibri"/>
              </a:rPr>
              <a:t>—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101584" y="2249424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126984" y="226212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5000"/>
                </a:solidFill>
                <a:latin typeface="Calibri"/>
              </a:rPr>
              <a:t>—</a:t>
            </a:r>
          </a:p>
        </p:txBody>
      </p:sp>
      <p:sp>
        <p:nvSpPr>
          <p:cNvPr id="79" name="Rectangle 78"/>
          <p:cNvSpPr/>
          <p:nvPr/>
        </p:nvSpPr>
        <p:spPr>
          <a:xfrm>
            <a:off x="9674352" y="2249424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9699752" y="226212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5000"/>
                </a:solidFill>
                <a:latin typeface="Calibri"/>
              </a:rPr>
              <a:t>—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74320" y="2615184"/>
            <a:ext cx="11731752" cy="256032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25120" y="2627884"/>
            <a:ext cx="116301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Transações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274320" y="2871216"/>
            <a:ext cx="137160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99720" y="2883916"/>
            <a:ext cx="13208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Tipo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645920" y="2871216"/>
            <a:ext cx="182880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671320" y="2883916"/>
            <a:ext cx="17780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Contraparte</a:t>
            </a:r>
          </a:p>
        </p:txBody>
      </p:sp>
      <p:sp>
        <p:nvSpPr>
          <p:cNvPr id="87" name="Rectangle 86"/>
          <p:cNvSpPr/>
          <p:nvPr/>
        </p:nvSpPr>
        <p:spPr>
          <a:xfrm>
            <a:off x="3474720" y="2871216"/>
            <a:ext cx="109728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3500120" y="2883916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Taxa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572000" y="2871216"/>
            <a:ext cx="228600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597400" y="2883916"/>
            <a:ext cx="22352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Montante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858000" y="2871216"/>
            <a:ext cx="182880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883400" y="2883916"/>
            <a:ext cx="17780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Maturidade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686800" y="2871216"/>
            <a:ext cx="3502152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712200" y="2883916"/>
            <a:ext cx="34513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Juros</a:t>
            </a:r>
          </a:p>
        </p:txBody>
      </p:sp>
      <p:sp>
        <p:nvSpPr>
          <p:cNvPr id="95" name="Rectangle 94"/>
          <p:cNvSpPr/>
          <p:nvPr/>
        </p:nvSpPr>
        <p:spPr>
          <a:xfrm>
            <a:off x="274320" y="3127248"/>
            <a:ext cx="13716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299720" y="3139948"/>
            <a:ext cx="13208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645920" y="3127248"/>
            <a:ext cx="18288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1671320" y="3139948"/>
            <a:ext cx="17780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99" name="Rectangle 98"/>
          <p:cNvSpPr/>
          <p:nvPr/>
        </p:nvSpPr>
        <p:spPr>
          <a:xfrm>
            <a:off x="3474720" y="3127248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3500120" y="3139948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4572000" y="3127248"/>
            <a:ext cx="22860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4597400" y="3139948"/>
            <a:ext cx="22352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6858000" y="3127248"/>
            <a:ext cx="18288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6883400" y="3139948"/>
            <a:ext cx="17780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8686800" y="3127248"/>
            <a:ext cx="3502152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8712200" y="3139948"/>
            <a:ext cx="34513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274320" y="3493008"/>
            <a:ext cx="11731752" cy="256032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325120" y="3505708"/>
            <a:ext cx="116301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Operações Vivas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274320" y="3749040"/>
            <a:ext cx="1675964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299720" y="3761740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Tipo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1950284" y="3749040"/>
            <a:ext cx="1675964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1975684" y="3761740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Contraparte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3626249" y="3749040"/>
            <a:ext cx="1675964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3651649" y="3761740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Montante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5302213" y="3749040"/>
            <a:ext cx="1675964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5327613" y="3761740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Taxa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6978178" y="3749040"/>
            <a:ext cx="1675964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7003578" y="3761740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Residual (Dias)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8654142" y="3749040"/>
            <a:ext cx="1675964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8679542" y="3761740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Vencimento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10330107" y="3749040"/>
            <a:ext cx="1675964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10355507" y="3761740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Juro Diário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274320" y="4005072"/>
            <a:ext cx="1675964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299720" y="4017772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1950284" y="4005072"/>
            <a:ext cx="1675964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1975684" y="4017772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3626249" y="4005072"/>
            <a:ext cx="1675964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3651649" y="4017772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5302213" y="4005072"/>
            <a:ext cx="1675964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5327613" y="4017772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6978178" y="4005072"/>
            <a:ext cx="1675964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7003578" y="4017772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8654142" y="4005072"/>
            <a:ext cx="1675964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8679542" y="4017772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10330107" y="4005072"/>
            <a:ext cx="1675964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10355507" y="4017772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274320" y="4370832"/>
            <a:ext cx="11731752" cy="256032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325120" y="4383532"/>
            <a:ext cx="116301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Taxas LUIBOR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274320" y="4626864"/>
            <a:ext cx="234635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299720" y="4639564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Maturidade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2620670" y="4626864"/>
            <a:ext cx="234635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2646070" y="4639564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Anterior (D-2)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4967020" y="4626864"/>
            <a:ext cx="234635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4992420" y="4639564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Anterior (D-1)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7313371" y="4626864"/>
            <a:ext cx="234635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7338771" y="4639564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Actual (D)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9659721" y="4626864"/>
            <a:ext cx="234635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9685121" y="4639564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Var (%)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274320" y="4882896"/>
            <a:ext cx="234635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299720" y="4895596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LUIBOR O/N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2620670" y="4882896"/>
            <a:ext cx="234635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2646070" y="4895596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4967020" y="4882896"/>
            <a:ext cx="234635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4992420" y="4895596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7313371" y="4882896"/>
            <a:ext cx="234635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7338771" y="4895596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9659721" y="4882896"/>
            <a:ext cx="234635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9685121" y="4895596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274320" y="5138928"/>
            <a:ext cx="234635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299720" y="5151628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LUIBOR 1M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2620670" y="5138928"/>
            <a:ext cx="234635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2646070" y="5151628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4967020" y="5138928"/>
            <a:ext cx="234635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4992420" y="5151628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7313371" y="5138928"/>
            <a:ext cx="234635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7338771" y="5151628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9659721" y="5138928"/>
            <a:ext cx="234635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9685121" y="5151628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274320" y="5394960"/>
            <a:ext cx="234635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299720" y="5407660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LUIBOR 3M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2620670" y="5394960"/>
            <a:ext cx="234635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2646070" y="5407660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4967020" y="5394960"/>
            <a:ext cx="234635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4992420" y="5407660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7313371" y="5394960"/>
            <a:ext cx="234635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7338771" y="5407660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9659721" y="5394960"/>
            <a:ext cx="234635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9685121" y="5407660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274320" y="5650992"/>
            <a:ext cx="234635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299720" y="5663692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LUIBOR 6M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2620670" y="5650992"/>
            <a:ext cx="234635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2646070" y="5663692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4967020" y="5650992"/>
            <a:ext cx="234635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4992420" y="5663692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7313371" y="5650992"/>
            <a:ext cx="234635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7338771" y="5663692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9659721" y="5650992"/>
            <a:ext cx="234635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9685121" y="5663692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274320" y="5907024"/>
            <a:ext cx="234635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299720" y="5919724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LUIBOR 9M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2620670" y="5907024"/>
            <a:ext cx="234635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2646070" y="5919724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4967020" y="5907024"/>
            <a:ext cx="234635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4992420" y="5919724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7313371" y="5907024"/>
            <a:ext cx="234635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7338771" y="5919724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9659721" y="5907024"/>
            <a:ext cx="234635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9685121" y="5919724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274320" y="6163056"/>
            <a:ext cx="234635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299720" y="6175756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LUIBOR 12M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2620670" y="6163056"/>
            <a:ext cx="234635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2646070" y="6175756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03" name="Rectangle 202"/>
          <p:cNvSpPr/>
          <p:nvPr/>
        </p:nvSpPr>
        <p:spPr>
          <a:xfrm>
            <a:off x="4967020" y="6163056"/>
            <a:ext cx="234635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TextBox 203"/>
          <p:cNvSpPr txBox="1"/>
          <p:nvPr/>
        </p:nvSpPr>
        <p:spPr>
          <a:xfrm>
            <a:off x="4992420" y="6175756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05" name="Rectangle 204"/>
          <p:cNvSpPr/>
          <p:nvPr/>
        </p:nvSpPr>
        <p:spPr>
          <a:xfrm>
            <a:off x="7313371" y="6163056"/>
            <a:ext cx="234635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7338771" y="6175756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07" name="Rectangle 206"/>
          <p:cNvSpPr/>
          <p:nvPr/>
        </p:nvSpPr>
        <p:spPr>
          <a:xfrm>
            <a:off x="9659721" y="6163056"/>
            <a:ext cx="234635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TextBox 207"/>
          <p:cNvSpPr txBox="1"/>
          <p:nvPr/>
        </p:nvSpPr>
        <p:spPr>
          <a:xfrm>
            <a:off x="9685121" y="6175756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09" name="Oval 208"/>
          <p:cNvSpPr/>
          <p:nvPr/>
        </p:nvSpPr>
        <p:spPr>
          <a:xfrm>
            <a:off x="2450592" y="4923129"/>
            <a:ext cx="1002182" cy="790956"/>
          </a:xfrm>
          <a:prstGeom prst="ellipse">
            <a:avLst/>
          </a:prstGeom>
          <a:solidFill>
            <a:srgbClr val="5C2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TextBox 209"/>
          <p:cNvSpPr txBox="1"/>
          <p:nvPr/>
        </p:nvSpPr>
        <p:spPr>
          <a:xfrm>
            <a:off x="2487168" y="4959705"/>
            <a:ext cx="929030" cy="2956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Liquidez Total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2487168" y="5255330"/>
            <a:ext cx="929030" cy="458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—</a:t>
            </a:r>
          </a:p>
        </p:txBody>
      </p:sp>
      <p:sp>
        <p:nvSpPr>
          <p:cNvPr id="212" name="Oval 211"/>
          <p:cNvSpPr/>
          <p:nvPr/>
        </p:nvSpPr>
        <p:spPr>
          <a:xfrm>
            <a:off x="3842308" y="4940503"/>
            <a:ext cx="1002182" cy="790956"/>
          </a:xfrm>
          <a:prstGeom prst="ellipse">
            <a:avLst/>
          </a:prstGeom>
          <a:solidFill>
            <a:srgbClr val="5C2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TextBox 212"/>
          <p:cNvSpPr txBox="1"/>
          <p:nvPr/>
        </p:nvSpPr>
        <p:spPr>
          <a:xfrm>
            <a:off x="3878884" y="4977079"/>
            <a:ext cx="929030" cy="2956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Juros Diário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3878884" y="5272704"/>
            <a:ext cx="929030" cy="458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—</a:t>
            </a:r>
          </a:p>
        </p:txBody>
      </p:sp>
      <p:pic>
        <p:nvPicPr>
          <p:cNvPr id="215" name="Picture 214" descr="icon_ge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4728" y="4983480"/>
            <a:ext cx="740664" cy="713232"/>
          </a:xfrm>
          <a:prstGeom prst="rect">
            <a:avLst/>
          </a:prstGeom>
        </p:spPr>
      </p:pic>
      <p:pic>
        <p:nvPicPr>
          <p:cNvPr id="216" name="Picture 215" descr="icon_calculat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7456" y="5111496"/>
            <a:ext cx="521207" cy="612648"/>
          </a:xfrm>
          <a:prstGeom prst="rect">
            <a:avLst/>
          </a:prstGeom>
        </p:spPr>
      </p:pic>
      <p:pic>
        <p:nvPicPr>
          <p:cNvPr id="217" name="Picture 216" descr="footer_bann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199632"/>
            <a:ext cx="12188952" cy="65836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nner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47548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365760"/>
            <a:ext cx="256032" cy="365760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9875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Calibri"/>
              </a:rPr>
              <a:t>LIQUIDEZ – MOEDA NACIONAL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20116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01.04.2026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566928"/>
            <a:ext cx="11686032" cy="18288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713232"/>
            <a:ext cx="11731752" cy="256032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5120" y="725932"/>
            <a:ext cx="116301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Fluxos de Caixa MN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969264"/>
            <a:ext cx="347472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9720" y="981964"/>
            <a:ext cx="34239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1" name="Rectangle 10"/>
          <p:cNvSpPr/>
          <p:nvPr/>
        </p:nvSpPr>
        <p:spPr>
          <a:xfrm>
            <a:off x="3749040" y="969264"/>
            <a:ext cx="1572768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74440" y="98196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D-4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21808" y="969264"/>
            <a:ext cx="1572768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47208" y="98196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D-3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94576" y="969264"/>
            <a:ext cx="1572768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19976" y="98196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D-2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67344" y="969264"/>
            <a:ext cx="1572768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92744" y="98196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D-1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040112" y="969264"/>
            <a:ext cx="1572768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65512" y="98196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1225296"/>
            <a:ext cx="347472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9720" y="1237996"/>
            <a:ext cx="34239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Fluxos de Entradas (Cash in flow)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749040" y="1225296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74440" y="123799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321808" y="1225296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47208" y="123799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94576" y="1225296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19976" y="123799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467344" y="1225296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92744" y="123799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040112" y="1225296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65512" y="123799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1481328"/>
            <a:ext cx="34747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99720" y="1494028"/>
            <a:ext cx="34239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Recebimentos de cupão de títulos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749040" y="1481328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774440" y="149402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321808" y="1481328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347208" y="149402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894576" y="1481328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919976" y="149402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67344" y="1481328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92744" y="149402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040112" y="1481328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065512" y="149402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1737360"/>
            <a:ext cx="347472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99720" y="1750060"/>
            <a:ext cx="34239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Reembolsos de crédito (+)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749040" y="1737360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774440" y="175006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321808" y="1737360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347208" y="175006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894576" y="1737360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919976" y="175006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67344" y="1737360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492744" y="175006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040112" y="1737360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065512" y="175006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74320" y="1993392"/>
            <a:ext cx="34747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99720" y="2006092"/>
            <a:ext cx="34239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Reembolsos de OMA-O/N + Juros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749040" y="1993392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774440" y="200609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321808" y="1993392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347208" y="200609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894576" y="1993392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919976" y="200609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467344" y="1993392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492744" y="200609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0040112" y="1993392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065512" y="200609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74320" y="2249424"/>
            <a:ext cx="347472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99720" y="2262124"/>
            <a:ext cx="34239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Transferencia a favor conta BNA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749040" y="2249424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774440" y="226212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321808" y="2249424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347208" y="226212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894576" y="2249424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919976" y="226212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467344" y="2249424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492744" y="226212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0040112" y="2249424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0065512" y="226212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74320" y="2505456"/>
            <a:ext cx="34747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99720" y="2518156"/>
            <a:ext cx="34239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Fluxos de Saídas (Cash out flow)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749040" y="2505456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774440" y="251815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321808" y="2505456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347208" y="251815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894576" y="2505456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919976" y="251815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467344" y="2505456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492744" y="251815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0040112" y="2505456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0065512" y="251815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93" name="Rectangle 92"/>
          <p:cNvSpPr/>
          <p:nvPr/>
        </p:nvSpPr>
        <p:spPr>
          <a:xfrm>
            <a:off x="274320" y="2761488"/>
            <a:ext cx="347472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299720" y="2774188"/>
            <a:ext cx="34239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(-) Juros, comissões e outros</a:t>
            </a:r>
          </a:p>
        </p:txBody>
      </p:sp>
      <p:sp>
        <p:nvSpPr>
          <p:cNvPr id="95" name="Rectangle 94"/>
          <p:cNvSpPr/>
          <p:nvPr/>
        </p:nvSpPr>
        <p:spPr>
          <a:xfrm>
            <a:off x="3749040" y="2761488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3774440" y="277418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321808" y="2761488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5347208" y="277418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894576" y="2761488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919976" y="277418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8467344" y="2761488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8492744" y="277418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0040112" y="2761488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10065512" y="277418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274320" y="3017520"/>
            <a:ext cx="34747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299720" y="3030220"/>
            <a:ext cx="34239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Custos Com Pessoal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3749040" y="3017520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3774440" y="303022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5321808" y="3017520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5347208" y="303022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894576" y="3017520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919976" y="303022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8467344" y="3017520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8492744" y="303022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10040112" y="3017520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10065512" y="303022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274320" y="3273552"/>
            <a:ext cx="347472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299720" y="3286252"/>
            <a:ext cx="34239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Fornecimentos e Serviços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3749040" y="3273552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3774440" y="328625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5321808" y="3273552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5347208" y="328625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6894576" y="3273552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6919976" y="328625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8467344" y="3273552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8492744" y="328625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10040112" y="3273552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10065512" y="328625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274320" y="3529584"/>
            <a:ext cx="34747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299720" y="3542284"/>
            <a:ext cx="34239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Desembolso de crédito (-)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3749040" y="3529584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3774440" y="354228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5321808" y="3529584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5347208" y="354228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6894576" y="3529584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6919976" y="354228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8467344" y="3529584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8492744" y="354228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10040112" y="3529584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10065512" y="354228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274320" y="3785616"/>
            <a:ext cx="347472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299720" y="3798316"/>
            <a:ext cx="34239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Impostos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3749040" y="3785616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3774440" y="379831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5321808" y="3785616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5347208" y="379831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6894576" y="3785616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6919976" y="379831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8467344" y="3785616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8492744" y="379831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10040112" y="3785616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10065512" y="379831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274320" y="4041648"/>
            <a:ext cx="34747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299720" y="4054348"/>
            <a:ext cx="34239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Aplicação em OMA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3749040" y="4041648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3774440" y="405434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5321808" y="4041648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5347208" y="405434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6894576" y="4041648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6919976" y="405434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8467344" y="4041648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8492744" y="405434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10040112" y="4041648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10065512" y="405434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274320" y="4297680"/>
            <a:ext cx="347472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299720" y="4310380"/>
            <a:ext cx="34239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05000"/>
                </a:solidFill>
                <a:latin typeface="Calibri"/>
              </a:rPr>
              <a:t>GAP de Liquidez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3749040" y="4297680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3774440" y="431038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5000"/>
                </a:solidFill>
                <a:latin typeface="Calibri"/>
              </a:rPr>
              <a:t>—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5321808" y="4297680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5347208" y="431038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5000"/>
                </a:solidFill>
                <a:latin typeface="Calibri"/>
              </a:rPr>
              <a:t>—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6894576" y="4297680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6919976" y="431038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5000"/>
                </a:solidFill>
                <a:latin typeface="Calibri"/>
              </a:rPr>
              <a:t>—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8467344" y="4297680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8492744" y="431038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5000"/>
                </a:solidFill>
                <a:latin typeface="Calibri"/>
              </a:rPr>
              <a:t>—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10040112" y="4297680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10065512" y="431038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5000"/>
                </a:solidFill>
                <a:latin typeface="Calibri"/>
              </a:rPr>
              <a:t>—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274320" y="4663440"/>
            <a:ext cx="11731752" cy="256032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325120" y="4676140"/>
            <a:ext cx="116301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P&amp;L Control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274320" y="4919472"/>
            <a:ext cx="5865876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299720" y="4932172"/>
            <a:ext cx="5815076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Categoria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6140196" y="4919472"/>
            <a:ext cx="2932938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6165596" y="4932172"/>
            <a:ext cx="288213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Nº Operações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9073134" y="4919472"/>
            <a:ext cx="2932938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9098534" y="4932172"/>
            <a:ext cx="288213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Montante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274320" y="5175504"/>
            <a:ext cx="5865876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299720" y="5188204"/>
            <a:ext cx="5815076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Reembolso de Crédito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6140196" y="5175504"/>
            <a:ext cx="293293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6165596" y="5188204"/>
            <a:ext cx="288213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9073134" y="5175504"/>
            <a:ext cx="293293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9098534" y="5188204"/>
            <a:ext cx="288213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274320" y="5431536"/>
            <a:ext cx="5865876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299720" y="5444236"/>
            <a:ext cx="5815076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Fornecedores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6140196" y="5431536"/>
            <a:ext cx="293293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6165596" y="5444236"/>
            <a:ext cx="288213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9073134" y="5431536"/>
            <a:ext cx="293293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9098534" y="5444236"/>
            <a:ext cx="288213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274320" y="5687568"/>
            <a:ext cx="5865876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299720" y="5700268"/>
            <a:ext cx="5815076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Desembolso de Crédito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6140196" y="5687568"/>
            <a:ext cx="293293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6165596" y="5700268"/>
            <a:ext cx="288213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9073134" y="5687568"/>
            <a:ext cx="293293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9098534" y="5700268"/>
            <a:ext cx="288213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pic>
        <p:nvPicPr>
          <p:cNvPr id="203" name="Picture 20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8424" y="3054096"/>
            <a:ext cx="2459736" cy="2313432"/>
          </a:xfrm>
          <a:prstGeom prst="rect">
            <a:avLst/>
          </a:prstGeom>
        </p:spPr>
      </p:pic>
      <p:pic>
        <p:nvPicPr>
          <p:cNvPr id="204" name="Picture 203" descr="icon_kz_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3016" y="5468112"/>
            <a:ext cx="512064" cy="374904"/>
          </a:xfrm>
          <a:prstGeom prst="rect">
            <a:avLst/>
          </a:prstGeom>
        </p:spPr>
      </p:pic>
      <p:pic>
        <p:nvPicPr>
          <p:cNvPr id="205" name="Picture 20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90688" y="3154680"/>
            <a:ext cx="3739896" cy="2194560"/>
          </a:xfrm>
          <a:prstGeom prst="rect">
            <a:avLst/>
          </a:prstGeom>
        </p:spPr>
      </p:pic>
      <p:pic>
        <p:nvPicPr>
          <p:cNvPr id="206" name="Picture 205" descr="footer_bann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6199632"/>
            <a:ext cx="12188952" cy="65836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nner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47548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365760"/>
            <a:ext cx="256032" cy="365760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9875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Calibri"/>
              </a:rPr>
              <a:t>LIQUIDEZ – MOEDA ESTRANGEIRA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20116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01.04.2026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566928"/>
            <a:ext cx="11686032" cy="18288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713232"/>
            <a:ext cx="11731752" cy="256032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5120" y="725932"/>
            <a:ext cx="116301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Liquidez ME  (Em Milhões USD)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969264"/>
            <a:ext cx="310896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9720" y="981964"/>
            <a:ext cx="30581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0" y="969264"/>
            <a:ext cx="1572768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08680" y="98196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D-4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969264"/>
            <a:ext cx="1572768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81448" y="98196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D-3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28816" y="969264"/>
            <a:ext cx="1572768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54216" y="98196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D-2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01584" y="969264"/>
            <a:ext cx="1572768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26984" y="98196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D-1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74352" y="969264"/>
            <a:ext cx="1572768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99752" y="98196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1225296"/>
            <a:ext cx="31089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9720" y="1237996"/>
            <a:ext cx="30581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SALDO D.O Estrangeiros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83280" y="1225296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08680" y="123799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56048" y="1225296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81448" y="123799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28816" y="1225296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54216" y="123799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01584" y="1225296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26984" y="123799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74352" y="1225296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99752" y="123799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1481328"/>
            <a:ext cx="31089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99720" y="1494028"/>
            <a:ext cx="30581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DPs ME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383280" y="1481328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408680" y="149402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956048" y="1481328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81448" y="149402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28816" y="1481328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54216" y="149402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101584" y="1481328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26984" y="149402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674352" y="1481328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99752" y="149402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1737360"/>
            <a:ext cx="31089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99720" y="1750060"/>
            <a:ext cx="30581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COLATERAL CDI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383280" y="1737360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408680" y="175006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956048" y="1737360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81448" y="175006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528816" y="1737360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554216" y="175006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101584" y="1737360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126984" y="175006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74352" y="1737360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699752" y="175006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74320" y="1993392"/>
            <a:ext cx="31089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99720" y="2006092"/>
            <a:ext cx="30581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05000"/>
                </a:solidFill>
                <a:latin typeface="Calibri"/>
              </a:rPr>
              <a:t>LIQUIDEZ BDA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383280" y="1993392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408680" y="200609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5000"/>
                </a:solidFill>
                <a:latin typeface="Calibri"/>
              </a:rPr>
              <a:t>—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956048" y="1993392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981448" y="200609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5000"/>
                </a:solidFill>
                <a:latin typeface="Calibri"/>
              </a:rPr>
              <a:t>—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528816" y="1993392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554216" y="200609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5000"/>
                </a:solidFill>
                <a:latin typeface="Calibri"/>
              </a:rPr>
              <a:t>—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101584" y="1993392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126984" y="200609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5000"/>
                </a:solidFill>
                <a:latin typeface="Calibri"/>
              </a:rPr>
              <a:t>—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674352" y="1993392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699752" y="200609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5000"/>
                </a:solidFill>
                <a:latin typeface="Calibri"/>
              </a:rPr>
              <a:t>—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74320" y="2359152"/>
            <a:ext cx="11731752" cy="256032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25120" y="2371852"/>
            <a:ext cx="116301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Transações ME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74320" y="2615184"/>
            <a:ext cx="1675964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99720" y="2627884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Tipo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950284" y="2615184"/>
            <a:ext cx="1675964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975684" y="2627884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Moeda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626249" y="2615184"/>
            <a:ext cx="1675964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651649" y="2627884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Contraparte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302213" y="2615184"/>
            <a:ext cx="1675964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327613" y="2627884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Taxa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978178" y="2615184"/>
            <a:ext cx="1675964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003578" y="2627884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Montante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654142" y="2615184"/>
            <a:ext cx="1675964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679542" y="2627884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Maturidade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0330107" y="2615184"/>
            <a:ext cx="1675964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0355507" y="2627884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Juros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74320" y="2871216"/>
            <a:ext cx="1675964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299720" y="2883916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950284" y="2871216"/>
            <a:ext cx="1675964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975684" y="2883916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89" name="Rectangle 88"/>
          <p:cNvSpPr/>
          <p:nvPr/>
        </p:nvSpPr>
        <p:spPr>
          <a:xfrm>
            <a:off x="3626249" y="2871216"/>
            <a:ext cx="1675964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3651649" y="2883916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91" name="Rectangle 90"/>
          <p:cNvSpPr/>
          <p:nvPr/>
        </p:nvSpPr>
        <p:spPr>
          <a:xfrm>
            <a:off x="5302213" y="2871216"/>
            <a:ext cx="1675964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5327613" y="2883916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978178" y="2871216"/>
            <a:ext cx="1675964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7003578" y="2883916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95" name="Rectangle 94"/>
          <p:cNvSpPr/>
          <p:nvPr/>
        </p:nvSpPr>
        <p:spPr>
          <a:xfrm>
            <a:off x="8654142" y="2871216"/>
            <a:ext cx="1675964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8679542" y="2883916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0330107" y="2871216"/>
            <a:ext cx="1675964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10355507" y="2883916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99" name="Rectangle 98"/>
          <p:cNvSpPr/>
          <p:nvPr/>
        </p:nvSpPr>
        <p:spPr>
          <a:xfrm>
            <a:off x="274320" y="3236976"/>
            <a:ext cx="11731752" cy="256032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325120" y="3249676"/>
            <a:ext cx="116301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Operações Vivas ME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274320" y="3493008"/>
            <a:ext cx="1955292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299720" y="3505708"/>
            <a:ext cx="190449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Contraparte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2229612" y="3493008"/>
            <a:ext cx="1955292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2255012" y="3505708"/>
            <a:ext cx="190449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Montante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4184904" y="3493008"/>
            <a:ext cx="1955292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4210304" y="3505708"/>
            <a:ext cx="190449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Taxa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6140196" y="3493008"/>
            <a:ext cx="1955292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6165596" y="3505708"/>
            <a:ext cx="190449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Residual (Dias)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8095488" y="3493008"/>
            <a:ext cx="1955292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8120888" y="3505708"/>
            <a:ext cx="190449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Vencimento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10050780" y="3493008"/>
            <a:ext cx="1955292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10076180" y="3505708"/>
            <a:ext cx="190449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Juro Diário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274320" y="3749040"/>
            <a:ext cx="1955292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299720" y="3761740"/>
            <a:ext cx="190449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2229612" y="3749040"/>
            <a:ext cx="1955292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2255012" y="3761740"/>
            <a:ext cx="190449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4184904" y="3749040"/>
            <a:ext cx="1955292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4210304" y="3761740"/>
            <a:ext cx="190449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6140196" y="3749040"/>
            <a:ext cx="1955292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6165596" y="3761740"/>
            <a:ext cx="190449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8095488" y="3749040"/>
            <a:ext cx="1955292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8120888" y="3761740"/>
            <a:ext cx="190449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10050780" y="3749040"/>
            <a:ext cx="1955292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10076180" y="3761740"/>
            <a:ext cx="190449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274320" y="4114800"/>
            <a:ext cx="11731752" cy="256032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325120" y="4127500"/>
            <a:ext cx="116301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Fluxos de Caixa ME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274320" y="4370832"/>
            <a:ext cx="310896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299720" y="4383532"/>
            <a:ext cx="30581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29" name="Rectangle 128"/>
          <p:cNvSpPr/>
          <p:nvPr/>
        </p:nvSpPr>
        <p:spPr>
          <a:xfrm>
            <a:off x="3383280" y="4370832"/>
            <a:ext cx="1572768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3408680" y="438353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D-4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4956048" y="4370832"/>
            <a:ext cx="1572768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4981448" y="438353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D-3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6528816" y="4370832"/>
            <a:ext cx="1572768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6554216" y="438353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D-2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8101584" y="4370832"/>
            <a:ext cx="1572768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8126984" y="438353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D-1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9674352" y="4370832"/>
            <a:ext cx="1572768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9699752" y="438353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274320" y="4626864"/>
            <a:ext cx="31089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299720" y="4639564"/>
            <a:ext cx="30581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Fluxos de entradas (Cash in flow)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3383280" y="4626864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3408680" y="463956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4956048" y="4626864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4981448" y="463956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6528816" y="4626864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6554216" y="463956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8101584" y="4626864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8126984" y="463956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9674352" y="4626864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9699752" y="463956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274320" y="4882896"/>
            <a:ext cx="31089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299720" y="4895596"/>
            <a:ext cx="30581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Outros recebimentos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3383280" y="4882896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3408680" y="489559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4956048" y="4882896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4981448" y="489559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6528816" y="4882896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6554216" y="489559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8101584" y="4882896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8126984" y="489559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9674352" y="4882896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9699752" y="489559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274320" y="5138928"/>
            <a:ext cx="31089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299720" y="5151628"/>
            <a:ext cx="30581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Reembolsos de DP + Juros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3383280" y="5138928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3408680" y="515162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4956048" y="5138928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4981448" y="515162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6528816" y="5138928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6554216" y="515162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8101584" y="5138928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8126984" y="515162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9674352" y="5138928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9699752" y="515162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274320" y="5394960"/>
            <a:ext cx="31089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299720" y="5407660"/>
            <a:ext cx="30581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Fluxos de Saídas (Cash out flow)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3383280" y="5394960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3408680" y="540766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4956048" y="5394960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4981448" y="540766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6528816" y="5394960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6554216" y="540766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8101584" y="5394960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8126984" y="540766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9674352" y="5394960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9699752" y="540766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274320" y="5650992"/>
            <a:ext cx="31089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299720" y="5663692"/>
            <a:ext cx="30581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Aplicação em DP ME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3383280" y="5650992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3408680" y="566369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4956048" y="5650992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4981448" y="566369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6528816" y="5650992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6554216" y="566369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8101584" y="5650992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8126984" y="566369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9674352" y="5650992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9699752" y="566369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274320" y="5907024"/>
            <a:ext cx="31089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299720" y="5919724"/>
            <a:ext cx="30581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05000"/>
                </a:solidFill>
                <a:latin typeface="Calibri"/>
              </a:rPr>
              <a:t>GAP de Liquidez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3383280" y="5907024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3408680" y="591972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5000"/>
                </a:solidFill>
                <a:latin typeface="Calibri"/>
              </a:rPr>
              <a:t>—</a:t>
            </a:r>
          </a:p>
        </p:txBody>
      </p:sp>
      <p:sp>
        <p:nvSpPr>
          <p:cNvPr id="203" name="Rectangle 202"/>
          <p:cNvSpPr/>
          <p:nvPr/>
        </p:nvSpPr>
        <p:spPr>
          <a:xfrm>
            <a:off x="4956048" y="5907024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TextBox 203"/>
          <p:cNvSpPr txBox="1"/>
          <p:nvPr/>
        </p:nvSpPr>
        <p:spPr>
          <a:xfrm>
            <a:off x="4981448" y="591972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5000"/>
                </a:solidFill>
                <a:latin typeface="Calibri"/>
              </a:rPr>
              <a:t>—</a:t>
            </a:r>
          </a:p>
        </p:txBody>
      </p:sp>
      <p:sp>
        <p:nvSpPr>
          <p:cNvPr id="205" name="Rectangle 204"/>
          <p:cNvSpPr/>
          <p:nvPr/>
        </p:nvSpPr>
        <p:spPr>
          <a:xfrm>
            <a:off x="6528816" y="5907024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6554216" y="591972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5000"/>
                </a:solidFill>
                <a:latin typeface="Calibri"/>
              </a:rPr>
              <a:t>—</a:t>
            </a:r>
          </a:p>
        </p:txBody>
      </p:sp>
      <p:sp>
        <p:nvSpPr>
          <p:cNvPr id="207" name="Rectangle 206"/>
          <p:cNvSpPr/>
          <p:nvPr/>
        </p:nvSpPr>
        <p:spPr>
          <a:xfrm>
            <a:off x="8101584" y="5907024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TextBox 207"/>
          <p:cNvSpPr txBox="1"/>
          <p:nvPr/>
        </p:nvSpPr>
        <p:spPr>
          <a:xfrm>
            <a:off x="8126984" y="591972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5000"/>
                </a:solidFill>
                <a:latin typeface="Calibri"/>
              </a:rPr>
              <a:t>—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9674352" y="5907024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TextBox 209"/>
          <p:cNvSpPr txBox="1"/>
          <p:nvPr/>
        </p:nvSpPr>
        <p:spPr>
          <a:xfrm>
            <a:off x="9699752" y="591972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5000"/>
                </a:solidFill>
                <a:latin typeface="Calibri"/>
              </a:rPr>
              <a:t>—</a:t>
            </a:r>
          </a:p>
        </p:txBody>
      </p:sp>
      <p:sp>
        <p:nvSpPr>
          <p:cNvPr id="211" name="Oval 210"/>
          <p:cNvSpPr/>
          <p:nvPr/>
        </p:nvSpPr>
        <p:spPr>
          <a:xfrm>
            <a:off x="2575864" y="4809744"/>
            <a:ext cx="1075334" cy="860450"/>
          </a:xfrm>
          <a:prstGeom prst="ellipse">
            <a:avLst/>
          </a:prstGeom>
          <a:solidFill>
            <a:srgbClr val="5C2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TextBox 211"/>
          <p:cNvSpPr txBox="1"/>
          <p:nvPr/>
        </p:nvSpPr>
        <p:spPr>
          <a:xfrm>
            <a:off x="2612440" y="4846320"/>
            <a:ext cx="1002182" cy="3248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Liquidez Total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2612440" y="5171133"/>
            <a:ext cx="1002182" cy="499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—</a:t>
            </a:r>
          </a:p>
        </p:txBody>
      </p:sp>
      <p:sp>
        <p:nvSpPr>
          <p:cNvPr id="214" name="Oval 213"/>
          <p:cNvSpPr/>
          <p:nvPr/>
        </p:nvSpPr>
        <p:spPr>
          <a:xfrm>
            <a:off x="3977639" y="4809744"/>
            <a:ext cx="1074420" cy="860450"/>
          </a:xfrm>
          <a:prstGeom prst="ellipse">
            <a:avLst/>
          </a:prstGeom>
          <a:solidFill>
            <a:srgbClr val="5C2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TextBox 214"/>
          <p:cNvSpPr txBox="1"/>
          <p:nvPr/>
        </p:nvSpPr>
        <p:spPr>
          <a:xfrm>
            <a:off x="4014215" y="4846320"/>
            <a:ext cx="1001268" cy="3248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Juros Diário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4014215" y="5171133"/>
            <a:ext cx="1001268" cy="499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—</a:t>
            </a:r>
          </a:p>
        </p:txBody>
      </p:sp>
      <p:pic>
        <p:nvPicPr>
          <p:cNvPr id="217" name="Picture 216" descr="icon_calcula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6672" y="5129784"/>
            <a:ext cx="557784" cy="649224"/>
          </a:xfrm>
          <a:prstGeom prst="rect">
            <a:avLst/>
          </a:prstGeom>
        </p:spPr>
      </p:pic>
      <p:pic>
        <p:nvPicPr>
          <p:cNvPr id="218" name="Picture 217" descr="footer_bann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199632"/>
            <a:ext cx="12188952" cy="65836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nner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47548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365760"/>
            <a:ext cx="256032" cy="365760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9875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Calibri"/>
              </a:rPr>
              <a:t>MERCADO CAMBIAL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20116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01.04.2026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566928"/>
            <a:ext cx="11686032" cy="18288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713232"/>
            <a:ext cx="5669280" cy="256032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5120" y="725932"/>
            <a:ext cx="55676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Cambiais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969264"/>
            <a:ext cx="128016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9720" y="981964"/>
            <a:ext cx="12293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Par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54480" y="969264"/>
            <a:ext cx="109728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79880" y="981964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Anterior (D-1)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51760" y="969264"/>
            <a:ext cx="109728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77160" y="981964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Anterior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49040" y="969264"/>
            <a:ext cx="109728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74440" y="981964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Actual (D)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46320" y="969264"/>
            <a:ext cx="109728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71720" y="981964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(%)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1225296"/>
            <a:ext cx="12801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9720" y="1237996"/>
            <a:ext cx="12293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USD/AKZ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554480" y="1225296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79880" y="1237996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51760" y="1225296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77160" y="1237996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749040" y="1225296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774440" y="1237996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846320" y="1225296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71720" y="1237996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1481328"/>
            <a:ext cx="12801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99720" y="1494028"/>
            <a:ext cx="12293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EUR/AKZ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554480" y="1481328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579880" y="1494028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651760" y="1481328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677160" y="1494028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749040" y="1481328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774440" y="1494028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846320" y="1481328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871720" y="1494028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1737360"/>
            <a:ext cx="12801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99720" y="1750060"/>
            <a:ext cx="12293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EUR/USD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554480" y="1737360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579880" y="1750060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651760" y="1737360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677160" y="1750060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749040" y="1737360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774440" y="1750060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846320" y="1737360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871720" y="1750060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4320" y="2130552"/>
            <a:ext cx="5669280" cy="256032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25120" y="2143252"/>
            <a:ext cx="55676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Transações BDA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74320" y="2386584"/>
            <a:ext cx="64008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99720" y="2399284"/>
            <a:ext cx="5892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C/V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14400" y="2386584"/>
            <a:ext cx="137160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39800" y="2399284"/>
            <a:ext cx="13208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Par de moeda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286000" y="2386584"/>
            <a:ext cx="137160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311400" y="2399284"/>
            <a:ext cx="13208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Montante Debt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657600" y="2386584"/>
            <a:ext cx="118872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683000" y="2399284"/>
            <a:ext cx="11379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Câmbio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846320" y="2386584"/>
            <a:ext cx="109728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871720" y="2399284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P/L AKZ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74320" y="2642616"/>
            <a:ext cx="6400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99720" y="2655316"/>
            <a:ext cx="5892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14400" y="2642616"/>
            <a:ext cx="13716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39800" y="2655316"/>
            <a:ext cx="13208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286000" y="2642616"/>
            <a:ext cx="13716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311400" y="2655316"/>
            <a:ext cx="13208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657600" y="2642616"/>
            <a:ext cx="11887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683000" y="2655316"/>
            <a:ext cx="11379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846320" y="2642616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871720" y="2655316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74320" y="3035808"/>
            <a:ext cx="5669280" cy="256032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25120" y="3048508"/>
            <a:ext cx="55676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Transações do Mercado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74320" y="3291840"/>
            <a:ext cx="109728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99720" y="3304540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Liquidação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371600" y="3291840"/>
            <a:ext cx="164592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397000" y="3304540"/>
            <a:ext cx="15951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Montante USD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017520" y="3291840"/>
            <a:ext cx="146304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042920" y="3304540"/>
            <a:ext cx="141224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Mínimo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480560" y="3291840"/>
            <a:ext cx="146304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505960" y="3304540"/>
            <a:ext cx="141224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Máximo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74320" y="3547872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99720" y="3560572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T+0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371600" y="3547872"/>
            <a:ext cx="164592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397000" y="3560572"/>
            <a:ext cx="15951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3547872"/>
            <a:ext cx="146304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2920" y="3560572"/>
            <a:ext cx="141224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480560" y="3547872"/>
            <a:ext cx="146304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505960" y="3560572"/>
            <a:ext cx="141224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74320" y="3803904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299720" y="3816604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T+1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371600" y="3803904"/>
            <a:ext cx="16459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397000" y="3816604"/>
            <a:ext cx="15951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93" name="Rectangle 92"/>
          <p:cNvSpPr/>
          <p:nvPr/>
        </p:nvSpPr>
        <p:spPr>
          <a:xfrm>
            <a:off x="3017520" y="3803904"/>
            <a:ext cx="146304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3042920" y="3816604"/>
            <a:ext cx="141224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480560" y="3803904"/>
            <a:ext cx="146304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4505960" y="3816604"/>
            <a:ext cx="141224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97" name="Rectangle 96"/>
          <p:cNvSpPr/>
          <p:nvPr/>
        </p:nvSpPr>
        <p:spPr>
          <a:xfrm>
            <a:off x="274320" y="4059936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299720" y="4072636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T+2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371600" y="4059936"/>
            <a:ext cx="164592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397000" y="4072636"/>
            <a:ext cx="15951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3017520" y="4059936"/>
            <a:ext cx="146304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3042920" y="4072636"/>
            <a:ext cx="141224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4480560" y="4059936"/>
            <a:ext cx="146304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4505960" y="4072636"/>
            <a:ext cx="141224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05" name="Oval 104"/>
          <p:cNvSpPr/>
          <p:nvPr/>
        </p:nvSpPr>
        <p:spPr>
          <a:xfrm>
            <a:off x="7774228" y="1300276"/>
            <a:ext cx="1134770" cy="892454"/>
          </a:xfrm>
          <a:prstGeom prst="ellipse">
            <a:avLst/>
          </a:prstGeom>
          <a:solidFill>
            <a:srgbClr val="5C2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7810804" y="1336852"/>
            <a:ext cx="1061618" cy="3382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Transações (USD)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7810804" y="1675106"/>
            <a:ext cx="1061618" cy="517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—</a:t>
            </a:r>
          </a:p>
        </p:txBody>
      </p:sp>
      <p:sp>
        <p:nvSpPr>
          <p:cNvPr id="108" name="Oval 107"/>
          <p:cNvSpPr/>
          <p:nvPr/>
        </p:nvSpPr>
        <p:spPr>
          <a:xfrm>
            <a:off x="9425635" y="1329537"/>
            <a:ext cx="1134770" cy="872337"/>
          </a:xfrm>
          <a:prstGeom prst="ellipse">
            <a:avLst/>
          </a:prstGeom>
          <a:solidFill>
            <a:srgbClr val="5C2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9462211" y="1366113"/>
            <a:ext cx="1061618" cy="329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Posição Cambial (Kz)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9462211" y="1695918"/>
            <a:ext cx="1061618" cy="5059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—</a:t>
            </a:r>
          </a:p>
        </p:txBody>
      </p:sp>
      <p:pic>
        <p:nvPicPr>
          <p:cNvPr id="111" name="Picture 110" descr="icon_report_mone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2240280"/>
            <a:ext cx="493776" cy="493776"/>
          </a:xfrm>
          <a:prstGeom prst="rect">
            <a:avLst/>
          </a:prstGeom>
        </p:spPr>
      </p:pic>
      <p:pic>
        <p:nvPicPr>
          <p:cNvPr id="112" name="Picture 111" descr="icon_fx_exchan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55096" y="612648"/>
            <a:ext cx="429768" cy="429768"/>
          </a:xfrm>
          <a:prstGeom prst="rect">
            <a:avLst/>
          </a:prstGeom>
        </p:spPr>
      </p:pic>
      <p:pic>
        <p:nvPicPr>
          <p:cNvPr id="113" name="Picture 112" descr="footer_bann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199632"/>
            <a:ext cx="12188952" cy="65836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nner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47548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365760"/>
            <a:ext cx="256032" cy="365760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9875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Calibri"/>
              </a:rPr>
              <a:t>MERCADO DE CAPITAIS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20116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01.04.2026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566928"/>
            <a:ext cx="11686032" cy="18288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713232"/>
            <a:ext cx="11731752" cy="256032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5120" y="725932"/>
            <a:ext cx="116301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Segmentado Por Produtos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969264"/>
            <a:ext cx="411480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9720" y="981964"/>
            <a:ext cx="40640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Segmento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969264"/>
            <a:ext cx="228600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14520" y="981964"/>
            <a:ext cx="22352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Anterior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75120" y="969264"/>
            <a:ext cx="274320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00520" y="981964"/>
            <a:ext cx="26924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Actual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418320" y="969264"/>
            <a:ext cx="2587752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43720" y="981964"/>
            <a:ext cx="25369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(%)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1225296"/>
            <a:ext cx="411480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9720" y="1237996"/>
            <a:ext cx="40640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Obrigações De Tesouro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89120" y="1225296"/>
            <a:ext cx="228600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14520" y="1237996"/>
            <a:ext cx="22352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75120" y="1225296"/>
            <a:ext cx="274320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00520" y="1237996"/>
            <a:ext cx="26924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418320" y="1225296"/>
            <a:ext cx="2587752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43720" y="1237996"/>
            <a:ext cx="25369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1481328"/>
            <a:ext cx="41148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9720" y="1494028"/>
            <a:ext cx="40640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Bilhetes Do Tesouro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89120" y="1481328"/>
            <a:ext cx="22860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14520" y="1494028"/>
            <a:ext cx="22352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75120" y="1481328"/>
            <a:ext cx="27432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00520" y="1494028"/>
            <a:ext cx="26924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418320" y="1481328"/>
            <a:ext cx="2587752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443720" y="1494028"/>
            <a:ext cx="25369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1737360"/>
            <a:ext cx="411480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99720" y="1750060"/>
            <a:ext cx="40640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Obrigações Privadas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89120" y="1737360"/>
            <a:ext cx="228600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14520" y="1750060"/>
            <a:ext cx="22352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675120" y="1737360"/>
            <a:ext cx="274320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700520" y="1750060"/>
            <a:ext cx="26924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418320" y="1737360"/>
            <a:ext cx="2587752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443720" y="1750060"/>
            <a:ext cx="25369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1993392"/>
            <a:ext cx="41148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99720" y="2006092"/>
            <a:ext cx="40640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Unidades De Participações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89120" y="1993392"/>
            <a:ext cx="22860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414520" y="2006092"/>
            <a:ext cx="22352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675120" y="1993392"/>
            <a:ext cx="27432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700520" y="2006092"/>
            <a:ext cx="26924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418320" y="1993392"/>
            <a:ext cx="2587752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443720" y="2006092"/>
            <a:ext cx="25369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4320" y="2249424"/>
            <a:ext cx="411480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99720" y="2262124"/>
            <a:ext cx="40640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Acções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389120" y="2249424"/>
            <a:ext cx="228600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414520" y="2262124"/>
            <a:ext cx="22352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675120" y="2249424"/>
            <a:ext cx="274320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700520" y="2262124"/>
            <a:ext cx="26924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418320" y="2249424"/>
            <a:ext cx="2587752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443720" y="2262124"/>
            <a:ext cx="25369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74320" y="2505456"/>
            <a:ext cx="41148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99720" y="2518156"/>
            <a:ext cx="40640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Repos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389120" y="2505456"/>
            <a:ext cx="22860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414520" y="2518156"/>
            <a:ext cx="22352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675120" y="2505456"/>
            <a:ext cx="27432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700520" y="2518156"/>
            <a:ext cx="26924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418320" y="2505456"/>
            <a:ext cx="2587752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443720" y="2518156"/>
            <a:ext cx="25369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74320" y="2761488"/>
            <a:ext cx="411480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99720" y="2774188"/>
            <a:ext cx="40640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05000"/>
                </a:solidFill>
                <a:latin typeface="Calibri"/>
              </a:rPr>
              <a:t>Total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389120" y="2761488"/>
            <a:ext cx="228600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414520" y="2774188"/>
            <a:ext cx="22352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5000"/>
                </a:solidFill>
                <a:latin typeface="Calibri"/>
              </a:rPr>
              <a:t>—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675120" y="2761488"/>
            <a:ext cx="274320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700520" y="2774188"/>
            <a:ext cx="26924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5000"/>
                </a:solidFill>
                <a:latin typeface="Calibri"/>
              </a:rPr>
              <a:t>—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418320" y="2761488"/>
            <a:ext cx="2587752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443720" y="2774188"/>
            <a:ext cx="25369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5000"/>
                </a:solidFill>
                <a:latin typeface="Calibri"/>
              </a:rPr>
              <a:t>—</a:t>
            </a:r>
          </a:p>
        </p:txBody>
      </p:sp>
      <p:sp>
        <p:nvSpPr>
          <p:cNvPr id="73" name="Oval 72"/>
          <p:cNvSpPr/>
          <p:nvPr/>
        </p:nvSpPr>
        <p:spPr>
          <a:xfrm>
            <a:off x="4316882" y="2888589"/>
            <a:ext cx="1346911" cy="967435"/>
          </a:xfrm>
          <a:prstGeom prst="ellipse">
            <a:avLst/>
          </a:prstGeom>
          <a:solidFill>
            <a:srgbClr val="5C2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353458" y="2925165"/>
            <a:ext cx="1273759" cy="3697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Kz  Transações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353458" y="3294911"/>
            <a:ext cx="1273759" cy="561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—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74320" y="3182112"/>
            <a:ext cx="11731752" cy="256032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25120" y="3194812"/>
            <a:ext cx="116301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Mercado de Bolsas de Acções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74320" y="3438144"/>
            <a:ext cx="164592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99720" y="3450844"/>
            <a:ext cx="15951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Código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920240" y="3438144"/>
            <a:ext cx="164592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945640" y="3450844"/>
            <a:ext cx="15951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Vol. Transacc.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566160" y="3438144"/>
            <a:ext cx="182880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591560" y="3450844"/>
            <a:ext cx="17780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Preço Anterior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394960" y="3438144"/>
            <a:ext cx="182880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420360" y="3450844"/>
            <a:ext cx="17780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Preço Actual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223760" y="3438144"/>
            <a:ext cx="164592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249160" y="3450844"/>
            <a:ext cx="15951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Variação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869680" y="3438144"/>
            <a:ext cx="3410712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895080" y="3450844"/>
            <a:ext cx="335991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Cap. Bolsista</a:t>
            </a:r>
          </a:p>
        </p:txBody>
      </p:sp>
      <p:sp>
        <p:nvSpPr>
          <p:cNvPr id="90" name="Rectangle 89"/>
          <p:cNvSpPr/>
          <p:nvPr/>
        </p:nvSpPr>
        <p:spPr>
          <a:xfrm>
            <a:off x="274320" y="3694176"/>
            <a:ext cx="16459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99720" y="3706876"/>
            <a:ext cx="15951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Dados não disponíveis (BODIVA)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920240" y="3694176"/>
            <a:ext cx="16459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945640" y="3706876"/>
            <a:ext cx="15951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566160" y="3694176"/>
            <a:ext cx="18288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3591560" y="3706876"/>
            <a:ext cx="17780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394960" y="3694176"/>
            <a:ext cx="18288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5420360" y="3706876"/>
            <a:ext cx="17780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223760" y="3694176"/>
            <a:ext cx="16459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249160" y="3706876"/>
            <a:ext cx="15951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8869680" y="3694176"/>
            <a:ext cx="3410712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8895080" y="3706876"/>
            <a:ext cx="335991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pic>
        <p:nvPicPr>
          <p:cNvPr id="102" name="Picture 101" descr="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99632"/>
            <a:ext cx="12188952" cy="65836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nner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47548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365760"/>
            <a:ext cx="256032" cy="365760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9875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Calibri"/>
              </a:rPr>
              <a:t>MERCADO DE CAPITAIS – OPERAÇÕES BDA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20116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01.04.2026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566928"/>
            <a:ext cx="11686032" cy="18288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713232"/>
            <a:ext cx="11731752" cy="256032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5120" y="725932"/>
            <a:ext cx="116301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Transações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969264"/>
            <a:ext cx="1955292" cy="237744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9720" y="981964"/>
            <a:ext cx="1904492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Tipo de Operação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29612" y="969264"/>
            <a:ext cx="1955292" cy="237744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55012" y="981964"/>
            <a:ext cx="1904492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Data Contrat.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84904" y="969264"/>
            <a:ext cx="1955292" cy="237744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10304" y="981964"/>
            <a:ext cx="1904492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C/V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40196" y="969264"/>
            <a:ext cx="1955292" cy="237744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65596" y="981964"/>
            <a:ext cx="1904492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Preço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95488" y="969264"/>
            <a:ext cx="1955292" cy="237744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20888" y="981964"/>
            <a:ext cx="1904492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Quantidades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050780" y="969264"/>
            <a:ext cx="1955292" cy="237744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76180" y="981964"/>
            <a:ext cx="1904492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Montante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1207008"/>
            <a:ext cx="195529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9720" y="1219708"/>
            <a:ext cx="1904492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29612" y="1207008"/>
            <a:ext cx="195529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255012" y="1219708"/>
            <a:ext cx="1904492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84904" y="1207008"/>
            <a:ext cx="195529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10304" y="1219708"/>
            <a:ext cx="1904492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40196" y="1207008"/>
            <a:ext cx="195529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65596" y="1219708"/>
            <a:ext cx="1904492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95488" y="1207008"/>
            <a:ext cx="195529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20888" y="1219708"/>
            <a:ext cx="1904492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050780" y="1207008"/>
            <a:ext cx="195529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76180" y="1219708"/>
            <a:ext cx="1904492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33" name="Oval 32"/>
          <p:cNvSpPr/>
          <p:nvPr/>
        </p:nvSpPr>
        <p:spPr>
          <a:xfrm>
            <a:off x="4507992" y="2120493"/>
            <a:ext cx="1148486" cy="805586"/>
          </a:xfrm>
          <a:prstGeom prst="ellipse">
            <a:avLst/>
          </a:prstGeom>
          <a:solidFill>
            <a:srgbClr val="5C2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44568" y="2157069"/>
            <a:ext cx="1075334" cy="301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Kz  Transações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44568" y="2458839"/>
            <a:ext cx="1075334" cy="467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0,00 mM Kz</a:t>
            </a:r>
          </a:p>
        </p:txBody>
      </p:sp>
      <p:sp>
        <p:nvSpPr>
          <p:cNvPr id="36" name="Oval 35"/>
          <p:cNvSpPr/>
          <p:nvPr/>
        </p:nvSpPr>
        <p:spPr>
          <a:xfrm>
            <a:off x="5657392" y="2120493"/>
            <a:ext cx="1148486" cy="805586"/>
          </a:xfrm>
          <a:prstGeom prst="ellipse">
            <a:avLst/>
          </a:prstGeom>
          <a:solidFill>
            <a:srgbClr val="5C2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693968" y="2157069"/>
            <a:ext cx="1075334" cy="301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Kz  Juros Diário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93968" y="2458839"/>
            <a:ext cx="1075334" cy="467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—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2834640"/>
            <a:ext cx="11731752" cy="256032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5120" y="2847340"/>
            <a:ext cx="116301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Carteira De Títulos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3090672"/>
            <a:ext cx="1303528" cy="237744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99720" y="3103372"/>
            <a:ext cx="1252728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Carteira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577848" y="3090672"/>
            <a:ext cx="1303528" cy="237744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603248" y="3103372"/>
            <a:ext cx="1252728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Cód. Neg.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881376" y="3090672"/>
            <a:ext cx="1303528" cy="237744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906776" y="3103372"/>
            <a:ext cx="1252728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Qtd D-1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184904" y="3090672"/>
            <a:ext cx="1303528" cy="237744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210304" y="3103372"/>
            <a:ext cx="1252728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Qtd 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8432" y="3090672"/>
            <a:ext cx="1303528" cy="237744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513832" y="3103372"/>
            <a:ext cx="1252728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Val. Nominal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791960" y="3090672"/>
            <a:ext cx="1303528" cy="237744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817360" y="3103372"/>
            <a:ext cx="1252728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Taxa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095488" y="3090672"/>
            <a:ext cx="1303528" cy="237744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120888" y="3103372"/>
            <a:ext cx="1252728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Montante 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399016" y="3090672"/>
            <a:ext cx="1303528" cy="237744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424416" y="3103372"/>
            <a:ext cx="1252728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Juros Anual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702544" y="3090672"/>
            <a:ext cx="1303528" cy="237744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727944" y="3103372"/>
            <a:ext cx="1252728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Juros Diário D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74320" y="3328416"/>
            <a:ext cx="1303528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99720" y="3341116"/>
            <a:ext cx="1252728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577848" y="3328416"/>
            <a:ext cx="1303528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603248" y="3341116"/>
            <a:ext cx="1252728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881376" y="3328416"/>
            <a:ext cx="1303528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906776" y="3341116"/>
            <a:ext cx="1252728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184904" y="3328416"/>
            <a:ext cx="1303528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210304" y="3341116"/>
            <a:ext cx="1252728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488432" y="3328416"/>
            <a:ext cx="1303528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513832" y="3341116"/>
            <a:ext cx="1252728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791960" y="3328416"/>
            <a:ext cx="1303528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817360" y="3341116"/>
            <a:ext cx="1252728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095488" y="3328416"/>
            <a:ext cx="1303528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120888" y="3341116"/>
            <a:ext cx="1252728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399016" y="3328416"/>
            <a:ext cx="1303528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424416" y="3341116"/>
            <a:ext cx="1252728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0702544" y="3328416"/>
            <a:ext cx="1303528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0727944" y="3341116"/>
            <a:ext cx="1252728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pic>
        <p:nvPicPr>
          <p:cNvPr id="77" name="Picture 76" descr="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99632"/>
            <a:ext cx="12188952" cy="65836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nner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47548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365760"/>
            <a:ext cx="256032" cy="365760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9875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Calibri"/>
              </a:rPr>
              <a:t>INFORMAÇÃO DE MERCADOS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20116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01.04.2026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566928"/>
            <a:ext cx="11686032" cy="18288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713232"/>
            <a:ext cx="5486400" cy="256032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5120" y="725932"/>
            <a:ext cx="53848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Capital Markets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969264"/>
            <a:ext cx="219456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9720" y="981964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Índice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68880" y="969264"/>
            <a:ext cx="109728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94280" y="981964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Anterior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66160" y="969264"/>
            <a:ext cx="109728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91560" y="981964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Actual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63440" y="969264"/>
            <a:ext cx="109728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88840" y="981964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(%)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1225296"/>
            <a:ext cx="21945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9720" y="1237996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S&amp;P500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68880" y="1225296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94280" y="1237996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66160" y="1225296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91560" y="1237996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63440" y="1225296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88840" y="1237996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1481328"/>
            <a:ext cx="21945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9720" y="1494028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Dow Jones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468880" y="1481328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494280" y="1494028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566160" y="1481328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91560" y="1494028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63440" y="1481328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88840" y="1494028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1737360"/>
            <a:ext cx="21945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99720" y="1750060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NASDAQ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468880" y="1737360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494280" y="1750060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566160" y="1737360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591560" y="1750060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663440" y="1737360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688840" y="1750060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1993392"/>
            <a:ext cx="21945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99720" y="2006092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NIKKEI 225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468880" y="1993392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494280" y="2006092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566160" y="1993392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591560" y="2006092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663440" y="1993392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688840" y="2006092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4320" y="2249424"/>
            <a:ext cx="21945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99720" y="2262124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IBOVESPA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468880" y="2249424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494280" y="2262124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566160" y="2249424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591560" y="2262124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663440" y="2249424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688840" y="2262124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74320" y="2505456"/>
            <a:ext cx="21945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99720" y="2518156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SHANGHAI COMPOSITE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468880" y="2505456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494280" y="2518156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566160" y="2505456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591560" y="2518156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663440" y="2505456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688840" y="2518156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74320" y="2761488"/>
            <a:ext cx="21945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99720" y="2774188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EUROSTOX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468880" y="2761488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494280" y="2774188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566160" y="2761488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591560" y="2774188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663440" y="2761488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688840" y="2774188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74320" y="3017520"/>
            <a:ext cx="21945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99720" y="3030220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Bolsa de Londres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468880" y="3017520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494280" y="3030220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566160" y="3017520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591560" y="3030220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663440" y="3017520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688840" y="3030220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74320" y="3273552"/>
            <a:ext cx="21945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99720" y="3286252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PSI 20</a:t>
            </a:r>
          </a:p>
        </p:txBody>
      </p:sp>
      <p:sp>
        <p:nvSpPr>
          <p:cNvPr id="83" name="Rectangle 82"/>
          <p:cNvSpPr/>
          <p:nvPr/>
        </p:nvSpPr>
        <p:spPr>
          <a:xfrm>
            <a:off x="2468880" y="3273552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494280" y="3286252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566160" y="3273552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591560" y="3286252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663440" y="3273552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688840" y="3286252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1283696" y="3042208"/>
            <a:ext cx="546811" cy="288036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1287353" y="3045866"/>
            <a:ext cx="539496" cy="28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1">
                <a:solidFill>
                  <a:srgbClr val="FFFFFF"/>
                </a:solidFill>
                <a:latin typeface="Calibri"/>
              </a:rPr>
              <a:t>Nota</a:t>
            </a:r>
          </a:p>
        </p:txBody>
      </p:sp>
      <p:sp>
        <p:nvSpPr>
          <p:cNvPr id="91" name="Rectangle 90"/>
          <p:cNvSpPr/>
          <p:nvPr/>
        </p:nvSpPr>
        <p:spPr>
          <a:xfrm>
            <a:off x="274320" y="4023360"/>
            <a:ext cx="5486400" cy="256032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325120" y="4036060"/>
            <a:ext cx="53848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Criptomoedas</a:t>
            </a:r>
          </a:p>
        </p:txBody>
      </p:sp>
      <p:sp>
        <p:nvSpPr>
          <p:cNvPr id="93" name="Rectangle 92"/>
          <p:cNvSpPr/>
          <p:nvPr/>
        </p:nvSpPr>
        <p:spPr>
          <a:xfrm>
            <a:off x="274320" y="4279392"/>
            <a:ext cx="219456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299720" y="4292092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Moeda</a:t>
            </a:r>
          </a:p>
        </p:txBody>
      </p:sp>
      <p:sp>
        <p:nvSpPr>
          <p:cNvPr id="95" name="Rectangle 94"/>
          <p:cNvSpPr/>
          <p:nvPr/>
        </p:nvSpPr>
        <p:spPr>
          <a:xfrm>
            <a:off x="2468880" y="4279392"/>
            <a:ext cx="109728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2494280" y="4292092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Anterior</a:t>
            </a:r>
          </a:p>
        </p:txBody>
      </p:sp>
      <p:sp>
        <p:nvSpPr>
          <p:cNvPr id="97" name="Rectangle 96"/>
          <p:cNvSpPr/>
          <p:nvPr/>
        </p:nvSpPr>
        <p:spPr>
          <a:xfrm>
            <a:off x="3566160" y="4279392"/>
            <a:ext cx="109728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3591560" y="4292092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Actual</a:t>
            </a:r>
          </a:p>
        </p:txBody>
      </p:sp>
      <p:sp>
        <p:nvSpPr>
          <p:cNvPr id="99" name="Rectangle 98"/>
          <p:cNvSpPr/>
          <p:nvPr/>
        </p:nvSpPr>
        <p:spPr>
          <a:xfrm>
            <a:off x="4663440" y="4279392"/>
            <a:ext cx="109728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4688840" y="4292092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(%)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274320" y="4535424"/>
            <a:ext cx="21945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299720" y="4548124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BITCOIN (BTC)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2468880" y="4535424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2494280" y="4548124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3566160" y="4535424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3591560" y="4548124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4663440" y="4535424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4688840" y="4548124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274320" y="4791456"/>
            <a:ext cx="21945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299720" y="4804156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ETHEREUM (ETH)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2468880" y="4791456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2494280" y="4804156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3566160" y="4791456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3591560" y="4804156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4663440" y="4791456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4688840" y="4804156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274320" y="5047488"/>
            <a:ext cx="21945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299720" y="5060188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XRP (XRP)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2468880" y="5047488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2494280" y="5060188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3566160" y="5047488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3591560" y="5060188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4663440" y="5047488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4688840" y="5060188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274320" y="5303520"/>
            <a:ext cx="21945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299720" y="5316220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USDC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2468880" y="5303520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2494280" y="5316220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3566160" y="5303520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3591560" y="5316220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4663440" y="5303520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4688840" y="5316220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274320" y="5559552"/>
            <a:ext cx="21945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299720" y="5572252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TETHER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2468880" y="5559552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2494280" y="5572252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3566160" y="5559552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3591560" y="5572252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4663440" y="5559552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4688840" y="5572252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pic>
        <p:nvPicPr>
          <p:cNvPr id="141" name="Picture 140" descr="icon_report_mone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9592" y="685800"/>
            <a:ext cx="356616" cy="356616"/>
          </a:xfrm>
          <a:prstGeom prst="rect">
            <a:avLst/>
          </a:prstGeom>
        </p:spPr>
      </p:pic>
      <p:pic>
        <p:nvPicPr>
          <p:cNvPr id="142" name="Picture 141" descr="footer_bann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199632"/>
            <a:ext cx="12188952" cy="65836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nner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47548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365760"/>
            <a:ext cx="256032" cy="365760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9875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Calibri"/>
              </a:rPr>
              <a:t>INFORMAÇÃO DE MERCADOS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20116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01.04.2026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566928"/>
            <a:ext cx="11686032" cy="18288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713232"/>
            <a:ext cx="5486400" cy="256032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5120" y="725932"/>
            <a:ext cx="53848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Commodities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969264"/>
            <a:ext cx="219456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9720" y="981964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Commodity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68880" y="969264"/>
            <a:ext cx="109728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94280" y="981964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Anterior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66160" y="969264"/>
            <a:ext cx="109728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91560" y="981964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Actual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63440" y="969264"/>
            <a:ext cx="109728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88840" y="981964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(%)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1225296"/>
            <a:ext cx="21945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9720" y="1237996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PETRÓLEO (BRENT)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68880" y="1225296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94280" y="1237996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66160" y="1225296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91560" y="1237996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63440" y="1225296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88840" y="1237996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1481328"/>
            <a:ext cx="21945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9720" y="1494028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MILHO (USD/BU)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468880" y="1481328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494280" y="1494028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566160" y="1481328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91560" y="1494028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63440" y="1481328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88840" y="1494028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1737360"/>
            <a:ext cx="21945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99720" y="1750060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SOJA (USD/BU)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468880" y="1737360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494280" y="1750060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566160" y="1737360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591560" y="1750060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663440" y="1737360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688840" y="1750060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1993392"/>
            <a:ext cx="21945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99720" y="2006092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TRIGO (USD/LBS)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468880" y="1993392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494280" y="2006092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566160" y="1993392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591560" y="2006092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663440" y="1993392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688840" y="2006092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4320" y="2249424"/>
            <a:ext cx="21945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99720" y="2262124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CAFÉ (USD/LBS)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468880" y="2249424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494280" y="2262124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566160" y="2249424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591560" y="2262124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663440" y="2249424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688840" y="2262124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74320" y="2505456"/>
            <a:ext cx="21945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99720" y="2518156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AÇÚCAR (USD/LBS)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468880" y="2505456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494280" y="2518156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566160" y="2505456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591560" y="2518156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663440" y="2505456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688840" y="2518156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74320" y="2761488"/>
            <a:ext cx="21945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99720" y="2774188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ÓLEO DE PALMA (USD/LBS)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468880" y="2761488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494280" y="2774188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566160" y="2761488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591560" y="2774188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663440" y="2761488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688840" y="2774188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74320" y="3017520"/>
            <a:ext cx="21945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99720" y="3030220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ALGODÃO (USD/LBS)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468880" y="3017520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494280" y="3030220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566160" y="3017520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591560" y="3030220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663440" y="3017520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688840" y="3030220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74320" y="3273552"/>
            <a:ext cx="21945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99720" y="3286252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BANANA (USD/LBS)</a:t>
            </a:r>
          </a:p>
        </p:txBody>
      </p:sp>
      <p:sp>
        <p:nvSpPr>
          <p:cNvPr id="83" name="Rectangle 82"/>
          <p:cNvSpPr/>
          <p:nvPr/>
        </p:nvSpPr>
        <p:spPr>
          <a:xfrm>
            <a:off x="2468880" y="3273552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494280" y="3286252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566160" y="3273552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591560" y="3286252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663440" y="3273552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688840" y="3286252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74320" y="3694176"/>
            <a:ext cx="5486400" cy="256032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325120" y="3706876"/>
            <a:ext cx="53848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Minerais</a:t>
            </a:r>
          </a:p>
        </p:txBody>
      </p:sp>
      <p:sp>
        <p:nvSpPr>
          <p:cNvPr id="91" name="Rectangle 90"/>
          <p:cNvSpPr/>
          <p:nvPr/>
        </p:nvSpPr>
        <p:spPr>
          <a:xfrm>
            <a:off x="274320" y="3950208"/>
            <a:ext cx="219456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299720" y="3962908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Mineral</a:t>
            </a:r>
          </a:p>
        </p:txBody>
      </p:sp>
      <p:sp>
        <p:nvSpPr>
          <p:cNvPr id="93" name="Rectangle 92"/>
          <p:cNvSpPr/>
          <p:nvPr/>
        </p:nvSpPr>
        <p:spPr>
          <a:xfrm>
            <a:off x="2468880" y="3950208"/>
            <a:ext cx="109728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2494280" y="3962908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Anterior</a:t>
            </a:r>
          </a:p>
        </p:txBody>
      </p:sp>
      <p:sp>
        <p:nvSpPr>
          <p:cNvPr id="95" name="Rectangle 94"/>
          <p:cNvSpPr/>
          <p:nvPr/>
        </p:nvSpPr>
        <p:spPr>
          <a:xfrm>
            <a:off x="3566160" y="3950208"/>
            <a:ext cx="109728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3591560" y="3962908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Actual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663440" y="3950208"/>
            <a:ext cx="109728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4688840" y="3962908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(%)</a:t>
            </a:r>
          </a:p>
        </p:txBody>
      </p:sp>
      <p:sp>
        <p:nvSpPr>
          <p:cNvPr id="99" name="Rectangle 98"/>
          <p:cNvSpPr/>
          <p:nvPr/>
        </p:nvSpPr>
        <p:spPr>
          <a:xfrm>
            <a:off x="274320" y="4206240"/>
            <a:ext cx="21945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299720" y="4218940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OURO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2468880" y="4206240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2494280" y="4218940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3566160" y="4206240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3591560" y="4218940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4663440" y="4206240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4688840" y="4218940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274320" y="4462272"/>
            <a:ext cx="21945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299720" y="4474972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FERRO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2468880" y="4462272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2494280" y="4474972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3566160" y="4462272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3591560" y="4474972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4663440" y="4462272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4688840" y="4474972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274320" y="4718304"/>
            <a:ext cx="21945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299720" y="4731004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COBRE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2468880" y="4718304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2494280" y="4731004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3566160" y="4718304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3591560" y="4731004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4663440" y="4718304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4688840" y="4731004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274320" y="4974336"/>
            <a:ext cx="21945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299720" y="4987036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MANGANÊS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2468880" y="4974336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2494280" y="4987036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3566160" y="4974336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3591560" y="4987036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4663440" y="4974336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4688840" y="4987036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11597335" y="3603650"/>
            <a:ext cx="546811" cy="288036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11600992" y="3607308"/>
            <a:ext cx="539496" cy="28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1">
                <a:solidFill>
                  <a:srgbClr val="FFFFFF"/>
                </a:solidFill>
                <a:latin typeface="Calibri"/>
              </a:rPr>
              <a:t>Nota</a:t>
            </a:r>
          </a:p>
        </p:txBody>
      </p:sp>
      <p:pic>
        <p:nvPicPr>
          <p:cNvPr id="133" name="Picture 132" descr="icon_glo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1207008"/>
            <a:ext cx="576072" cy="566928"/>
          </a:xfrm>
          <a:prstGeom prst="rect">
            <a:avLst/>
          </a:prstGeom>
        </p:spPr>
      </p:pic>
      <p:pic>
        <p:nvPicPr>
          <p:cNvPr id="134" name="Picture 133" descr="icon_report_mone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2432" y="822960"/>
            <a:ext cx="356616" cy="356616"/>
          </a:xfrm>
          <a:prstGeom prst="rect">
            <a:avLst/>
          </a:prstGeom>
        </p:spPr>
      </p:pic>
      <p:pic>
        <p:nvPicPr>
          <p:cNvPr id="135" name="Picture 134" descr="footer_bann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199632"/>
            <a:ext cx="12188952" cy="65836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