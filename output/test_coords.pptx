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jpg"/><Relationship Id="rId4" Type="http://schemas.openxmlformats.org/officeDocument/2006/relationships/image" Target="../media/image17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3429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429000"/>
            <a:ext cx="12188952" cy="2770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429000"/>
            <a:ext cx="73152" cy="201168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4123944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D44B36"/>
                </a:solidFill>
                <a:latin typeface="Calibri"/>
              </a:rPr>
              <a:t>Resumo Diário Dos Mercados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64" y="468172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DIRECÇÃO FINANCEIRA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" y="5047488"/>
            <a:ext cx="7315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B36"/>
                </a:solidFill>
                <a:latin typeface="Calibri"/>
              </a:rPr>
              <a:t>01.04.2026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5897880"/>
            <a:ext cx="2423160" cy="265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000000"/>
                </a:solidFill>
                <a:latin typeface="Calibri"/>
              </a:rPr>
              <a:t>Edifício BDA, Condomínio Dolce Vita, Via S8, Talatona
Luanda - Angola</a:t>
            </a:r>
          </a:p>
        </p:txBody>
      </p:sp>
      <p:pic>
        <p:nvPicPr>
          <p:cNvPr id="9" name="Picture 8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enda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Picture 2" descr="inner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88952" cy="3081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3483864"/>
            <a:ext cx="1664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D34A3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37943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37943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7832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Liquidez (ME)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2584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Mercado
Capitais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87768" y="400507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B8B34"/>
                </a:solidFill>
                <a:latin typeface="Calibri"/>
              </a:rPr>
              <a:t>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4352544"/>
            <a:ext cx="1554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0000"/>
                </a:solidFill>
                <a:latin typeface="Calibri"/>
              </a:rPr>
              <a:t>Informação
De Mercado</a:t>
            </a:r>
          </a:p>
        </p:txBody>
      </p:sp>
      <p:pic>
        <p:nvPicPr>
          <p:cNvPr id="17" name="Picture 16" descr="icon_report_b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9144" y="4928616"/>
            <a:ext cx="466344" cy="466344"/>
          </a:xfrm>
          <a:prstGeom prst="rect">
            <a:avLst/>
          </a:prstGeom>
        </p:spPr>
      </p:pic>
      <p:pic>
        <p:nvPicPr>
          <p:cNvPr id="18" name="Picture 17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Sumário Executivo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n 5"/>
          <p:cNvSpPr/>
          <p:nvPr/>
        </p:nvSpPr>
        <p:spPr>
          <a:xfrm>
            <a:off x="64008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an 6"/>
          <p:cNvSpPr/>
          <p:nvPr/>
        </p:nvSpPr>
        <p:spPr>
          <a:xfrm>
            <a:off x="356616" y="694944"/>
            <a:ext cx="429768" cy="347472"/>
          </a:xfrm>
          <a:prstGeom prst="can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249570" y="2751429"/>
            <a:ext cx="1626717" cy="136337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41010" y="2842869"/>
            <a:ext cx="144383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1010" y="3437229"/>
            <a:ext cx="144383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Juros de DP</a:t>
            </a:r>
          </a:p>
        </p:txBody>
      </p:sp>
      <p:pic>
        <p:nvPicPr>
          <p:cNvPr id="11" name="Picture 10" descr="icon_s3_liquidez_m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837943"/>
            <a:ext cx="402336" cy="50292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066544" y="1837943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84832" y="1876043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84832" y="2203703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15" name="Picture 14" descr="icon_s3_liquidez_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020824"/>
            <a:ext cx="393192" cy="34747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245352" y="2020824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058924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Liquidez 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86584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19" name="Picture 18" descr="icon_s3_posicao_camb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794760"/>
            <a:ext cx="512064" cy="402336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905256" y="3794760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" y="3832860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Posição Cambial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" y="4160520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23" name="Picture 22" descr="icon_s3_reembols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675887"/>
            <a:ext cx="502920" cy="39319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6739128" y="3675887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57416" y="3713987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Carteira Títulos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57416" y="4041647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27" name="Picture 26" descr="icon_s3_rent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631" y="1344168"/>
            <a:ext cx="420624" cy="27432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7799831" y="134416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18119" y="138226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19" y="170992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31" name="Picture 30" descr="icon_s3_rent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3024" y="2130552"/>
            <a:ext cx="420624" cy="2743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8650224" y="2130552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68512" y="2168652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ME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2496312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35" name="Picture 34" descr="icon_s3_rentabilida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3488" y="1618488"/>
            <a:ext cx="420624" cy="274320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7790688" y="1618488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08976" y="1656588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Rentabilidade Títulos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08976" y="1984248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39" name="Picture 38" descr="icon_s3_reembols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8512" y="3831336"/>
            <a:ext cx="502920" cy="393192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9125712" y="3831336"/>
            <a:ext cx="2359152" cy="1106424"/>
          </a:xfrm>
          <a:prstGeom prst="rect">
            <a:avLst/>
          </a:prstGeom>
          <a:solidFill>
            <a:srgbClr val="FFF0E0"/>
          </a:solidFill>
          <a:ln w="12700">
            <a:solidFill>
              <a:srgbClr val="E875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3869436"/>
            <a:ext cx="2308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Reembolsos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4197096"/>
            <a:ext cx="23083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8751A"/>
                </a:solidFill>
                <a:latin typeface="Calibri"/>
              </a:rPr>
              <a:t>—</a:t>
            </a:r>
          </a:p>
        </p:txBody>
      </p:sp>
      <p:pic>
        <p:nvPicPr>
          <p:cNvPr id="43" name="Picture 42" descr="icon_report_col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20656" y="5870448"/>
            <a:ext cx="320040" cy="320040"/>
          </a:xfrm>
          <a:prstGeom prst="rect">
            <a:avLst/>
          </a:prstGeom>
        </p:spPr>
      </p:pic>
      <p:pic>
        <p:nvPicPr>
          <p:cNvPr id="44" name="Picture 43" descr="footer_bann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MN  (Em Milhares)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Reservas Livres BNA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DO B. Comerciais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DP B. Comerciais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Posição OMAs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2494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2621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38328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40868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95604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98144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2881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5421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0158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12698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67435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69975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615184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25120" y="2627884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74320" y="2871216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99720" y="28839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64592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67132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474720" y="2871216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00120" y="28839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572000" y="2871216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97400" y="288391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858000" y="2871216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883400" y="288391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686800" y="2871216"/>
            <a:ext cx="35021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712200" y="2883916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74320" y="3127248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99720" y="3139948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64592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67132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474720" y="312724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00120" y="313994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4572000" y="312724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97400" y="313994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58000" y="3127248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883400" y="3139948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686800" y="3127248"/>
            <a:ext cx="35021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712200" y="3139948"/>
            <a:ext cx="34513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3493008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25120" y="3505708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9720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950284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975684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626249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651649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302213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327613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6978178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003578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654142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679542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330107" y="3749040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355507" y="3761740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9720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950284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975684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26249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651649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302213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5327613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78178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003578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654142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679542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10330107" y="4005072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10355507" y="4017772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74320" y="43708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25120" y="43835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Taxas LUIBOR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97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62067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64607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(D-2)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67020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92420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31337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733877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659721" y="4626864"/>
            <a:ext cx="234635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685121" y="463956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 (%)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743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997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O/N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62067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64607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967020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992420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731337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733877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9659721" y="4882896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685121" y="489559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743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2997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1M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262067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264607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4967020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4992420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731337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733877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9659721" y="5138928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9685121" y="5151628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743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2997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3M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262067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264607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4967020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4992420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31337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33877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659721" y="5394960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685121" y="5407660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97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6M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262067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264607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4967020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4992420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31337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33877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9659721" y="5650992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685121" y="5663692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743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2997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9M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62067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64607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4967020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4992420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731337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733877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659721" y="5907024"/>
            <a:ext cx="234635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685121" y="5919724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97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LUIBOR 12M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262067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264607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967020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92420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731337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733877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9659721" y="6163056"/>
            <a:ext cx="234635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9685121" y="6175756"/>
            <a:ext cx="229555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8" name="Oval 207"/>
          <p:cNvSpPr/>
          <p:nvPr/>
        </p:nvSpPr>
        <p:spPr>
          <a:xfrm>
            <a:off x="2450592" y="4923129"/>
            <a:ext cx="1002182" cy="7909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2487168" y="4959705"/>
            <a:ext cx="929030" cy="29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Liquidez Total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2487168" y="5255330"/>
            <a:ext cx="929030" cy="45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1" name="Oval 210"/>
          <p:cNvSpPr/>
          <p:nvPr/>
        </p:nvSpPr>
        <p:spPr>
          <a:xfrm>
            <a:off x="3842308" y="4940503"/>
            <a:ext cx="1002182" cy="79095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3878884" y="4977079"/>
            <a:ext cx="929030" cy="295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 Diário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878884" y="5272704"/>
            <a:ext cx="929030" cy="458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pic>
        <p:nvPicPr>
          <p:cNvPr id="214" name="Picture 213" descr="icon_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4983480"/>
            <a:ext cx="740664" cy="713232"/>
          </a:xfrm>
          <a:prstGeom prst="rect">
            <a:avLst/>
          </a:prstGeom>
        </p:spPr>
      </p:pic>
      <p:pic>
        <p:nvPicPr>
          <p:cNvPr id="215" name="Picture 214" descr="icon_calculat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7456" y="5111496"/>
            <a:ext cx="521207" cy="612648"/>
          </a:xfrm>
          <a:prstGeom prst="rect">
            <a:avLst/>
          </a:prstGeom>
        </p:spPr>
      </p:pic>
      <p:pic>
        <p:nvPicPr>
          <p:cNvPr id="216" name="Picture 215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NACIONAL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474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74904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7444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2180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720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9457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997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6734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9274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4011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6551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4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444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2180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4720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9457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1997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6734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9274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011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6551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Recebimentos de cupão de títulos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444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2180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720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9457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1997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6734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274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4011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6551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crédito (+)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4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7444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2180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34720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9457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1997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6734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9274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4011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6551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OMA-O/N + Juros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40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7444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21808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34720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94576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1997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467344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49274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40112" y="1993392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6551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249424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9720" y="226212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Transferencia a favor conta BNA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74440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21808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7208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94576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19976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467344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492744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0040112" y="22494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065512" y="22621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2505456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251815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40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74440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21808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347208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894576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919976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467344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92744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040112" y="250545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065512" y="251815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2761488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720" y="277418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(-) Juros, comissões e outros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49040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74440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21808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347208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94576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19976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467344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92744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040112" y="276148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0065512" y="277418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74320" y="3017520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99720" y="303022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Custos Com Pessoal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749040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74440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21808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347208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6894576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919976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467344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92744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40112" y="301752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65512" y="303022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3273552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9720" y="3286252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Fornecimentos e Serviços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749040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774440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321808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347208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894576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919976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467344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92744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040112" y="327355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065512" y="328625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74320" y="3529584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99720" y="3542284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 (-)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749040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774440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321808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347208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894576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919976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8467344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8492744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40112" y="3529584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65512" y="354228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74320" y="3785616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299720" y="3798316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Impostos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3749040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3774440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5321808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5347208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894576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6919976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8467344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8492744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0040112" y="378561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0065512" y="379831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274320" y="4041648"/>
            <a:ext cx="3474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299720" y="4054348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OMA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3749040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3774440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5321808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5347208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894576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6919976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8467344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8492744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10040112" y="404164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10065512" y="405434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274320" y="4297680"/>
            <a:ext cx="34747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299720" y="4310380"/>
            <a:ext cx="3423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3749040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3774440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321808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347208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6894576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6919976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467344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492744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10040112" y="429768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10065512" y="431038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274320" y="46634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25120" y="46761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P&amp;L Control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274320" y="4919472"/>
            <a:ext cx="5865876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299720" y="4932172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Categoria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140196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165596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Nº Operações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9073134" y="4919472"/>
            <a:ext cx="293293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9098534" y="4932172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274320" y="5175504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299720" y="5188204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 de Crédito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6140196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6165596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9073134" y="5175504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9098534" y="5188204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274320" y="5431536"/>
            <a:ext cx="5865876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299720" y="5444236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Fornecedores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140196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165596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9073134" y="5431536"/>
            <a:ext cx="293293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9098534" y="5444236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274320" y="5687568"/>
            <a:ext cx="5865876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299720" y="5700268"/>
            <a:ext cx="5815076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Desembolso de Crédito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6140196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6165596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9073134" y="5687568"/>
            <a:ext cx="293293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9098534" y="5700268"/>
            <a:ext cx="288213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202" name="Picture 20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8424" y="3054096"/>
            <a:ext cx="2459736" cy="2313432"/>
          </a:xfrm>
          <a:prstGeom prst="rect">
            <a:avLst/>
          </a:prstGeom>
        </p:spPr>
      </p:pic>
      <p:pic>
        <p:nvPicPr>
          <p:cNvPr id="203" name="Picture 202" descr="icon_kz_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3016" y="5468112"/>
            <a:ext cx="512064" cy="374904"/>
          </a:xfrm>
          <a:prstGeom prst="rect">
            <a:avLst/>
          </a:prstGeom>
        </p:spPr>
      </p:pic>
      <p:pic>
        <p:nvPicPr>
          <p:cNvPr id="204" name="Picture 20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0688" y="3154680"/>
            <a:ext cx="3739896" cy="2194560"/>
          </a:xfrm>
          <a:prstGeom prst="rect">
            <a:avLst/>
          </a:prstGeom>
        </p:spPr>
      </p:pic>
      <p:pic>
        <p:nvPicPr>
          <p:cNvPr id="205" name="Picture 204" descr="footer_bann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LIQUIDEZ – MOEDA ESTRANGEIRA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Liquidez ME  (Em Milhões USD)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8680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6048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1448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28816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4216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01584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6984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74352" y="969264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9752" y="9819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25296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379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SALDO D.O Estrangeiros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83280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08680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56048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1448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28816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4216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01584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6984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74352" y="1225296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99752" y="12379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481328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4940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DPs 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383280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8680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6048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81448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28816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4216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01584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26984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74352" y="1481328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9752" y="14940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1737360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720" y="17500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COLATERAL CDI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383280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408680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956048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81448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28816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54216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01584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6984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674352" y="1737360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9752" y="17500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19933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0060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LIQUIDEZ BDA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383280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408680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956048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981448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28816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54216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101584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126984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674352" y="19933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99752" y="20060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74320" y="235915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5120" y="237185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ME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99720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950284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975684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626249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51649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302213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27613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78178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003578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54142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679542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Maturidade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330107" y="2615184"/>
            <a:ext cx="1675964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55507" y="2627884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99720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950284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975684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626249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651649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302213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327613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6978178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003578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654142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79542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330107" y="2871216"/>
            <a:ext cx="1675964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355507" y="2883916"/>
            <a:ext cx="1625164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3236976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25120" y="3249676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Operações Vivas ME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972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Contraparte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229612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255012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184904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210304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140196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165596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Residual (Dias)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095488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120888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Vencimento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10050780" y="3493008"/>
            <a:ext cx="195529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10076180" y="3505708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 Diário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27432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29972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229612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255012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4184904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210304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40196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165596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095488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120888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50780" y="3749040"/>
            <a:ext cx="195529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76180" y="3761740"/>
            <a:ext cx="190449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411480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25120" y="412750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Fluxos de Caixa ME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74320" y="4370832"/>
            <a:ext cx="31089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99720" y="438353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28" name="Rectangle 127"/>
          <p:cNvSpPr/>
          <p:nvPr/>
        </p:nvSpPr>
        <p:spPr>
          <a:xfrm>
            <a:off x="3383280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408680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D-4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56048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981448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528816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554216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D-2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101584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126984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D-1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674352" y="4370832"/>
            <a:ext cx="1572768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699752" y="438353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74320" y="462686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99720" y="463956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entradas (Cash in flow)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3383280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3408680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956048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981448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6528816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554216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8101584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8126984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9674352" y="462686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9699752" y="463956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274320" y="4882896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299720" y="4895596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Outros recebimentos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3383280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3408680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956048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4981448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6528816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6554216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101584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126984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674352" y="4882896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699752" y="4895596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274320" y="5138928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299720" y="5151628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Reembolsos de DP + Juros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3383280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408680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956048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981448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6528816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6554216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8101584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126984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9674352" y="5138928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9699752" y="5151628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274320" y="5394960"/>
            <a:ext cx="31089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299720" y="5407660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Fluxos de Saídas (Cash out flow)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3383280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408680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956048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4981448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0" name="Rectangle 179"/>
          <p:cNvSpPr/>
          <p:nvPr/>
        </p:nvSpPr>
        <p:spPr>
          <a:xfrm>
            <a:off x="6528816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6554216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2" name="Rectangle 181"/>
          <p:cNvSpPr/>
          <p:nvPr/>
        </p:nvSpPr>
        <p:spPr>
          <a:xfrm>
            <a:off x="8101584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126984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9674352" y="5394960"/>
            <a:ext cx="1572768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9699752" y="5407660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86" name="Rectangle 185"/>
          <p:cNvSpPr/>
          <p:nvPr/>
        </p:nvSpPr>
        <p:spPr>
          <a:xfrm>
            <a:off x="274320" y="5650992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299720" y="5663692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Aplicação em DP ME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3383280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TextBox 188"/>
          <p:cNvSpPr txBox="1"/>
          <p:nvPr/>
        </p:nvSpPr>
        <p:spPr>
          <a:xfrm>
            <a:off x="3408680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4956048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4981448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528816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54216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8101584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8126984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6" name="Rectangle 195"/>
          <p:cNvSpPr/>
          <p:nvPr/>
        </p:nvSpPr>
        <p:spPr>
          <a:xfrm>
            <a:off x="9674352" y="5650992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9699752" y="5663692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274320" y="5907024"/>
            <a:ext cx="31089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299720" y="5919724"/>
            <a:ext cx="30581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GAP de Liquidez</a:t>
            </a:r>
          </a:p>
        </p:txBody>
      </p:sp>
      <p:sp>
        <p:nvSpPr>
          <p:cNvPr id="200" name="Rectangle 199"/>
          <p:cNvSpPr/>
          <p:nvPr/>
        </p:nvSpPr>
        <p:spPr>
          <a:xfrm>
            <a:off x="3383280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3408680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4956048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981448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4" name="Rectangle 203"/>
          <p:cNvSpPr/>
          <p:nvPr/>
        </p:nvSpPr>
        <p:spPr>
          <a:xfrm>
            <a:off x="6528816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6554216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101584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8126984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9674352" y="5907024"/>
            <a:ext cx="1572768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9699752" y="5919724"/>
            <a:ext cx="1521968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210" name="Oval 209"/>
          <p:cNvSpPr/>
          <p:nvPr/>
        </p:nvSpPr>
        <p:spPr>
          <a:xfrm>
            <a:off x="2575864" y="4809744"/>
            <a:ext cx="1075334" cy="86045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2612440" y="4846320"/>
            <a:ext cx="1002182" cy="32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Liquidez Total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2612440" y="5171133"/>
            <a:ext cx="1002182" cy="4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213" name="Oval 212"/>
          <p:cNvSpPr/>
          <p:nvPr/>
        </p:nvSpPr>
        <p:spPr>
          <a:xfrm>
            <a:off x="3977639" y="4809744"/>
            <a:ext cx="1074420" cy="860450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4014215" y="4846320"/>
            <a:ext cx="1001268" cy="3248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Juros Diário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4014215" y="5171133"/>
            <a:ext cx="1001268" cy="49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pic>
        <p:nvPicPr>
          <p:cNvPr id="216" name="Picture 215" descr="icon_calcul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672" y="5129784"/>
            <a:ext cx="557784" cy="649224"/>
          </a:xfrm>
          <a:prstGeom prst="rect">
            <a:avLst/>
          </a:prstGeom>
        </p:spPr>
      </p:pic>
      <p:pic>
        <p:nvPicPr>
          <p:cNvPr id="217" name="Picture 216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CAMBIAL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Cambiais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12801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798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 (D-1)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71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744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 (D)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172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1225296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720" y="1237996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USD/AKZ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798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71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7490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744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7172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1481328"/>
            <a:ext cx="12801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720" y="1494028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EUR/AKZ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798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6771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744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4632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7172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1737360"/>
            <a:ext cx="12801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99720" y="1750060"/>
            <a:ext cx="12293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EUR/USD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544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798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517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6771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744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84632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7172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130552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25120" y="2143252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BDA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74320" y="2386584"/>
            <a:ext cx="6400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99720" y="2399284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144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398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Par de moeda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286000" y="2386584"/>
            <a:ext cx="13716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11400" y="2399284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 Debt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0" y="2386584"/>
            <a:ext cx="11887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83000" y="2399284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Câmbio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846320" y="238658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871720" y="239928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P/L AKZ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2642616"/>
            <a:ext cx="6400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720" y="2655316"/>
            <a:ext cx="5892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98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286000" y="2642616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311400" y="2655316"/>
            <a:ext cx="1320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0" y="2642616"/>
            <a:ext cx="11887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683000" y="2655316"/>
            <a:ext cx="11379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846320" y="264261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71720" y="265531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74320" y="3035808"/>
            <a:ext cx="566928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25120" y="3048508"/>
            <a:ext cx="55676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 do Mercado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291840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3045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Liquidação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371600" y="3291840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397000" y="3304540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Montante USD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01752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04292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Mínimo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3291840"/>
            <a:ext cx="146304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05960" y="3304540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Máximo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54787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5605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371600" y="3547872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97000" y="3560572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01752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04292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480560" y="3547872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505960" y="3560572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803904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99720" y="38166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T+1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371600" y="3803904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397000" y="381660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01752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4292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80560" y="3803904"/>
            <a:ext cx="146304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505960" y="3816604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6" name="Rectangle 95"/>
          <p:cNvSpPr/>
          <p:nvPr/>
        </p:nvSpPr>
        <p:spPr>
          <a:xfrm>
            <a:off x="274320" y="405993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299720" y="40726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T+2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371600" y="4059936"/>
            <a:ext cx="164592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397000" y="407263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01752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04292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4059936"/>
            <a:ext cx="146304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505960" y="4072636"/>
            <a:ext cx="141224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Oval 103"/>
          <p:cNvSpPr/>
          <p:nvPr/>
        </p:nvSpPr>
        <p:spPr>
          <a:xfrm>
            <a:off x="7774228" y="1300276"/>
            <a:ext cx="1134770" cy="892454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810804" y="1336852"/>
            <a:ext cx="1061618" cy="3382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Transações (USD)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810804" y="1675106"/>
            <a:ext cx="1061618" cy="517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107" name="Oval 106"/>
          <p:cNvSpPr/>
          <p:nvPr/>
        </p:nvSpPr>
        <p:spPr>
          <a:xfrm>
            <a:off x="9425635" y="1329537"/>
            <a:ext cx="1134770" cy="872337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9462211" y="1366113"/>
            <a:ext cx="1061618" cy="329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Posição Cambial (Kz)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462211" y="1695918"/>
            <a:ext cx="1061618" cy="505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pic>
        <p:nvPicPr>
          <p:cNvPr id="110" name="Picture 109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2240280"/>
            <a:ext cx="493776" cy="493776"/>
          </a:xfrm>
          <a:prstGeom prst="rect">
            <a:avLst/>
          </a:prstGeom>
        </p:spPr>
      </p:pic>
      <p:pic>
        <p:nvPicPr>
          <p:cNvPr id="111" name="Picture 110" descr="icon_fx_exch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5096" y="612648"/>
            <a:ext cx="429768" cy="429768"/>
          </a:xfrm>
          <a:prstGeom prst="rect">
            <a:avLst/>
          </a:prstGeom>
        </p:spPr>
      </p:pic>
      <p:pic>
        <p:nvPicPr>
          <p:cNvPr id="112" name="Picture 111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Segmentado Por Produtos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4114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969264"/>
            <a:ext cx="22860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4520" y="98196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969264"/>
            <a:ext cx="27432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00520" y="98196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969264"/>
            <a:ext cx="258775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3720" y="98196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De Tesouro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225296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4520" y="123799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5120" y="1225296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0520" y="123799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225296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3720" y="123799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Bilhetes Do Tesouro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481328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14520" y="149402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1481328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0520" y="149402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18320" y="1481328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43720" y="149402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Obrigações Privadas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89120" y="1737360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14520" y="1750060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75120" y="1737360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0520" y="1750060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418320" y="1737360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43720" y="1750060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Unidades De Participações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993392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14520" y="2006092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675120" y="1993392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00520" y="2006092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8320" y="1993392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443720" y="2006092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Acções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89120" y="2249424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4520" y="2262124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675120" y="2249424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00520" y="2262124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418320" y="2249424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43720" y="2262124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4114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Repos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2505456"/>
            <a:ext cx="22860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14520" y="2518156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2505456"/>
            <a:ext cx="27432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00520" y="2518156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418320" y="2505456"/>
            <a:ext cx="258775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443720" y="2518156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41148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4064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5000"/>
                </a:solidFill>
                <a:latin typeface="Calibri"/>
              </a:rPr>
              <a:t>Total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89120" y="2761488"/>
            <a:ext cx="22860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14520" y="2774188"/>
            <a:ext cx="22352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675120" y="2761488"/>
            <a:ext cx="274320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700520" y="2774188"/>
            <a:ext cx="26924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418320" y="2761488"/>
            <a:ext cx="2587752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443720" y="2774188"/>
            <a:ext cx="25369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C05000"/>
                </a:solidFill>
                <a:latin typeface="Calibri"/>
              </a:rPr>
              <a:t>—</a:t>
            </a:r>
          </a:p>
        </p:txBody>
      </p:sp>
      <p:sp>
        <p:nvSpPr>
          <p:cNvPr id="72" name="Oval 71"/>
          <p:cNvSpPr/>
          <p:nvPr/>
        </p:nvSpPr>
        <p:spPr>
          <a:xfrm>
            <a:off x="4316882" y="2888589"/>
            <a:ext cx="1346911" cy="967435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353458" y="2925165"/>
            <a:ext cx="1273759" cy="369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353458" y="3294911"/>
            <a:ext cx="1273759" cy="561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" y="318211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25120" y="319481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Mercado de Bolsas de Acções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7432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9972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Código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92024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94564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Vol. Transacc.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5661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5915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Anterior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394960" y="3438144"/>
            <a:ext cx="182880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420360" y="3450844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Preço Actual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223760" y="3438144"/>
            <a:ext cx="164592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249160" y="3450844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Variação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869680" y="3438144"/>
            <a:ext cx="3410712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895080" y="3450844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Cap. Bolsista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432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9972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Dados não disponíveis (BODIVA)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192024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94564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5661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915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394960" y="3694176"/>
            <a:ext cx="18288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420360" y="3706876"/>
            <a:ext cx="17780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223760" y="3694176"/>
            <a:ext cx="164592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249160" y="3706876"/>
            <a:ext cx="159512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869680" y="3694176"/>
            <a:ext cx="3410712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895080" y="3706876"/>
            <a:ext cx="335991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101" name="Picture 100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MERCADO DE CAPITAIS – OPERAÇÕES BDA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Transações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Tipo de Operação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9612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55012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Data Contrat.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84904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0304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C/V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0196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65596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Preço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5488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0888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Quantidades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0780" y="969264"/>
            <a:ext cx="1955292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76180" y="981964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Montante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72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29612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55012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4904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10304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0196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5596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5488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0888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0780" y="1207008"/>
            <a:ext cx="1955292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76180" y="1219708"/>
            <a:ext cx="1904492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Oval 31"/>
          <p:cNvSpPr/>
          <p:nvPr/>
        </p:nvSpPr>
        <p:spPr>
          <a:xfrm>
            <a:off x="4507992" y="2120493"/>
            <a:ext cx="1148486" cy="80558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44568" y="2157069"/>
            <a:ext cx="1075334" cy="30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Transações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44568" y="2458839"/>
            <a:ext cx="1075334" cy="46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0,00 mM Kz</a:t>
            </a:r>
          </a:p>
        </p:txBody>
      </p:sp>
      <p:sp>
        <p:nvSpPr>
          <p:cNvPr id="35" name="Oval 34"/>
          <p:cNvSpPr/>
          <p:nvPr/>
        </p:nvSpPr>
        <p:spPr>
          <a:xfrm>
            <a:off x="5657392" y="2120493"/>
            <a:ext cx="1148486" cy="805586"/>
          </a:xfrm>
          <a:prstGeom prst="ellipse">
            <a:avLst/>
          </a:prstGeom>
          <a:solidFill>
            <a:srgbClr val="5C2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93968" y="2157069"/>
            <a:ext cx="1075334" cy="301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Kz  Juros Diário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93968" y="2458839"/>
            <a:ext cx="1075334" cy="467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834640"/>
            <a:ext cx="11731752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5120" y="2847340"/>
            <a:ext cx="11630152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Carteira De Títulos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Carteira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57784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60324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Cód. Neg.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137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0677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D-1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490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1030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Qtd 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8432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513832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Val. Nominal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791960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7360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Taxa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95488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20888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Montante 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399016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24416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Anual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702544" y="3090672"/>
            <a:ext cx="1303528" cy="237744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27944" y="3103372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Juros Diário 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972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57784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60324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88137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90677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18490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21030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488432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513832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91960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17360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95488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120888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99016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424416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702544" y="3328416"/>
            <a:ext cx="1303528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727944" y="3341116"/>
            <a:ext cx="1252728" cy="212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76" name="Picture 75" descr="footer_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Capital Markets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Índice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S&amp;P500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Dow Jones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NASDAQ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NIKKEI 225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IBOVESPA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SHANGHAI COMPOSITE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EUROSTOX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Bolsa de Londres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PSI 20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1283696" y="3042208"/>
            <a:ext cx="546811" cy="28803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287353" y="3045866"/>
            <a:ext cx="539496" cy="28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4023360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25120" y="4036060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Criptomoedas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74320" y="4279392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99720" y="4292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Moeda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246888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249428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56616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9156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663440" y="4279392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688840" y="4292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74320" y="4535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99720" y="4548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BITCOIN (BTC)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246888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249428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56616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9156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663440" y="4535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688840" y="4548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74320" y="4791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99720" y="4804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ETHEREUM (ETH)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6888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49428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56616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59156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663440" y="4791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688840" y="4804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74320" y="5047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99720" y="5060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XRP (XRP)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46888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49428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56616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59156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663440" y="5047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688840" y="5060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74320" y="5303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99720" y="5316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USDC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246888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49428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56616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59156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663440" y="5303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688840" y="5316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74320" y="5559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9720" y="5572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TETHER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46888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49428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56616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59156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663440" y="5559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688840" y="5572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pic>
        <p:nvPicPr>
          <p:cNvPr id="140" name="Picture 139" descr="icon_report_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592" y="685800"/>
            <a:ext cx="356616" cy="356616"/>
          </a:xfrm>
          <a:prstGeom prst="rect">
            <a:avLst/>
          </a:prstGeom>
        </p:spPr>
      </p:pic>
      <p:pic>
        <p:nvPicPr>
          <p:cNvPr id="141" name="Picture 140" descr="footer_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ner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47548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365760"/>
            <a:ext cx="256032" cy="365760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01168"/>
            <a:ext cx="9875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  <a:latin typeface="Calibri"/>
              </a:rPr>
              <a:t>INFORMAÇÃO DE MERCADOS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566928"/>
            <a:ext cx="11686032" cy="18288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713232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120" y="725932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Commodities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69264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720" y="98196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Commodity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8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9428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156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969264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8840" y="98196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225296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720" y="123799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PETRÓLEO (BRENT)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9428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156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1225296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8840" y="123799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1481328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720" y="149402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MILHO (USD/BU)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9428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6616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9156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63440" y="1481328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8840" y="149402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173736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720" y="175006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SOJA (USD/BU)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46888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49428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56616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156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173736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8840" y="175006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199339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720" y="200609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TRIGO (USD/LBS)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46888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9428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59156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63440" y="199339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8840" y="200609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224942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720" y="226212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CAFÉ (USD/LBS)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46888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49428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56616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59156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63440" y="224942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88840" y="226212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250545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720" y="251815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AÇÚCAR (USD/LBS)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46888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49428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56616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59156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63440" y="250545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688840" y="251815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2761488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9720" y="277418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ÓLEO DE PALMA (USD/LBS)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46888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49428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56616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59156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663440" y="2761488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688840" y="277418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3017520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99720" y="303022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ALGODÃO (USD/LBS)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46888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49428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56616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59156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663440" y="301752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688840" y="303022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74320" y="3273552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9720" y="328625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BANANA (USD/LBS)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46888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49428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6616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59156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6" name="Rectangle 85"/>
          <p:cNvSpPr/>
          <p:nvPr/>
        </p:nvSpPr>
        <p:spPr>
          <a:xfrm>
            <a:off x="4663440" y="3273552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688840" y="328625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74320" y="3694176"/>
            <a:ext cx="5486400" cy="256032"/>
          </a:xfrm>
          <a:prstGeom prst="rect">
            <a:avLst/>
          </a:prstGeom>
          <a:solidFill>
            <a:srgbClr val="C05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25120" y="3706876"/>
            <a:ext cx="538480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Minerais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74320" y="3950208"/>
            <a:ext cx="219456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99720" y="3962908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Mineral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8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49428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Anterior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56616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59156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Actual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663440" y="3950208"/>
            <a:ext cx="1097280" cy="256032"/>
          </a:xfrm>
          <a:prstGeom prst="rect">
            <a:avLst/>
          </a:prstGeom>
          <a:solidFill>
            <a:srgbClr val="C0500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688840" y="3962908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(%)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74320" y="4206240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99720" y="4218940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OURO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246888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249428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56616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59156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663440" y="4206240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4688840" y="4218940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274320" y="4462272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299720" y="4474972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FERRO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246888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249428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56616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9156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4663440" y="4462272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688840" y="4474972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274320" y="4718304"/>
            <a:ext cx="219456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299720" y="4731004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COBRE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6888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49428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56616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59156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663440" y="4718304"/>
            <a:ext cx="1097280" cy="256032"/>
          </a:xfrm>
          <a:prstGeom prst="rect">
            <a:avLst/>
          </a:prstGeom>
          <a:solidFill>
            <a:srgbClr val="FFF0E0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688840" y="4731004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74320" y="4974336"/>
            <a:ext cx="219456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99720" y="4987036"/>
            <a:ext cx="214376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Calibri"/>
              </a:rPr>
              <a:t>MANGANÊS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246888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249428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56616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59156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4663440" y="4974336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4688840" y="4987036"/>
            <a:ext cx="1046480" cy="230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Calibri"/>
              </a:rPr>
              <a:t>—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1597335" y="3603650"/>
            <a:ext cx="546811" cy="288036"/>
          </a:xfrm>
          <a:prstGeom prst="rect">
            <a:avLst/>
          </a:prstGeom>
          <a:solidFill>
            <a:srgbClr val="E875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600992" y="3607308"/>
            <a:ext cx="539496" cy="280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1">
                <a:solidFill>
                  <a:srgbClr val="FFFFFF"/>
                </a:solidFill>
                <a:latin typeface="Calibri"/>
              </a:rPr>
              <a:t>Nota</a:t>
            </a:r>
          </a:p>
        </p:txBody>
      </p:sp>
      <p:pic>
        <p:nvPicPr>
          <p:cNvPr id="132" name="Picture 131" descr="icon_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207008"/>
            <a:ext cx="576072" cy="566928"/>
          </a:xfrm>
          <a:prstGeom prst="rect">
            <a:avLst/>
          </a:prstGeom>
        </p:spPr>
      </p:pic>
      <p:pic>
        <p:nvPicPr>
          <p:cNvPr id="133" name="Picture 132" descr="icon_report_mon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2432" y="822960"/>
            <a:ext cx="356616" cy="356616"/>
          </a:xfrm>
          <a:prstGeom prst="rect">
            <a:avLst/>
          </a:prstGeom>
        </p:spPr>
      </p:pic>
      <p:pic>
        <p:nvPicPr>
          <p:cNvPr id="134" name="Picture 133" descr="footer_bann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99632"/>
            <a:ext cx="12188952" cy="6583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