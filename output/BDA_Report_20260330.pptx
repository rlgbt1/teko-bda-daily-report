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457200" cy="25603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88952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09728" cy="201168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1605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000000"/>
                </a:solidFill>
                <a:latin typeface="Calibri"/>
              </a:rPr>
              <a:t>Resumo Diário Dos Mercados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956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DIRECÇÃO FINANCEIRA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321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51A"/>
                </a:solidFill>
                <a:latin typeface="Calibri"/>
              </a:rPr>
              <a:t>30.03.2026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3550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035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E8751A"/>
                </a:solidFill>
                <a:latin typeface="Calibri"/>
              </a:rPr>
              <a:t>BDA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4922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555555"/>
                </a:solidFill>
                <a:latin typeface="Calibri"/>
              </a:rPr>
              <a:t>BANCO DE DESENVOLVIMENTO DE ANGOLA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Capitais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023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Informação De Mercado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Sumário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80" y="2560320"/>
            <a:ext cx="1828800" cy="1280160"/>
          </a:xfrm>
          <a:prstGeom prst="rect">
            <a:avLst/>
          </a:prstGeom>
          <a:solidFill>
            <a:srgbClr val="5C2D00"/>
          </a:solidFill>
          <a:ln w="6350">
            <a:solidFill>
              <a:srgbClr val="5C2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611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0.00 M Kz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Reembolso de Crédito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4980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120" y="78790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MN (mM Kz)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120" y="104241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0.00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120" y="202234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ME (M USD)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120" y="227685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0.00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1868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120" y="325678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USD/AKZ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120" y="351129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912.43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5312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120" y="449122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EUR/AKZ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5120" y="474573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1,057.69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74980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3400" y="78790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Reembolso Crédito (Kz)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3400" y="104241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0.00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98424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3400" y="202234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DO B. Comerciais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3400" y="227685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321868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3400" y="325678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DP B. Comerciais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3400" y="351129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445312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23400" y="449122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OMAs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3400" y="474573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MN  (Em Milhares)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Reservas Livres BNA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DO B. Comerciais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DP B. Comerciais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OMAs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2494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720" y="22621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8328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0868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5604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8144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2881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5421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0158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2698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7435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9975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0.02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615184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5120" y="2627884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2871216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9720" y="28839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4592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7132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474720" y="287121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00120" y="28839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0" y="2871216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97400" y="288391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8340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86800" y="2871216"/>
            <a:ext cx="35021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12200" y="2883916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312724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9720" y="3139948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45920" y="3127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67132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74720" y="312724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500120" y="313994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0" y="312724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97400" y="313994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58000" y="3127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8340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86800" y="3127248"/>
            <a:ext cx="35021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712200" y="3139948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3493008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5120" y="3505708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99720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950284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975684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26249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51649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302213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27613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978178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003578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654142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679542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330107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355507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" y="4005072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99720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950284" y="4005072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975684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3838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26249" y="4005072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651649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5302213" y="4005072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327613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6978178" y="4005072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003578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654142" y="4005072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679542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330107" y="4005072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355507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4320" y="4261104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9720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950284" y="4261104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975684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3626249" y="4261104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651649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42" name="Rectangle 141"/>
          <p:cNvSpPr/>
          <p:nvPr/>
        </p:nvSpPr>
        <p:spPr>
          <a:xfrm>
            <a:off x="5302213" y="4261104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327613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44" name="Rectangle 143"/>
          <p:cNvSpPr/>
          <p:nvPr/>
        </p:nvSpPr>
        <p:spPr>
          <a:xfrm>
            <a:off x="6978178" y="4261104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003578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654142" y="4261104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679542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330107" y="4261104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355507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4320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99720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950284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975684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54" name="Rectangle 153"/>
          <p:cNvSpPr/>
          <p:nvPr/>
        </p:nvSpPr>
        <p:spPr>
          <a:xfrm>
            <a:off x="3626249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651649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5302213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27613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6978178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003578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654142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679542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330107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355507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74320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99720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950284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975684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68" name="Rectangle 167"/>
          <p:cNvSpPr/>
          <p:nvPr/>
        </p:nvSpPr>
        <p:spPr>
          <a:xfrm>
            <a:off x="3626249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651649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70" name="Rectangle 169"/>
          <p:cNvSpPr/>
          <p:nvPr/>
        </p:nvSpPr>
        <p:spPr>
          <a:xfrm>
            <a:off x="5302213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327613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72" name="Rectangle 171"/>
          <p:cNvSpPr/>
          <p:nvPr/>
        </p:nvSpPr>
        <p:spPr>
          <a:xfrm>
            <a:off x="6978178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003578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654142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679542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330107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0355507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74320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99720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950284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975684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82" name="Rectangle 181"/>
          <p:cNvSpPr/>
          <p:nvPr/>
        </p:nvSpPr>
        <p:spPr>
          <a:xfrm>
            <a:off x="3626249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651649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84" name="Rectangle 183"/>
          <p:cNvSpPr/>
          <p:nvPr/>
        </p:nvSpPr>
        <p:spPr>
          <a:xfrm>
            <a:off x="5302213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327613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86" name="Rectangle 185"/>
          <p:cNvSpPr/>
          <p:nvPr/>
        </p:nvSpPr>
        <p:spPr>
          <a:xfrm>
            <a:off x="6978178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003578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654142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8679542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0330107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0355507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74320" y="539496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25120" y="540766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Taxas LUIBOR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74320" y="5650992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997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620670" y="5650992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64607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(D-2)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967020" y="5650992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9924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313371" y="5650992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33877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659721" y="5650992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68512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 (%)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743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2997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O/N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62067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64607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9670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9924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31337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33877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65972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68512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2743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997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1M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62067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64607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9670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9924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31337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33877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965972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968512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274320" y="641908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299720" y="643178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3M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620670" y="641908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646070" y="643178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4967020" y="641908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4992420" y="643178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313371" y="641908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338771" y="643178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9659721" y="641908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9685121" y="643178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74320" y="667512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99720" y="668782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6M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620670" y="667512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2646070" y="668782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967020" y="667512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992420" y="668782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7313371" y="667512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7338771" y="668782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9659721" y="667512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9685121" y="668782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74320" y="6931152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99720" y="694385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9M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620670" y="6931152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646070" y="694385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4967020" y="6931152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4992420" y="694385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313371" y="6931152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7338771" y="694385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659721" y="6931152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9685121" y="694385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274320" y="7187184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299720" y="719988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12M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2620670" y="7187184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2646070" y="719988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4967020" y="7187184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4992420" y="719988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7313371" y="7187184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7338771" y="719988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659721" y="7187184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9685121" y="719988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3474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444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180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720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9457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997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734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274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4011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6551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2529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3799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7444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2180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720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9457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997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6734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274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4011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551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48132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49402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Recebimentos de cupão de títulos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444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2180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720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9457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1997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6734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9274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4011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6551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73736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175006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crédito (+)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7444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2180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720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9457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1997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6734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9274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4011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6551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199339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00609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OMA-O/N + Juros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7444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2180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720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9457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1997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6734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9274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4011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6551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249424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720" y="226212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Transferencia a favor conta BNA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4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7444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2180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4720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9457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1997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6734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9274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4011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6551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50545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251815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49040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74440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21808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7208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94576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19976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67344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92744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0112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65512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2761488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9720" y="277418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(-) Juros, comissões e outros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49040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74440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21808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47208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94576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19976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67344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92744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0112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065512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301752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99720" y="303022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Custos Com Pessoal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749040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74440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21808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47208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894576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19976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467344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92744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40112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65512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3273552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99720" y="328625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Fornecimentos e Serviços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749040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774440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321808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47208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894576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19976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67344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92744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040112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65512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352958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99720" y="354228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 (-)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49040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74440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321808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347208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894576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919976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467344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492744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040112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65512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" y="378561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99720" y="379831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Impostos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749040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774440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321808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347208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894576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19976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467344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492744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040112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065512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74320" y="404164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99720" y="405434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OMA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749040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774440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321808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47208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894576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919976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467344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492744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040112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065512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74320" y="429768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99720" y="431038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749040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774440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321808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347208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894576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919976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467344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492744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040112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065512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74320" y="46634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25120" y="46761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P&amp;L Control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74320" y="4919472"/>
            <a:ext cx="5865876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99720" y="4932172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Categoria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40196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165596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Nº Operações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073134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098534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74320" y="5175504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99720" y="5188204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 de Crédito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40196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165596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9073134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098534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74320" y="5431536"/>
            <a:ext cx="58658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99720" y="5444236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Fornecedores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140196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165596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073134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098534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74320" y="5687568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99720" y="5700268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140196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165596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073134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098534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LIQUIDEZ – MOEDA ESTRANGEIRA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ME  (Em Milhões USD)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SALDO D.O Estrangeiros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DPs 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COLATERAL CDI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0.00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35915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5120" y="237185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9720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50284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75684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26249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1649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02213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27613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78178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03578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54142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79542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330107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355507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9720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50284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75684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26249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1649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302213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27613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78178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03578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654142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79542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330107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355507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3236976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5120" y="3249676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 ME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9972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29612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255012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84904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10304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40196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65596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95488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120888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078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07618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9972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29612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255012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84904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210304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40196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65596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95488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120888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050780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7618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" y="411480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25120" y="412750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4370832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99720" y="438353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3383280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408680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56048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981448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528816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554216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101584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126984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674352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699752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462686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99720" y="46395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383280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408680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956048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981448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528816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554216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01584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126984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674352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699752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4320" y="4882896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99720" y="48955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Outros recebimentos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383280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408680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956048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981448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528816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554216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101584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126984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674352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699752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74320" y="51389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99720" y="51516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DP + Juros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383280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408680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956048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981448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528816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554216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101584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126984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674352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699752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5394960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99720" y="54076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383280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408680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956048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981448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528816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554216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101584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126984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674352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699752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74320" y="56509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99720" y="56636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DP ME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383280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408680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956048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981448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528816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554216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101584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126984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674352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699752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74320" y="59070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99720" y="59197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383280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408680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956048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981448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528816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554216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101584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126984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674352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699752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MERCADO CAMBIAL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Cambiais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12801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98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71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44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172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225296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720" y="1237996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98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71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44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912.4300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172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481328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720" y="1494028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EUR/AKZ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98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71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44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1,057.6900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172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1737360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720" y="1750060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EUR/USD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798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71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744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1.1600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7172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13055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120" y="214325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BDA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2386584"/>
            <a:ext cx="6400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9720" y="2399284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98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Par de moeda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14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 Debt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386584"/>
            <a:ext cx="1188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83000" y="2399284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Câmbio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238658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71720" y="239928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P/L AKZ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2642616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9720" y="2655316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98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114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2642616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83000" y="2655316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264261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71720" y="26553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035808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5120" y="3048508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do Mercado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29184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720" y="33045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Liquidação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0" y="3291840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97000" y="330454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 USD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291840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292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80560" y="3291840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0596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Máximo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54787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5605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71600" y="3547872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97000" y="3560572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292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48056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0596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80390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9720" y="38166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0" y="3803904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97000" y="381660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017520" y="380390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4292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80560" y="380390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0596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405993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9720" y="40726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71600" y="4059936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97000" y="407263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292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8056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0596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00800" y="749808"/>
            <a:ext cx="265176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51600" y="787908"/>
            <a:ext cx="255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Transações (USD)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51600" y="1042416"/>
            <a:ext cx="255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235440" y="749808"/>
            <a:ext cx="265176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286240" y="787908"/>
            <a:ext cx="255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Posição Cambial (Kz)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286240" y="1042416"/>
            <a:ext cx="255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MERCADO DE CAPITAIS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Segmentado Por Produtos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4114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969264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4520" y="98196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969264"/>
            <a:ext cx="27432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0520" y="98196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969264"/>
            <a:ext cx="25877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3720" y="98196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225296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" y="123799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De Tesouro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225296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4520" y="123799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225296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0520" y="123799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225296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3720" y="123799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81328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720" y="149402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Bilhetes Do Tesouro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48132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4520" y="149402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1481328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0520" y="149402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1481328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43720" y="149402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737360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750060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Privadas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1737360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4520" y="1750060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737360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00520" y="1750060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1737360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43720" y="1750060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1993392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2006092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Unidades De Participações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199339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4520" y="2006092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1993392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00520" y="2006092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1993392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43720" y="2006092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249424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26212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Acções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2249424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14520" y="226212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2249424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00520" y="226212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2249424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3720" y="226212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505456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51815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Repos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250545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4520" y="251815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0" y="2505456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00520" y="251815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2505456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43720" y="251815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761488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720" y="277418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Total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2761488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14520" y="277418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0" y="2761488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00520" y="277418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18320" y="2761488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43720" y="277418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88552" y="749808"/>
            <a:ext cx="274320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39352" y="787908"/>
            <a:ext cx="264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Transações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39352" y="1042416"/>
            <a:ext cx="264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1821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5120" y="31948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Mercado de Bolsas de Acções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972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4564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Vol. Transacc.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661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915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Anterior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949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203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Actual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2376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4916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Variação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869680" y="3438144"/>
            <a:ext cx="341071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95080" y="3450844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Cap. Bolsista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972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Dados não disponíveis (BODIVA)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2024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4564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915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949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203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22376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4916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869680" y="3694176"/>
            <a:ext cx="34107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95080" y="3706876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 de Operação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9612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5012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Data Contrat.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4904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0304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0196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5596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Preço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5488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0888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Quantidades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078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618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9612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55012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4904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0304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0196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5596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5488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0888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078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18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1645920"/>
            <a:ext cx="2560320" cy="86868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94000" y="1684020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Transações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94000" y="1938528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0,00 mM Kz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1645920"/>
            <a:ext cx="2560320" cy="86868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20080" y="1684020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Juros Diário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20080" y="1938528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8346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120" y="28473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Carteira De Títulos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Carteira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7784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0324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Cód. Neg.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137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0677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8490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1030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8432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13832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Val. Nominal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9196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736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548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2088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Montante 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9901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2441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Anual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0254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2794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Diário 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972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7784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0324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8137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0677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8490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1030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8432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3832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9196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1736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9548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2088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9901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2441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70254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72794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INFORMAÇÃO DE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Capital Markets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S&amp;P 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6368.85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6343.72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-0.39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Dow Jones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45166.64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45216.14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NASDAQ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20948.36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20794.64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-0.73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Nikkei 225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53373.07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53373.07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IBOVESPA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181557.0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182514.2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0.53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Eurostoxx 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5505.8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5541.79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0.65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PSI 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8882.11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9069.55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2.11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Shanghai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3913.72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nan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nan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Bolsa de Londres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9967.4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10127.96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1.61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4023360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5120" y="4036060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Criptomoedas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4279392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9720" y="4292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6888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9428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6616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9156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6344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8884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4535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9720" y="4548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Bitcoin (BTC)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46888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9428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65954.92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56616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9156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66844.39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6344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8884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1.35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4791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9720" y="4804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Ethereum (ETH)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46888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49428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1982.56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56616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9156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2040.96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6344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8884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2.95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5047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99720" y="5060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XRP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6888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49428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1.33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56616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9156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1.33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66344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68884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035040" y="5349240"/>
            <a:ext cx="914400" cy="2286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060440" y="5358384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INFORMAÇÃO DE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Petróleo (Brent)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108.79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108.79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4540.4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4540.4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Cobre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5.49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Milho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455.25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455.25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Soja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1158.75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1158.75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Trigo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607.5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607.5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Café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294.3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294.3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Açúcar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15.54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15.54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Algodão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70.34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70.34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0.0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694176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5120" y="3706876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Minerais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950208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9720" y="396290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Mineral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6888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9428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6616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9156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6344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8884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35040" y="4251960"/>
            <a:ext cx="914400" cy="2286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60440" y="4261104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