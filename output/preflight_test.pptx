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457200" cy="256032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09728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1605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000000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956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3218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51A"/>
                </a:solidFill>
                <a:latin typeface="Calibri"/>
              </a:rPr>
              <a:t>30.03.2026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3550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0350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E8751A"/>
                </a:solidFill>
                <a:latin typeface="Calibri"/>
              </a:rPr>
              <a:t>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492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555555"/>
                </a:solidFill>
                <a:latin typeface="Calibri"/>
              </a:rPr>
              <a:t>BANCO DE DESENVOLVIMENTO DE ANGOLA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280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Capitais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51A"/>
                </a:solidFill>
                <a:latin typeface="Calibri"/>
              </a:rP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 De Mercado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Sumário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0" y="2560320"/>
            <a:ext cx="1828800" cy="1280160"/>
          </a:xfrm>
          <a:prstGeom prst="rect">
            <a:avLst/>
          </a:prstGeom>
          <a:solidFill>
            <a:srgbClr val="5C2D00"/>
          </a:solidFill>
          <a:ln w="6350">
            <a:solidFill>
              <a:srgbClr val="5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611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Reembolso de Crédito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12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12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Liquidez 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12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12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12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12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74980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3400" y="78790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3400" y="104241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98424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3400" y="202234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3400" y="227685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321868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3400" y="325678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3400" y="351129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4453128"/>
            <a:ext cx="256032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3400" y="4491228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3400" y="4745736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Reservas Livres BNA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DO B. Comerciais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DP B. Comerciais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OMAs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2494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2621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0868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5604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144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2881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5421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0158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2698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7435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9975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61518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5120" y="262788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2871216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9720" y="28839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7132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74720" y="287121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00120" y="28839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2871216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97400" y="288391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8340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86800" y="2871216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12200" y="2883916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31272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9720" y="31399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4592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7132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74720" y="312724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00120" y="31399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0" y="31272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97400" y="313994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8340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86800" y="3127248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12200" y="3139948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349300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5120" y="350570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9720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50284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75684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26249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1649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302213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27613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78178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03578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654142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679542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330107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355507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9720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50284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75684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26249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1649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302213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27613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78178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003578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54142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79542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330107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355507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43708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5120" y="43835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97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2067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64607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670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924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31337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33877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65972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8512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997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62067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64607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9670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9924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31337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33877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65972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68512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997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62067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64607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670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9924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31337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3877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65972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68512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997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62067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64607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9670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9924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31337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33877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65972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68512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97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62067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64607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9670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924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31337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33877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65972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68512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43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997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62067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64607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9670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9924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31337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33877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65972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68512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97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62067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64607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9670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924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31337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33877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65972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68512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35915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5120" y="237185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9720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50284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75684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26249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1649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2213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27613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78178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03578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54142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79542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30107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55507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9720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50284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75684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26249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1649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2213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27613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78178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03578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54142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79542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330107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55507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323697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5120" y="324967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972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29612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55012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84904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10304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0196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65596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95488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20888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078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7618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9972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29612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55012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84904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10304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40196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5596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95488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20888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5078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7618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411480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5120" y="412750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74320" y="56509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99720" y="56636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383280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408680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956048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81448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528816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54216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01584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126984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674352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699752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59070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9720" y="59197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383280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408680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956048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81448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528816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554216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101584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126984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674352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699752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CAMBIAL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813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720" y="149402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98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71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44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172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173736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720" y="175006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98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71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744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172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13055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214325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386584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720" y="2399284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98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14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386584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83000" y="2399284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238658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71720" y="239928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642616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720" y="2655316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8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114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2642616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83000" y="2655316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71720" y="26553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03580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5120" y="304850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80390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9720" y="38166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0" y="3803904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97000" y="381660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1752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4292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8056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0596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405993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9720" y="40726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71600" y="405993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97000" y="407263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292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0596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0080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5160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Transações (USD)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5160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235440" y="749808"/>
            <a:ext cx="265176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286240" y="787908"/>
            <a:ext cx="255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Posição Cambial (Kz)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86240" y="1042416"/>
            <a:ext cx="255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DE CAPITAIS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749808"/>
            <a:ext cx="2743200" cy="91440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39352" y="787908"/>
            <a:ext cx="264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9352" y="1042416"/>
            <a:ext cx="264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400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Transações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400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0,00 mM Kz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1645920"/>
            <a:ext cx="2560320" cy="868680"/>
          </a:xfrm>
          <a:prstGeom prst="rect">
            <a:avLst/>
          </a:prstGeom>
          <a:solidFill>
            <a:srgbClr val="FFF0E0"/>
          </a:solidFill>
          <a:ln w="1905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0080" y="1684020"/>
            <a:ext cx="245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Kz  Juros Diário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20080" y="1938528"/>
            <a:ext cx="245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SHANGHAI COMPOSITE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535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9720" y="4548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6888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9428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156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6344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8884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4791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720" y="4804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6888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9428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6616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9156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6344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8884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5047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99720" y="5060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 (XRP)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6888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9428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6616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9156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8884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5303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9720" y="5316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46888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49428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56616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59156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6344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68884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74320" y="5559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99720" y="5572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TETHER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46888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49428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56616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59156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66344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8884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035040" y="5861304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060440" y="5870448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E8751A"/>
                </a:solidFill>
                <a:latin typeface="Calibri"/>
              </a:rPr>
              <a:t>INFORMAÇÃO DE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73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30.03.2026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21792"/>
            <a:ext cx="11731752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 (USD/BU)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 (USD/BU)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 (USD/LBS)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 (USD/LBS)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 (USD/LBS)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ÓLEO DE PALMA (USD/LBS)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 (USD/LBS)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BANANA (USD/LBS)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694176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5120" y="3706876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950208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39629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9428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8884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20624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9720" y="421894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6888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9428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6616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156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6344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8884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446227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720" y="447497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FERRO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6888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9428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6616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9156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6344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8884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71830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99720" y="473100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6888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9428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6616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9156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8884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497433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9720" y="498703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MANGANÊS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46888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49428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56616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59156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6344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68884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035040" y="5276088"/>
            <a:ext cx="914400" cy="2286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060440" y="528523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74320" y="6535928"/>
            <a:ext cx="8988552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Edifício BDA, Condomínio Dolce Vita, Via S8, Talatona  |  Luanda – Angola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262872" y="6535928"/>
            <a:ext cx="274320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UMA VISÃO DE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