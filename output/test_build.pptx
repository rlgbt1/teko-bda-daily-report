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3429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429000"/>
            <a:ext cx="12188952" cy="2770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429000"/>
            <a:ext cx="73152" cy="201168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123944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D44B36"/>
                </a:solidFill>
                <a:latin typeface="Calibri"/>
              </a:rPr>
              <a:t>Resumo Diário Dos Mercados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468172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DIRECÇÃO FINANCEIRA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5047488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4B36"/>
                </a:solidFill>
                <a:latin typeface="Calibri"/>
              </a:rPr>
              <a:t>30.03.2026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5897880"/>
            <a:ext cx="2423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00000"/>
                </a:solidFill>
                <a:latin typeface="Calibri"/>
              </a:rPr>
              <a:t>Edifício BDA, Condomínio Dolce Vita, Via S8, Talatona
Luanda - Angola</a:t>
            </a:r>
          </a:p>
        </p:txBody>
      </p:sp>
      <p:pic>
        <p:nvPicPr>
          <p:cNvPr id="9" name="Picture 8" descr="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genda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Picture 2" descr="inner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30815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3483864"/>
            <a:ext cx="16642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D34A36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05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B8B34"/>
                </a:solidFill>
                <a:latin typeface="Calibri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52544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Sumário Executivo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37943" y="4005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B8B34"/>
                </a:solidFill>
                <a:latin typeface="Calibri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7943" y="4352544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Liquidez (MN)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7832" y="4005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B8B34"/>
                </a:solidFill>
                <a:latin typeface="Calibri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7832" y="4352544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Liquidez (ME)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2584" y="4005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B8B34"/>
                </a:solidFill>
                <a:latin typeface="Calibri"/>
              </a:rP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4" y="4352544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Mercado Cambial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4005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B8B34"/>
                </a:solidFill>
                <a:latin typeface="Calibri"/>
              </a:rPr>
              <a:t>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0448" y="4352544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Mercado
Capitais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7768" y="4005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B8B34"/>
                </a:solidFill>
                <a:latin typeface="Calibri"/>
              </a:rPr>
              <a:t>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4352544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Informação
De Mercado</a:t>
            </a:r>
          </a:p>
        </p:txBody>
      </p:sp>
      <p:pic>
        <p:nvPicPr>
          <p:cNvPr id="17" name="Picture 16" descr="footer_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Sumário Executivo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212080" y="2560320"/>
            <a:ext cx="1828800" cy="1280160"/>
          </a:xfrm>
          <a:prstGeom prst="rect">
            <a:avLst/>
          </a:prstGeom>
          <a:solidFill>
            <a:srgbClr val="5C2D00"/>
          </a:solidFill>
          <a:ln w="6350">
            <a:solidFill>
              <a:srgbClr val="5C2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2611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275,45M Kz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Reembolso de Crédito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749808"/>
            <a:ext cx="256032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5120" y="787908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Liquidez MN (mM Kz)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5120" y="1042416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73,59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6642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A33"/>
                </a:solidFill>
                <a:latin typeface="Calibri"/>
              </a:rPr>
              <a:t>+0,26%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984248"/>
            <a:ext cx="256032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5120" y="2022348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Liquidez ME (M USD)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5120" y="2276856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17,10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8986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A33"/>
                </a:solidFill>
                <a:latin typeface="Calibri"/>
              </a:rPr>
              <a:t>+0,50%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218688"/>
            <a:ext cx="256032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5120" y="3256788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Posição Cambial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5120" y="3511296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39,16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453128"/>
            <a:ext cx="256032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5120" y="4491228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Carteira Títulos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5120" y="4745736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135,69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749808"/>
            <a:ext cx="256032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23400" y="787908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Rentabilidade MN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3400" y="1042416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23,56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16642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C0000"/>
                </a:solidFill>
                <a:latin typeface="Calibri"/>
              </a:rPr>
              <a:t>-6,45%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72600" y="1984248"/>
            <a:ext cx="256032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23400" y="2022348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Rentabilidade 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23400" y="2276856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1.351,69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28986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C0000"/>
                </a:solidFill>
                <a:latin typeface="Calibri"/>
              </a:rPr>
              <a:t>-0,66%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72600" y="3218688"/>
            <a:ext cx="256032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23400" y="3256788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Rentabilidade Títulos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23400" y="3511296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26,85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72600" y="4453128"/>
            <a:ext cx="256032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23400" y="4491228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Reembolsos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23400" y="4745736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9,82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029200"/>
            <a:ext cx="5303520" cy="1097280"/>
          </a:xfrm>
          <a:prstGeom prst="rect">
            <a:avLst/>
          </a:prstGeom>
          <a:solidFill>
            <a:srgbClr val="FFF0E0"/>
          </a:solidFill>
          <a:ln w="1016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5065776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Enquadramento: Teste de enquadramento.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5029200"/>
            <a:ext cx="5303520" cy="1097280"/>
          </a:xfrm>
          <a:prstGeom prst="rect">
            <a:avLst/>
          </a:prstGeom>
          <a:solidFill>
            <a:srgbClr val="FFF0E0"/>
          </a:solidFill>
          <a:ln w="1016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5065776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Breve conclusão: Breve conclusão de teste.</a:t>
            </a:r>
          </a:p>
        </p:txBody>
      </p:sp>
      <p:pic>
        <p:nvPicPr>
          <p:cNvPr id="42" name="Picture 41" descr="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LIQUIDEZ – MOEDA NACIONAL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Liquidez MN  (Em Milhares)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9264"/>
            <a:ext cx="31089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720" y="981964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8680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1448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28816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4216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1584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6984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74352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9752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225296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9720" y="1237996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Reservas BNA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08680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56048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1448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1,100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28816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4216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1,200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01584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6984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1,300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74352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9752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1,400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1481328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9720" y="1494028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LIQUIDEZ BDA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0" y="14813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08680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4,000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56048" y="14813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81448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4,400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28816" y="14813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54216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4,800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01584" y="14813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26984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5,200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74352" y="14813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9752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5,600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1847088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5120" y="1859788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2103120"/>
            <a:ext cx="13716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9720" y="2115820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45920" y="2103120"/>
            <a:ext cx="1828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671320" y="2115820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Contraparte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74720" y="2103120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00120" y="21158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2103120"/>
            <a:ext cx="22860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97400" y="2115820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0" y="2103120"/>
            <a:ext cx="1828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83400" y="2115820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Maturidade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86800" y="2103120"/>
            <a:ext cx="350215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12200" y="2115820"/>
            <a:ext cx="34513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Juros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235915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9720" y="2371852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45920" y="2359152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71320" y="2371852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474720" y="235915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500120" y="23718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0" y="2359152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97400" y="2371852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858000" y="2359152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83400" y="2371852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686800" y="2359152"/>
            <a:ext cx="35021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12200" y="2371852"/>
            <a:ext cx="34513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272491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5120" y="273761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Operações Vivas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298094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99720" y="299364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950284" y="298094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975684" y="299364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Contraparte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26249" y="298094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1649" y="299364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302213" y="298094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27613" y="299364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978178" y="298094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003578" y="299364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Residual (Dias)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654142" y="298094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679542" y="299364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Vencimento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330107" y="298094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355507" y="299364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Juro Diário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323697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99720" y="324967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950284" y="323697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975684" y="324967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626249" y="323697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651649" y="324967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302213" y="323697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327613" y="324967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978178" y="323697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003578" y="324967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654142" y="323697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679542" y="324967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330107" y="323697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355507" y="324967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4320" y="3602736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25120" y="3615436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Taxas LUIBOR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" y="3858768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99720" y="387146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Maturidade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620670" y="3858768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646070" y="387146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 (D-2)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967020" y="3858768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992420" y="387146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 (D-1)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313371" y="3858768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338771" y="387146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 (D)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659721" y="3858768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685121" y="387146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Var (%)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74320" y="4114800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99720" y="412750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O/N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620670" y="4114800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646070" y="412750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9.15%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967020" y="4114800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992420" y="412750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9.15%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313371" y="4114800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338771" y="412750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9.15%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659721" y="4114800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685121" y="412750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74320" y="4370832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99720" y="438353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1M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620670" y="4370832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646070" y="438353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967020" y="4370832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992420" y="438353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313371" y="4370832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338771" y="438353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659721" y="4370832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685121" y="438353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74320" y="462686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99720" y="463956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3M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620670" y="462686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646070" y="463956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967020" y="462686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992420" y="463956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313371" y="462686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338771" y="463956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659721" y="462686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685121" y="463956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74320" y="488289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99720" y="489559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6M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620670" y="488289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646070" y="489559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967020" y="488289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992420" y="489559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313371" y="488289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338771" y="489559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659721" y="488289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685121" y="489559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74320" y="5138928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99720" y="515162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9M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2620670" y="5138928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2646070" y="515162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4967020" y="5138928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992420" y="515162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313371" y="5138928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338771" y="515162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659721" y="5138928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685121" y="515162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74320" y="5394960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299720" y="540766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12M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2620670" y="5394960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2646070" y="540766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4967020" y="5394960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992420" y="540766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313371" y="5394960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338771" y="540766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659721" y="5394960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685121" y="540766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377440" y="4937760"/>
            <a:ext cx="1828800" cy="82296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428240" y="4975860"/>
            <a:ext cx="172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Liquidez Total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428240" y="5230368"/>
            <a:ext cx="1727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5,600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4480560" y="4937760"/>
            <a:ext cx="1828800" cy="82296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531360" y="4975860"/>
            <a:ext cx="172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Juros Diário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531360" y="5230368"/>
            <a:ext cx="1727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Kz 22,04M</a:t>
            </a:r>
          </a:p>
        </p:txBody>
      </p:sp>
      <p:pic>
        <p:nvPicPr>
          <p:cNvPr id="179" name="Picture 178" descr="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LIQUIDEZ – MOEDA NACIONAL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Fluxos de Caixa MN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9264"/>
            <a:ext cx="34747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720" y="981964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3749040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4440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21808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7208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94576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19976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67344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92744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40112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65512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225296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9720" y="1237996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Fluxos de Entradas (Cash in flow)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40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74440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21808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7208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94576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19976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67344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92744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40112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65512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1481328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9720" y="1494028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Recebimentos de cupão de títulos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9040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74440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21808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47208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94576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19976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67344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92744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40112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65512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1737360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9720" y="1750060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Reembolsos de crédito (+)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49040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74440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21808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47208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94576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19976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67344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92744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40112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65512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1993392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9720" y="2006092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Reembolsos de OMA-O/N + Juros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49040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774440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21808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47208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94576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19976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67344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92744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040112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65512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2249424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9720" y="2262124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Transferencia a favor conta BNA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749040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774440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21808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47208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894576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919976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467344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492744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040112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065512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" y="2505456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99720" y="2518156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Fluxos de Saídas (Cash out flow)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749040" y="250545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774440" y="251815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321808" y="250545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347208" y="251815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894576" y="250545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919976" y="251815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467344" y="250545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492744" y="251815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040112" y="250545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065512" y="251815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74320" y="2761488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99720" y="2774188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(-) Juros, comissões e outros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749040" y="276148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774440" y="277418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321808" y="276148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347208" y="277418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894576" y="276148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919976" y="277418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467344" y="276148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492744" y="277418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040112" y="276148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065512" y="277418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74320" y="3017520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99720" y="3030220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Custos Com Pessoal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749040" y="301752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774440" y="303022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321808" y="301752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347208" y="303022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894576" y="301752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919976" y="303022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467344" y="301752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492744" y="303022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040112" y="301752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065512" y="303022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" y="3273552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99720" y="3286252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Fornecimentos e Serviços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749040" y="327355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774440" y="328625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321808" y="327355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347208" y="328625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894576" y="327355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919976" y="328625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467344" y="327355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492744" y="328625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040112" y="327355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0065512" y="328625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74320" y="3529584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9720" y="3542284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Desembolso de crédito (-)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749040" y="3529584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774440" y="354228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321808" y="3529584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347208" y="354228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894576" y="3529584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919976" y="354228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467344" y="3529584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492744" y="354228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040112" y="3529584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065512" y="354228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74320" y="3785616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99720" y="3798316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Impostos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749040" y="378561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774440" y="379831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321808" y="378561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347208" y="379831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894576" y="378561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919976" y="379831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467344" y="378561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492744" y="379831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0040112" y="378561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0065512" y="379831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74320" y="4041648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99720" y="4054348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Aplicação em OMA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749040" y="404164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774440" y="405434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321808" y="404164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5347208" y="405434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894576" y="404164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919976" y="405434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467344" y="404164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492744" y="405434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0040112" y="404164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0065512" y="405434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274320" y="4297680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299720" y="4310380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GAP de Liquidez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749040" y="429768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3774440" y="431038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321808" y="429768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347208" y="431038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894576" y="429768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919976" y="431038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467344" y="429768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8492744" y="431038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0040112" y="429768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0065512" y="431038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274320" y="4663440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25120" y="4676140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P&amp;L Control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274320" y="4919472"/>
            <a:ext cx="5865876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299720" y="4932172"/>
            <a:ext cx="5815076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Categoria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140196" y="4919472"/>
            <a:ext cx="293293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165596" y="4932172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Nº Operações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9073134" y="4919472"/>
            <a:ext cx="293293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9098534" y="4932172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274320" y="5175504"/>
            <a:ext cx="5865876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299720" y="5188204"/>
            <a:ext cx="5815076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Reembolso de Crédito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6140196" y="5175504"/>
            <a:ext cx="293293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165596" y="5188204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9073134" y="5175504"/>
            <a:ext cx="293293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9098534" y="5188204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274320" y="5431536"/>
            <a:ext cx="586587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299720" y="5444236"/>
            <a:ext cx="5815076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Fornecedores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6140196" y="5431536"/>
            <a:ext cx="293293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6165596" y="5444236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9073134" y="5431536"/>
            <a:ext cx="293293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9098534" y="5444236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274320" y="5687568"/>
            <a:ext cx="5865876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299720" y="5700268"/>
            <a:ext cx="5815076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Desembolso de Crédito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6140196" y="5687568"/>
            <a:ext cx="293293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6165596" y="5700268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9073134" y="5687568"/>
            <a:ext cx="293293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098534" y="5700268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pic>
        <p:nvPicPr>
          <p:cNvPr id="203" name="Picture 202" descr="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LIQUIDEZ – MOEDA ESTRANGEIRA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Liquidez ME  (Em Milhões USD)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9264"/>
            <a:ext cx="31089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720" y="981964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8680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1448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28816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4216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1584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6984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74352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9752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225296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9720" y="1237996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SALDO D.O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08680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10.00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56048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1448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10.50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28816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4216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11.00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01584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6984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11.50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74352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9752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12.00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1481328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9720" y="1494028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LIQUIDEZ BDA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0" y="14813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08680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17.00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56048" y="14813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81448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17.50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28816" y="14813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54216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18.00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01584" y="14813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26984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18.50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74352" y="14813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9752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19.00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1847088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5120" y="1859788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 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210312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9720" y="211582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50284" y="210312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75684" y="211582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Moeda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26249" y="210312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1649" y="211582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Contraparte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02213" y="210312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27613" y="211582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78178" y="210312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03578" y="211582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54142" y="210312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79542" y="211582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Maturidade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330107" y="210312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355507" y="211582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Juros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235915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9720" y="237185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50284" y="235915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975684" y="237185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26249" y="235915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1649" y="237185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02213" y="235915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27613" y="237185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978178" y="235915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003578" y="237185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654142" y="235915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679542" y="237185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330107" y="235915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355507" y="237185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272491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5120" y="273761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Operações Vivas ME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2980944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99720" y="2993644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Contraparte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29612" y="2980944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255012" y="2993644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184904" y="2980944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10304" y="2993644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140196" y="2980944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165596" y="2993644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Residual (Dias)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095488" y="2980944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120888" y="2993644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Vencimento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050780" y="2980944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076180" y="2993644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Juro Diário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3236976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99720" y="3249676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229612" y="3236976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255012" y="3249676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184904" y="3236976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210304" y="3249676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40196" y="3236976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65596" y="3249676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095488" y="3236976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120888" y="3249676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050780" y="3236976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076180" y="3249676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4320" y="3602736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25120" y="3615436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Fluxos de Caixa ME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" y="3858768"/>
            <a:ext cx="31089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99720" y="3871468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5" name="Rectangle 104"/>
          <p:cNvSpPr/>
          <p:nvPr/>
        </p:nvSpPr>
        <p:spPr>
          <a:xfrm>
            <a:off x="3383280" y="3858768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408680" y="387146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D-4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956048" y="3858768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981448" y="387146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D-3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528816" y="3858768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554216" y="387146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101584" y="3858768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126984" y="387146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674352" y="3858768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699752" y="387146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74320" y="4114800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99720" y="4127500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Fluxos de entradas (Cash in flow)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383280" y="411480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408680" y="412750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956048" y="411480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981448" y="412750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528816" y="411480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554216" y="412750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101584" y="411480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126984" y="412750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674352" y="411480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699752" y="412750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74320" y="4370832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99720" y="4383532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Outros recebimentos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383280" y="437083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408680" y="438353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956048" y="437083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981448" y="438353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528816" y="437083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554216" y="438353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101584" y="437083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126984" y="438353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674352" y="437083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699752" y="438353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74320" y="4626864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99720" y="4639564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Reembolsos de DP + Juros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383280" y="462686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408680" y="46395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956048" y="462686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981448" y="46395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528816" y="462686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554216" y="46395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101584" y="462686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126984" y="46395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674352" y="462686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699752" y="46395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74320" y="4882896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99720" y="4895596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Fluxos de Saídas (Cash out flow)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383280" y="488289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408680" y="48955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956048" y="488289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981448" y="48955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528816" y="488289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554216" y="48955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101584" y="488289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126984" y="48955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674352" y="488289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699752" y="48955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74320" y="5138928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299720" y="5151628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Aplicação em DP ME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3383280" y="51389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408680" y="51516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4956048" y="51389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981448" y="51516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528816" y="51389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554216" y="51516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101584" y="51389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126984" y="51516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9674352" y="51389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699752" y="51516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74320" y="5394960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99720" y="5407660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GAP de Liquidez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3383280" y="53949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408680" y="54076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956048" y="53949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981448" y="54076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528816" y="53949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554216" y="54076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8101584" y="53949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8126984" y="54076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9674352" y="53949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9699752" y="54076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2377440" y="4937760"/>
            <a:ext cx="1828800" cy="82296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2428240" y="4975860"/>
            <a:ext cx="172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Liquidez Total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2428240" y="5230368"/>
            <a:ext cx="1727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19.00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4480560" y="4937760"/>
            <a:ext cx="1828800" cy="82296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4531360" y="4975860"/>
            <a:ext cx="172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Juros Diário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4531360" y="5230368"/>
            <a:ext cx="1727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USD 1.358</a:t>
            </a:r>
          </a:p>
        </p:txBody>
      </p:sp>
      <p:pic>
        <p:nvPicPr>
          <p:cNvPr id="193" name="Picture 192" descr="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MERCADO CAMBIAL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566928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5120" y="725932"/>
            <a:ext cx="55676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Cambiais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9264"/>
            <a:ext cx="12801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720" y="981964"/>
            <a:ext cx="12293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7988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 (D-1)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716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4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444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 (D)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172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225296"/>
            <a:ext cx="12801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720" y="1237996"/>
            <a:ext cx="12293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USD/AKZ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7988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910.00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7716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911.00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4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7444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912.43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7172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+0.16%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1618488"/>
            <a:ext cx="566928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5120" y="1631188"/>
            <a:ext cx="55676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 BDA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1874520"/>
            <a:ext cx="6400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9720" y="1887220"/>
            <a:ext cx="5892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C/V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1874520"/>
            <a:ext cx="13716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9800" y="1887220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Par de moeda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0" y="1874520"/>
            <a:ext cx="13716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11400" y="1887220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 Debt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0" y="1874520"/>
            <a:ext cx="11887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83000" y="1887220"/>
            <a:ext cx="1137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Câmbio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0" y="1874520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71720" y="1887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P/L AKZ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2130552"/>
            <a:ext cx="6400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9720" y="2143252"/>
            <a:ext cx="5892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" y="213055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9800" y="2143252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0" y="213055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11400" y="2143252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0" y="2130552"/>
            <a:ext cx="1188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83000" y="2143252"/>
            <a:ext cx="1137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0" y="213055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71720" y="2143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2523744"/>
            <a:ext cx="566928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5120" y="2536444"/>
            <a:ext cx="55676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 do Mercado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2779776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9720" y="279247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Liquidação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71600" y="2779776"/>
            <a:ext cx="16459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97000" y="2792476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Montante USD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17520" y="2779776"/>
            <a:ext cx="146304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42920" y="2792476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Mínimo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80560" y="2779776"/>
            <a:ext cx="146304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05960" y="2792476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Máximo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303580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9720" y="304850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T+0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371600" y="3035808"/>
            <a:ext cx="16459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397000" y="3048508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017520" y="3035808"/>
            <a:ext cx="14630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042920" y="3048508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80560" y="3035808"/>
            <a:ext cx="14630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05960" y="3048508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329184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9720" y="330454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T+1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371600" y="3291840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397000" y="3304540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291840"/>
            <a:ext cx="1463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2920" y="3304540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480560" y="3291840"/>
            <a:ext cx="1463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05960" y="3304540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354787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99720" y="356057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T+2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371600" y="3547872"/>
            <a:ext cx="16459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397000" y="3560572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017520" y="3547872"/>
            <a:ext cx="14630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042920" y="3560572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480560" y="3547872"/>
            <a:ext cx="14630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05960" y="3560572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00800" y="749808"/>
            <a:ext cx="265176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51600" y="787908"/>
            <a:ext cx="255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Transações (USD)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51600" y="1042416"/>
            <a:ext cx="255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157,30 M USD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235440" y="749808"/>
            <a:ext cx="265176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286240" y="787908"/>
            <a:ext cx="255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Posição Cambial (Kz)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286240" y="1042416"/>
            <a:ext cx="255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39,16 mM Kz</a:t>
            </a:r>
          </a:p>
        </p:txBody>
      </p:sp>
      <p:pic>
        <p:nvPicPr>
          <p:cNvPr id="91" name="Picture 90" descr="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MERCADO DE CAPITAIS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Segmentado Por Produtos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9264"/>
            <a:ext cx="4114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720" y="981964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Segmento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969264"/>
            <a:ext cx="22860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4520" y="981964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969264"/>
            <a:ext cx="27432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0520" y="981964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969264"/>
            <a:ext cx="258775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43720" y="981964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225296"/>
            <a:ext cx="4114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9720" y="1237996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Obrigações De Tesouro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1225296"/>
            <a:ext cx="22860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4520" y="1237996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1225296"/>
            <a:ext cx="27432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0520" y="1237996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1225296"/>
            <a:ext cx="258775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43720" y="1237996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1481328"/>
            <a:ext cx="4114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9720" y="1494028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Bilhetes Do Tesouro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1481328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14520" y="1494028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1481328"/>
            <a:ext cx="2743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00520" y="1494028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18320" y="1481328"/>
            <a:ext cx="25877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43720" y="1494028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1737360"/>
            <a:ext cx="4114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9720" y="1750060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Obrigações Privadas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1737360"/>
            <a:ext cx="22860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14520" y="1750060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1737360"/>
            <a:ext cx="27432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00520" y="1750060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18320" y="1737360"/>
            <a:ext cx="258775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43720" y="1750060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1993392"/>
            <a:ext cx="4114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9720" y="2006092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Unidades De Participações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0" y="1993392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14520" y="2006092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75120" y="1993392"/>
            <a:ext cx="2743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00520" y="2006092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18320" y="1993392"/>
            <a:ext cx="25877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43720" y="2006092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2249424"/>
            <a:ext cx="4114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9720" y="2262124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Acções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89120" y="2249424"/>
            <a:ext cx="22860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14520" y="2262124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75120" y="2249424"/>
            <a:ext cx="27432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00520" y="2262124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18320" y="2249424"/>
            <a:ext cx="258775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43720" y="2262124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2505456"/>
            <a:ext cx="4114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9720" y="2518156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Repos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89120" y="2505456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14520" y="2518156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675120" y="2505456"/>
            <a:ext cx="2743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00520" y="2518156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418320" y="2505456"/>
            <a:ext cx="25877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43720" y="2518156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2761488"/>
            <a:ext cx="4114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99720" y="2774188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Total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89120" y="2761488"/>
            <a:ext cx="22860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14520" y="2774188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75120" y="2761488"/>
            <a:ext cx="27432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700520" y="2774188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418320" y="2761488"/>
            <a:ext cx="258775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443720" y="2774188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988552" y="749808"/>
            <a:ext cx="274320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039352" y="787908"/>
            <a:ext cx="264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Kz  Transações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39352" y="1042416"/>
            <a:ext cx="264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318211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5120" y="319481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Mercado de Bolsas de Acções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3438144"/>
            <a:ext cx="16459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99720" y="3450844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Código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920240" y="3438144"/>
            <a:ext cx="16459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945640" y="3450844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Vol. Transacc.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566160" y="3438144"/>
            <a:ext cx="1828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591560" y="3450844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Preço Anterior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394960" y="3438144"/>
            <a:ext cx="1828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420360" y="3450844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Preço Actual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223760" y="3438144"/>
            <a:ext cx="16459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249160" y="3450844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Variação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869680" y="3438144"/>
            <a:ext cx="341071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895080" y="3450844"/>
            <a:ext cx="335991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Cap. Bolsista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3694176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99720" y="3706876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Dados não disponíveis (BODIVA)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920240" y="3694176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945640" y="3706876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566160" y="3694176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591560" y="3706876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394960" y="3694176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420360" y="3706876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223760" y="3694176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249160" y="3706876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869680" y="3694176"/>
            <a:ext cx="341071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895080" y="3706876"/>
            <a:ext cx="335991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pic>
        <p:nvPicPr>
          <p:cNvPr id="102" name="Picture 101" descr="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MERCADO DE CAPITAIS – OPERAÇÕES BDA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720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Tipo de Operação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29612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5012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Data Contrat.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84904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10304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C/V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0196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5596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Preço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5488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0888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Quantidades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0780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76180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9720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29612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55012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84904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10304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0196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65596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5488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0888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0780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76180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1645920"/>
            <a:ext cx="2560320" cy="86868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94000" y="1684020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Kz  Transações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94000" y="1938528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0,00 mM Kz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1645920"/>
            <a:ext cx="2560320" cy="86868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20080" y="1684020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Kz  Juros Diário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20080" y="1938528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834640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5120" y="2847340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Carteira De Títulos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9720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Carteira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77848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03248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Cód. Neg.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81376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06776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Qtd D-1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84904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10304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Qtd 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8432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13832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Val. Nominal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91960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17360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95488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20888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Montante 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99016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24416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Juros Anual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702544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727944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Juros Diário 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9720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577848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03248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881376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906776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84904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10304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8432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13832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791960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17360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095488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120888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399016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424416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702544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727944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pic>
        <p:nvPicPr>
          <p:cNvPr id="77" name="Picture 76" descr="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INFORMAÇÃO DE MERCADOS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5120" y="725932"/>
            <a:ext cx="5384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Capital Markets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9264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720" y="98196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Índice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9428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156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884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225296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9720" y="123799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S&amp;P500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9428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5700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9156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5650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884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-0.88%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023360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5120" y="4036060"/>
            <a:ext cx="5384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Criptomoedas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279392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9720" y="429209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Moeda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0" y="4279392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94280" y="4292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66160" y="4279392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91560" y="4292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4279392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88840" y="4292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4581144"/>
            <a:ext cx="914400" cy="22860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60440" y="4590288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1">
                <a:solidFill>
                  <a:srgbClr val="FFFFFF"/>
                </a:solidFill>
                <a:latin typeface="Calibri"/>
              </a:rPr>
              <a:t>Nota</a:t>
            </a:r>
          </a:p>
        </p:txBody>
      </p:sp>
      <p:pic>
        <p:nvPicPr>
          <p:cNvPr id="37" name="Picture 36" descr="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INFORMAÇÃO DE MERCADOS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5120" y="725932"/>
            <a:ext cx="5384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Commodities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9264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720" y="98196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Commodity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9428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156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884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389888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5120" y="1402588"/>
            <a:ext cx="5384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Minerais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645920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720" y="165862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Mineral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1645920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94280" y="16586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1645920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1560" y="16586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1645920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8840" y="16586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1947672"/>
            <a:ext cx="914400" cy="22860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60440" y="1956816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1">
                <a:solidFill>
                  <a:srgbClr val="FFFFFF"/>
                </a:solidFill>
                <a:latin typeface="Calibri"/>
              </a:rPr>
              <a:t>Nota</a:t>
            </a:r>
          </a:p>
        </p:txBody>
      </p:sp>
      <p:pic>
        <p:nvPicPr>
          <p:cNvPr id="29" name="Picture 28" descr="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