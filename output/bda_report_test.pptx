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27.03.2026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9D9D9"/>
                </a:solidFill>
                <a:latin typeface="Calibri"/>
              </a:rPr>
              <a:t>BDA – Bolsa de Dívida e Acções de Angola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6520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1.  Sumário Executivo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672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2.  Liquidez – Moeda Nacional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824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3.  Liquidez – Moeda Estrangeira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976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4.  Mercado Cambial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9128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5.  Mercado de Capitais – BODIVA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2280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6.  Informação de Mercados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SUMÁRIO EXECUTIVO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6400800" cy="34747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744220"/>
            <a:ext cx="63500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731520"/>
            <a:ext cx="2743200" cy="34747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3400" y="744220"/>
            <a:ext cx="26924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731520"/>
            <a:ext cx="2286000" cy="34747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26600" y="744220"/>
            <a:ext cx="22352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Variação (bps/%)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64008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600" y="1091692"/>
            <a:ext cx="63500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Taxa Overnight (LUIBOR)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078992"/>
            <a:ext cx="27432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1091692"/>
            <a:ext cx="26924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078992"/>
            <a:ext cx="22860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6600" y="1091692"/>
            <a:ext cx="22352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26464"/>
            <a:ext cx="6400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600" y="1439164"/>
            <a:ext cx="63500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Taxa de Juro – BNA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42646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3400" y="1439164"/>
            <a:ext cx="26924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42646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6600" y="1439164"/>
            <a:ext cx="22352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773936"/>
            <a:ext cx="64008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600" y="1786636"/>
            <a:ext cx="63500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USD/AOA (Mercado BDA)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773936"/>
            <a:ext cx="27432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3400" y="1786636"/>
            <a:ext cx="26924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773936"/>
            <a:ext cx="22860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6600" y="1786636"/>
            <a:ext cx="22352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121408"/>
            <a:ext cx="6400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600" y="2134108"/>
            <a:ext cx="63500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USD/AOA (BNA)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12140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3400" y="2134108"/>
            <a:ext cx="26924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12140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6600" y="2134108"/>
            <a:ext cx="22352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468880"/>
            <a:ext cx="64008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600" y="2481580"/>
            <a:ext cx="63500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Volume MN Transaccionado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2468880"/>
            <a:ext cx="27432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83400" y="2481580"/>
            <a:ext cx="26924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2468880"/>
            <a:ext cx="22860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26600" y="2481580"/>
            <a:ext cx="22352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16352"/>
            <a:ext cx="6400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2600" y="2829052"/>
            <a:ext cx="63500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Volume ME Transaccionado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81635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83400" y="2829052"/>
            <a:ext cx="26924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28163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26600" y="2829052"/>
            <a:ext cx="22352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163824"/>
            <a:ext cx="64008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2600" y="3176524"/>
            <a:ext cx="63500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Volume BODIVA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3163824"/>
            <a:ext cx="27432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83400" y="3176524"/>
            <a:ext cx="26924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3163824"/>
            <a:ext cx="228600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26600" y="3176524"/>
            <a:ext cx="2235200" cy="32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694176"/>
            <a:ext cx="365760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6941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REEMBOLSO DE CRÉDITO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968496"/>
            <a:ext cx="1097280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398678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LIQUIDEZ – MOEDA NACIONAL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LIQUIDEZ MN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" y="1018540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12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604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196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788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380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307592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720" y="1320292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Saldo Devedor BNA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012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604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196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788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380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609344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720" y="1622044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Saldo Credor BNA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012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604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196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788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380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1911096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720" y="1923796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Diferencial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0012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4604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9196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788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8380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350008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23500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TRANSAÇÕES MN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624328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637028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26243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0012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26243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4604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26243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9196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26243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788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26243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8380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926080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938780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Repo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0" y="29260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00120" y="29387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29260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46040" y="29387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29260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1960" y="29387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29260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37880" y="29387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58400" y="29260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83800" y="29387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27832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240532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Reverse Repo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32278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00120" y="32405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32278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46040" y="32405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0" y="32278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91960" y="32405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0" y="32278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37880" y="32405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58400" y="32278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83800" y="32405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3529584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9720" y="3542284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Total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74720" y="352958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00120" y="354228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20640" y="352958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46040" y="354228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66560" y="352958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91960" y="354228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12480" y="352958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37880" y="354228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352958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083800" y="354228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3968496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396849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LUIBOR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9720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527048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552448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79776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05176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2W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032504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057904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285232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10632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537960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563360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90688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816088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043416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068816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296144" y="4242816"/>
            <a:ext cx="1252728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321544" y="4255516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1Y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99720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527048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52448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79776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805176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032504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057904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285232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310632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537960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563360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790688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816088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043416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068816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296144" y="4544568"/>
            <a:ext cx="1252728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321544" y="4557268"/>
            <a:ext cx="1201928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LIQUIDEZ – MOEDA NACIONAL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" y="1018540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12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604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196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788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00584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3800" y="101854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307592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720" y="1320292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Entradas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012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604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196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788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30759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3800" y="132029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609344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720" y="1622044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Saídas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012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604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196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788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160934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3800" y="162204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1911096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720" y="1923796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Líquido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0012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4604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9196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788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191109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83800" y="192379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395728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23957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670048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682748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267004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00120" y="268274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267004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46040" y="268274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267004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91960" y="268274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267004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7880" y="268274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267004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83800" y="268274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971800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984500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Receitas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0" y="297180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00120" y="298450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297180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46040" y="298450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297180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1960" y="298450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297180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37880" y="298450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58400" y="297180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83800" y="298450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73552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286252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Despesas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327355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00120" y="328625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327355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46040" y="328625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0" y="327355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91960" y="328625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0" y="327355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37880" y="328625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58400" y="327355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83800" y="328625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3575304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9720" y="3588004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Resultado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74720" y="357530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00120" y="358800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20640" y="357530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46040" y="358800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66560" y="357530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91960" y="358800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12480" y="357530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37880" y="358800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58400" y="3575304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083800" y="358800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LIQUIDEZ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" y="972820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96012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120" y="97282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96012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6040" y="97282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96012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1960" y="97282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96012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7880" y="97282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960120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3800" y="97282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261872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720" y="1274572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Linha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26187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0120" y="127457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26187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6040" y="127457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26187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1960" y="127457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26187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7880" y="127457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261872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3800" y="127457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563624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720" y="1576324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Linha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156362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0120" y="15763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156362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6040" y="15763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156362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1960" y="15763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56362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7880" y="15763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1563624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3800" y="15763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1746504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174650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020824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2033524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2020824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0120" y="20335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2020824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46040" y="20335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2020824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91960" y="20335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2020824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7880" y="20335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2020824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83800" y="2033524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322576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335276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Linha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232257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00120" y="233527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232257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46040" y="233527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232257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91960" y="233527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232257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7880" y="233527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2322576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83800" y="2335276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624328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637028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Linha 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0" y="2624328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0012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0" y="2624328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4604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2624328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196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2624328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3788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58400" y="2624328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83800" y="26370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807208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28072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081528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9720" y="3094228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3474720" y="30815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00120" y="30942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20640" y="30815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46040" y="30942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66560" y="30815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91960" y="30942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12480" y="30815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37880" y="30942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58400" y="3081528"/>
            <a:ext cx="16459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83800" y="3094228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3383280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9720" y="3395980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Linha 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74720" y="33832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00120" y="33959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120640" y="33832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146040" y="33959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66560" y="33832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91960" y="33959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12480" y="33832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37880" y="33959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3383280"/>
            <a:ext cx="16459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83800" y="3395980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3685032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9720" y="3697732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Linha 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74720" y="36850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500120" y="36977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20640" y="36850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146040" y="36977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66560" y="36850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791960" y="36977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12480" y="36850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37880" y="36977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3685032"/>
            <a:ext cx="1645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083800" y="3697732"/>
            <a:ext cx="15951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MERCADO CAMBIAL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27432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11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USD/AOA BDA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0C0"/>
                </a:solidFill>
                <a:latin typeface="Calibri"/>
              </a:rPr>
              <a:t>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685800"/>
            <a:ext cx="27432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711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USD/AOA BNA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0C0"/>
                </a:solidFill>
                <a:latin typeface="Calibri"/>
              </a:rP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685800"/>
            <a:ext cx="27432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711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EUR/AOA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0C0"/>
                </a:solidFill>
                <a:latin typeface="Calibri"/>
              </a:rPr>
              <a:t>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685800"/>
            <a:ext cx="27432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711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Calibri"/>
              </a:rPr>
              <a:t>GBP/AOA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0C0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4592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6459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CÂMBIAIS – TRANSAÇÕES BDA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20240"/>
            <a:ext cx="13716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720" y="1932940"/>
            <a:ext cx="1320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1920240"/>
            <a:ext cx="20116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71320" y="1932940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Compra (AOA)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1920240"/>
            <a:ext cx="20116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3000" y="1932940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Venda (AOA)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920240"/>
            <a:ext cx="20116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4680" y="1932940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Vol. Compra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920240"/>
            <a:ext cx="20116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6360" y="1932940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Vol. Venda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920240"/>
            <a:ext cx="20116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8040" y="1932940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Vol. Total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221992"/>
            <a:ext cx="13716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720" y="2234692"/>
            <a:ext cx="1320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USD/AOA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2221992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71320" y="2234692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2221992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83000" y="2234692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2221992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4680" y="2234692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2221992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06360" y="2234692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2221992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8040" y="2234692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523744"/>
            <a:ext cx="1371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720" y="2536444"/>
            <a:ext cx="1320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EUR/AOA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0" y="2523744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71320" y="2536444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2523744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83000" y="2536444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523744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4680" y="2536444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2523744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06360" y="2536444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2523744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18040" y="2536444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825496"/>
            <a:ext cx="13716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9720" y="2838196"/>
            <a:ext cx="1320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GBP/AOA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45920" y="2825496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71320" y="2838196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2825496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83000" y="2838196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2825496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94680" y="2838196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2825496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06360" y="2838196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92640" y="2825496"/>
            <a:ext cx="20116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18040" y="2838196"/>
            <a:ext cx="19608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310128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33101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584448"/>
            <a:ext cx="585216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3597148"/>
            <a:ext cx="580136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584448"/>
            <a:ext cx="57607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51880" y="3597148"/>
            <a:ext cx="57099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886200"/>
            <a:ext cx="585216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898900"/>
            <a:ext cx="580136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Volume Total (AOA)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3886200"/>
            <a:ext cx="57607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51880" y="3898900"/>
            <a:ext cx="57099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187952"/>
            <a:ext cx="5852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9720" y="4200652"/>
            <a:ext cx="580136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Volume Total (USD)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0" y="4187952"/>
            <a:ext cx="5760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51880" y="4200652"/>
            <a:ext cx="57099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489704"/>
            <a:ext cx="585216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4502404"/>
            <a:ext cx="580136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Nº de Transacções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26480" y="4489704"/>
            <a:ext cx="576072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51880" y="4502404"/>
            <a:ext cx="57099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MERCADO DE CAPITAIS – BODIVA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6576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" y="1018540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005840"/>
            <a:ext cx="27432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7320" y="1018540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Vol. Transacc. (AOA)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005840"/>
            <a:ext cx="27432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0520" y="1018540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005840"/>
            <a:ext cx="24688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3720" y="1018540"/>
            <a:ext cx="24180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%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07592"/>
            <a:ext cx="36576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720" y="1320292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Obrigações do Tesouro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307592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7320" y="1320292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307592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520" y="1320292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307592"/>
            <a:ext cx="24688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3720" y="1320292"/>
            <a:ext cx="24180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609344"/>
            <a:ext cx="3657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720" y="1622044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609344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7320" y="1622044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609344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0520" y="1622044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1609344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3720" y="1622044"/>
            <a:ext cx="24180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11096"/>
            <a:ext cx="36576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720" y="1923796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Bolsa de Acções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1911096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7320" y="1923796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1911096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0520" y="1923796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1911096"/>
            <a:ext cx="24688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3720" y="1923796"/>
            <a:ext cx="24180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212848"/>
            <a:ext cx="3657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720" y="2225548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2212848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7320" y="2225548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212848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00520" y="2225548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2212848"/>
            <a:ext cx="24688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43720" y="2225548"/>
            <a:ext cx="24180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69748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26974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BOLSA DE ACÇÕES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971800"/>
            <a:ext cx="13716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984500"/>
            <a:ext cx="1320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0" y="2971800"/>
            <a:ext cx="18288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71320" y="2984500"/>
            <a:ext cx="17780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Nome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2971800"/>
            <a:ext cx="21031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00120" y="2984500"/>
            <a:ext cx="20523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Último Preço (AOA)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2971800"/>
            <a:ext cx="21031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03240" y="2984500"/>
            <a:ext cx="20523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2971800"/>
            <a:ext cx="210312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06360" y="2984500"/>
            <a:ext cx="205232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84080" y="2971800"/>
            <a:ext cx="192024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09480" y="2984500"/>
            <a:ext cx="186944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Variação (%)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662901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" y="1018540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Título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7221" y="1005840"/>
            <a:ext cx="1662901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2621" y="1018540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ISIN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123" y="1005840"/>
            <a:ext cx="1662901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5523" y="1018540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63025" y="1005840"/>
            <a:ext cx="1662901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8425" y="1018540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Taxa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5926" y="1005840"/>
            <a:ext cx="1662901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1326" y="1018540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Nominal (AOA)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88828" y="1005840"/>
            <a:ext cx="1662901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4228" y="1018540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Valor Mercado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51730" y="1005840"/>
            <a:ext cx="1662901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77130" y="1018540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P&amp;L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307592"/>
            <a:ext cx="1662901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320292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OT 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37221" y="1307592"/>
            <a:ext cx="1662901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2621" y="1320292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123" y="1307592"/>
            <a:ext cx="1662901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5523" y="1320292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63025" y="1307592"/>
            <a:ext cx="1662901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8425" y="1320292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25926" y="1307592"/>
            <a:ext cx="1662901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1326" y="1320292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88828" y="1307592"/>
            <a:ext cx="1662901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4228" y="1320292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51730" y="1307592"/>
            <a:ext cx="1662901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130" y="1320292"/>
            <a:ext cx="1612101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792224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179222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066544"/>
            <a:ext cx="1940052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720" y="2079244"/>
            <a:ext cx="1889252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14372" y="2066544"/>
            <a:ext cx="1940052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39772" y="2079244"/>
            <a:ext cx="1889252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Operação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54424" y="2066544"/>
            <a:ext cx="1940052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79824" y="2079244"/>
            <a:ext cx="1889252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Título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4476" y="2066544"/>
            <a:ext cx="1940052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19876" y="2079244"/>
            <a:ext cx="1889252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Montante (AOA)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4528" y="2066544"/>
            <a:ext cx="1940052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59928" y="2079244"/>
            <a:ext cx="1889252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Taxa (%)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74580" y="2066544"/>
            <a:ext cx="1940052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99980" y="2079244"/>
            <a:ext cx="1889252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Data Valor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INFORMAÇÃO DE MERCADOS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MERCADOS DE CAPITAIS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5720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" y="1018540"/>
            <a:ext cx="45212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05840"/>
            <a:ext cx="36576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1720" y="1018540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005840"/>
            <a:ext cx="33832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9320" y="1018540"/>
            <a:ext cx="33324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Variação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07592"/>
            <a:ext cx="45720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720" y="1320292"/>
            <a:ext cx="45212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S&amp;P 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307592"/>
            <a:ext cx="36576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1720" y="1320292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307592"/>
            <a:ext cx="33832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9320" y="1320292"/>
            <a:ext cx="33324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09344"/>
            <a:ext cx="4572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720" y="1622044"/>
            <a:ext cx="45212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FTSE 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609344"/>
            <a:ext cx="3657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1720" y="1622044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609344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9320" y="1622044"/>
            <a:ext cx="33324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11096"/>
            <a:ext cx="45720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923796"/>
            <a:ext cx="45212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DAX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911096"/>
            <a:ext cx="36576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1720" y="1923796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1911096"/>
            <a:ext cx="33832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9320" y="1923796"/>
            <a:ext cx="33324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212848"/>
            <a:ext cx="4572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720" y="2225548"/>
            <a:ext cx="45212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Nikkei 225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212848"/>
            <a:ext cx="3657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71720" y="2225548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212848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9320" y="2225548"/>
            <a:ext cx="33324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514600"/>
            <a:ext cx="45720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720" y="2527300"/>
            <a:ext cx="45212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MSCI 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514600"/>
            <a:ext cx="36576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71720" y="2527300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2514600"/>
            <a:ext cx="33832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9320" y="2527300"/>
            <a:ext cx="33324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65176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6517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926080"/>
            <a:ext cx="36576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2938780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2926080"/>
            <a:ext cx="41148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7320" y="2938780"/>
            <a:ext cx="40640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Preço (USD)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926080"/>
            <a:ext cx="38404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2120" y="2938780"/>
            <a:ext cx="37896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Variação 24h (%)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227832"/>
            <a:ext cx="36576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720" y="3240532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Bitcoin (BTC)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3227832"/>
            <a:ext cx="41148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57320" y="3240532"/>
            <a:ext cx="40640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3227832"/>
            <a:ext cx="38404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72120" y="3240532"/>
            <a:ext cx="37896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529584"/>
            <a:ext cx="3657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3542284"/>
            <a:ext cx="36068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Ethereum (ETH)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3529584"/>
            <a:ext cx="4114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57320" y="3542284"/>
            <a:ext cx="40640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3529584"/>
            <a:ext cx="3840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72120" y="3542284"/>
            <a:ext cx="37896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INFORMAÇÃO DE MERCADOS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" y="1018540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005840"/>
            <a:ext cx="27432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120" y="1018540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27432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3320" y="1018540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Unidade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005840"/>
            <a:ext cx="29260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6520" y="1018540"/>
            <a:ext cx="28752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Variação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07592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720" y="1320292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Petróleo Brent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307592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0120" y="1320292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07592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3320" y="1320292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USD/bbl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307592"/>
            <a:ext cx="29260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6520" y="1320292"/>
            <a:ext cx="28752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609344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720" y="1622044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Ouro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1609344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0120" y="1622044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609344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3320" y="1622044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USD/oz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609344"/>
            <a:ext cx="2926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6520" y="1622044"/>
            <a:ext cx="28752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11096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720" y="1923796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Gás Natural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1911096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0120" y="1923796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911096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3320" y="1923796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USD/MMBtu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1911096"/>
            <a:ext cx="29260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520" y="1923796"/>
            <a:ext cx="28752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212848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720" y="2225548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Cobre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2212848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00120" y="2225548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212848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3320" y="2225548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USD/t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212848"/>
            <a:ext cx="2926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6520" y="2225548"/>
            <a:ext cx="28752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697480"/>
            <a:ext cx="11612880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26974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MINERAIS – ANGOLA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971800"/>
            <a:ext cx="32004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984500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2971800"/>
            <a:ext cx="27432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00120" y="2984500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2971800"/>
            <a:ext cx="274320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3320" y="2984500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Unidade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2971800"/>
            <a:ext cx="2926080" cy="301752"/>
          </a:xfrm>
          <a:prstGeom prst="rect">
            <a:avLst/>
          </a:prstGeom>
          <a:solidFill>
            <a:srgbClr val="1F293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6520" y="2984500"/>
            <a:ext cx="28752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Variação (%)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273552"/>
            <a:ext cx="32004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3286252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Diamante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3273552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00120" y="3286252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273552"/>
            <a:ext cx="274320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3320" y="3286252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USD/ct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3273552"/>
            <a:ext cx="2926080" cy="301752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6520" y="3286252"/>
            <a:ext cx="28752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575304"/>
            <a:ext cx="32004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3588004"/>
            <a:ext cx="31496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Petróleo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74720" y="3575304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00120" y="3588004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3575304"/>
            <a:ext cx="27432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3320" y="3588004"/>
            <a:ext cx="269240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USD/bbl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61120" y="3575304"/>
            <a:ext cx="29260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6520" y="3588004"/>
            <a:ext cx="2875280" cy="27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2880" y="6583680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BDA – Bolsa de Dívida e Acções de Angola  |  Rua Rainha Ginga nº 83, 6º Andar, Luanda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