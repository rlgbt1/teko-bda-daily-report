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35"/>
    <p:restoredTop sz="94697"/>
  </p:normalViewPr>
  <p:slideViewPr>
    <p:cSldViewPr snapToGrid="0" snapToObjects="1">
      <p:cViewPr>
        <p:scale>
          <a:sx n="68" d="100"/>
          <a:sy n="68" d="100"/>
        </p:scale>
        <p:origin x="824" y="10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3EBA3-026E-CF43-BE94-EDFB8CA2FF1D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D4B19-AB14-F444-9433-4DE4ADF31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1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D4B19-AB14-F444-9433-4DE4ADF319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21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oleObject" Target="file:///FPS-P01.BDA.LOCAL/PARTILHA/DFI/RGF/2026/RESUMO%20DE%20MERCADO/Resumo%20di&#225;rio2026.xlsb!Filter%20-%20M.Monet&#225;rio_MN!L10C12:L13C18" TargetMode="External"/><Relationship Id="rId3" Type="http://schemas.openxmlformats.org/officeDocument/2006/relationships/oleObject" Target="file:///FPS-P01.BDA.LOCAL/PARTILHA/DFI/RGF/2026/RESUMO%20DE%20MERCADO/Resumo%20di&#225;rio2026.xlsb!Tabelas%20intermedias!%5bResumo%20di&#225;rio2026.xlsb%5dTabelas%20intermedias%20Chart%201" TargetMode="External"/><Relationship Id="rId7" Type="http://schemas.openxmlformats.org/officeDocument/2006/relationships/oleObject" Target="file:///FPS-P01.BDA.LOCAL/PARTILHA/DFI/RGF/2026/RESUMO%20DE%20MERCADO/Resumo%20di&#225;rio2026.xlsb!Quadro%20Liquidez!%5bResumo%20di&#225;rio2026.xlsb%5dQuadro%20Liquidez%20Chart%202" TargetMode="External"/><Relationship Id="rId12" Type="http://schemas.openxmlformats.org/officeDocument/2006/relationships/image" Target="../media/image17.emf"/><Relationship Id="rId2" Type="http://schemas.openxmlformats.org/officeDocument/2006/relationships/image" Target="../media/image2.png"/><Relationship Id="rId16" Type="http://schemas.openxmlformats.org/officeDocument/2006/relationships/image" Target="../media/image1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emf"/><Relationship Id="rId11" Type="http://schemas.openxmlformats.org/officeDocument/2006/relationships/oleObject" Target="file:///FPS-P01.BDA.LOCAL/PARTILHA/DFI/RGF/2026/RESUMO%20DE%20MERCADO/Resumo%20di&#225;rio2026.xlsb!Quadro%20Liquidez!L7C2:L15C8" TargetMode="External"/><Relationship Id="rId5" Type="http://schemas.openxmlformats.org/officeDocument/2006/relationships/oleObject" Target="file:///FPS-P01.BDA.LOCAL/PARTILHA/DFI/RGF/2026/RESUMO%20DE%20MERCADO/Resumo%20di&#225;rio2026.xlsb!Tabelas%20intermedias!L37C3:L44C7" TargetMode="External"/><Relationship Id="rId15" Type="http://schemas.openxmlformats.org/officeDocument/2006/relationships/oleObject" Target="file:///FPS-P01.BDA.LOCAL/PARTILHA/DFI/RGF/2026/RESUMO%20DE%20MERCADO/Resumo%20di&#225;rio2026.xlsb!Filter%20-%20M.Monet&#225;rio_MN!L33C13:L48C19" TargetMode="External"/><Relationship Id="rId10" Type="http://schemas.openxmlformats.org/officeDocument/2006/relationships/image" Target="../media/image16.png"/><Relationship Id="rId4" Type="http://schemas.openxmlformats.org/officeDocument/2006/relationships/image" Target="../media/image12.emf"/><Relationship Id="rId9" Type="http://schemas.openxmlformats.org/officeDocument/2006/relationships/image" Target="../media/image15.png"/><Relationship Id="rId14" Type="http://schemas.openxmlformats.org/officeDocument/2006/relationships/image" Target="../media/image1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emf"/><Relationship Id="rId12" Type="http://schemas.openxmlformats.org/officeDocument/2006/relationships/image" Target="../media/image25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oleObject" Target="file:///FPS-P01.BDA.LOCAL/PARTILHA/DFI/RGF/2026/RESUMO%20DE%20MERCADO/Resumo%20di&#225;rio2026.xlsb!Tabelas%20intermedias!%5bResumo%20di&#225;rio2026.xlsb%5dTabelas%20intermedias%20Gr&#225;fico%202" TargetMode="External"/><Relationship Id="rId11" Type="http://schemas.openxmlformats.org/officeDocument/2006/relationships/oleObject" Target="file:///FPS-P01.BDA.LOCAL/PARTILHA/DFI/RGF/2026/RESUMO%20DE%20MERCADO/Resumo%20di&#225;rio2026.xlsb!Quadro%20Liquidez!L7C34:L11C36" TargetMode="External"/><Relationship Id="rId5" Type="http://schemas.openxmlformats.org/officeDocument/2006/relationships/image" Target="../media/image21.emf"/><Relationship Id="rId10" Type="http://schemas.openxmlformats.org/officeDocument/2006/relationships/image" Target="../media/image24.emf"/><Relationship Id="rId4" Type="http://schemas.openxmlformats.org/officeDocument/2006/relationships/oleObject" Target="file:///FPS-P01.BDA.LOCAL/PARTILHA/DFI/RGF/2026/RESUMO%20DE%20MERCADO/Resumo%20di&#225;rio2026.xlsb!Tabelas%20intermedias!%5bResumo%20di&#225;rio2026.xlsb%5dTabelas%20intermedias%20Gr&#225;fico%206" TargetMode="External"/><Relationship Id="rId9" Type="http://schemas.openxmlformats.org/officeDocument/2006/relationships/oleObject" Target="file:///FPS-P01.BDA.LOCAL/PARTILHA/DFI/RGF/2026/RESUMO%20DE%20MERCADO/Resumo%20di&#225;rio2026.xlsb!Executado!L16C3:L43C8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emf"/><Relationship Id="rId5" Type="http://schemas.openxmlformats.org/officeDocument/2006/relationships/oleObject" Target="file:///FPS-P01.BDA.LOCAL/PARTILHA/DFI/RGF/2026/RESUMO%20DE%20MERCADO/Resumo%20di&#225;rio2026.xlsb!Tabelas%20intermedias!%5bResumo%20di&#225;rio2026.xlsb%5dTabelas%20intermedias%20Chart%201-1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3429000"/>
          </a:xfrm>
          <a:prstGeom prst="rect">
            <a:avLst/>
          </a:prstGeom>
        </p:spPr>
      </p:pic>
      <p:pic>
        <p:nvPicPr>
          <p:cNvPr id="9" name="Picture 8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09876"/>
            <a:ext cx="12188952" cy="658368"/>
          </a:xfrm>
          <a:prstGeom prst="rect">
            <a:avLst/>
          </a:prstGeom>
        </p:spPr>
      </p:pic>
      <p:sp>
        <p:nvSpPr>
          <p:cNvPr id="10" name="Retângulo 260">
            <a:extLst>
              <a:ext uri="{FF2B5EF4-FFF2-40B4-BE49-F238E27FC236}">
                <a16:creationId xmlns:a16="http://schemas.microsoft.com/office/drawing/2014/main" id="{A72B019C-0C1D-4A08-FA92-7800BD227248}"/>
              </a:ext>
            </a:extLst>
          </p:cNvPr>
          <p:cNvSpPr/>
          <p:nvPr/>
        </p:nvSpPr>
        <p:spPr>
          <a:xfrm>
            <a:off x="257992" y="4126341"/>
            <a:ext cx="10972800" cy="605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402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800" b="1" i="1" u="none" strike="noStrike" kern="1200" cap="none" spc="-30" normalizeH="0" baseline="0" noProof="0" dirty="0">
                <a:ln>
                  <a:noFill/>
                </a:ln>
                <a:solidFill>
                  <a:srgbClr val="D44B36"/>
                </a:solidFill>
                <a:effectLst/>
                <a:uLnTx/>
                <a:uFillTx/>
                <a:latin typeface="Arial Narrow" panose="020B0606020202030204" pitchFamily="34" charset="0"/>
                <a:cs typeface="DIN 2014"/>
              </a:rPr>
              <a:t>Resumo Diário Dos Mercados</a:t>
            </a:r>
            <a:endParaRPr kumimoji="0" lang="pt-PT" sz="3800" b="1" i="1" u="none" strike="noStrike" kern="1200" cap="none" spc="-10" normalizeH="0" baseline="0" noProof="0" dirty="0">
              <a:ln>
                <a:noFill/>
              </a:ln>
              <a:solidFill>
                <a:srgbClr val="D44B36"/>
              </a:solidFill>
              <a:effectLst/>
              <a:uLnTx/>
              <a:uFillTx/>
              <a:latin typeface="Arial Narrow" panose="020B0606020202030204" pitchFamily="34" charset="0"/>
              <a:cs typeface="DIN 201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1233DA-918C-FCB9-844C-6FAA5D4D97FA}"/>
              </a:ext>
            </a:extLst>
          </p:cNvPr>
          <p:cNvSpPr/>
          <p:nvPr/>
        </p:nvSpPr>
        <p:spPr>
          <a:xfrm>
            <a:off x="257992" y="5896598"/>
            <a:ext cx="2419893" cy="2628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800" b="1" i="0" dirty="0">
                <a:solidFill>
                  <a:schemeClr val="bg1">
                    <a:lumMod val="65000"/>
                  </a:schemeClr>
                </a:solidFill>
                <a:effectLst/>
                <a:latin typeface="Arial Narrow" panose="020B0606020202030204" pitchFamily="34" charset="0"/>
              </a:rPr>
              <a:t>Edifício BDA, Condomínio </a:t>
            </a:r>
            <a:r>
              <a:rPr lang="pt-PT" sz="800" b="1" i="0" dirty="0" err="1">
                <a:solidFill>
                  <a:schemeClr val="bg1">
                    <a:lumMod val="65000"/>
                  </a:schemeClr>
                </a:solidFill>
                <a:effectLst/>
                <a:latin typeface="Arial Narrow" panose="020B0606020202030204" pitchFamily="34" charset="0"/>
              </a:rPr>
              <a:t>Dolce</a:t>
            </a:r>
            <a:r>
              <a:rPr lang="pt-PT" sz="800" b="1" i="0" dirty="0">
                <a:solidFill>
                  <a:schemeClr val="bg1">
                    <a:lumMod val="65000"/>
                  </a:schemeClr>
                </a:solidFill>
                <a:effectLst/>
                <a:latin typeface="Arial Narrow" panose="020B0606020202030204" pitchFamily="34" charset="0"/>
              </a:rPr>
              <a:t> Vita, Via S8, Talatona</a:t>
            </a:r>
            <a:br>
              <a:rPr lang="pt-PT" sz="8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</a:br>
            <a:r>
              <a:rPr lang="pt-PT" sz="800" b="1" i="0" dirty="0">
                <a:solidFill>
                  <a:schemeClr val="bg1">
                    <a:lumMod val="65000"/>
                  </a:schemeClr>
                </a:solidFill>
                <a:effectLst/>
                <a:latin typeface="Arial Narrow" panose="020B0606020202030204" pitchFamily="34" charset="0"/>
              </a:rPr>
              <a:t>Luanda - Angola</a:t>
            </a:r>
            <a:endParaRPr lang="pt-PT" sz="8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object 258">
            <a:extLst>
              <a:ext uri="{FF2B5EF4-FFF2-40B4-BE49-F238E27FC236}">
                <a16:creationId xmlns:a16="http://schemas.microsoft.com/office/drawing/2014/main" id="{23F67772-ED29-FAEB-A299-68E565688BBC}"/>
              </a:ext>
            </a:extLst>
          </p:cNvPr>
          <p:cNvSpPr/>
          <p:nvPr/>
        </p:nvSpPr>
        <p:spPr>
          <a:xfrm>
            <a:off x="370112" y="4732020"/>
            <a:ext cx="76200" cy="672082"/>
          </a:xfrm>
          <a:custGeom>
            <a:avLst/>
            <a:gdLst/>
            <a:ahLst/>
            <a:cxnLst/>
            <a:rect l="l" t="t" r="r" b="b"/>
            <a:pathLst>
              <a:path w="81280" h="477520">
                <a:moveTo>
                  <a:pt x="80683" y="0"/>
                </a:moveTo>
                <a:lnTo>
                  <a:pt x="0" y="0"/>
                </a:lnTo>
                <a:lnTo>
                  <a:pt x="0" y="477189"/>
                </a:lnTo>
                <a:lnTo>
                  <a:pt x="80683" y="477189"/>
                </a:lnTo>
                <a:lnTo>
                  <a:pt x="80683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DD732476-1556-3A7B-444A-805E85AADF03}"/>
              </a:ext>
            </a:extLst>
          </p:cNvPr>
          <p:cNvSpPr txBox="1"/>
          <p:nvPr/>
        </p:nvSpPr>
        <p:spPr>
          <a:xfrm>
            <a:off x="507691" y="4678680"/>
            <a:ext cx="6036945" cy="748282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cs typeface="DIN 2014"/>
              </a:rPr>
              <a:t>DIRECÇÃO FINANCEIRA 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25" normalizeH="0" baseline="0" noProof="0" dirty="0">
                <a:ln>
                  <a:noFill/>
                </a:ln>
                <a:solidFill>
                  <a:srgbClr val="D44B36"/>
                </a:solidFill>
                <a:effectLst/>
                <a:uLnTx/>
                <a:uFillTx/>
                <a:latin typeface="Arial Narrow" panose="020B0606020202030204" pitchFamily="34" charset="0"/>
                <a:cs typeface="DIN 2014"/>
              </a:rPr>
              <a:t>30.03.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D44B36"/>
                </a:solidFill>
                <a:effectLst/>
                <a:uLnTx/>
                <a:uFillTx/>
                <a:latin typeface="Arial Narrow" panose="020B0606020202030204" pitchFamily="34" charset="0"/>
                <a:cs typeface="DIN 2014"/>
              </a:rPr>
              <a:t>202</a:t>
            </a: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D44B36"/>
                </a:solidFill>
                <a:effectLst/>
                <a:uLnTx/>
                <a:uFillTx/>
                <a:latin typeface="Arial Narrow" panose="020B0606020202030204" pitchFamily="34" charset="0"/>
                <a:cs typeface="DIN 2014"/>
              </a:rPr>
              <a:t>6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cs typeface="DIN 201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da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" y="0"/>
            <a:ext cx="12188952" cy="6858000"/>
          </a:xfrm>
          <a:prstGeom prst="rect">
            <a:avLst/>
          </a:prstGeom>
        </p:spPr>
      </p:pic>
      <p:pic>
        <p:nvPicPr>
          <p:cNvPr id="3" name="Picture 2" descr="inner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3081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3483864"/>
            <a:ext cx="166420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1" dirty="0">
                <a:solidFill>
                  <a:srgbClr val="D34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2DF0FC-FBDC-AA35-AB4A-B6604D07C6FD}"/>
              </a:ext>
            </a:extLst>
          </p:cNvPr>
          <p:cNvCxnSpPr/>
          <p:nvPr/>
        </p:nvCxnSpPr>
        <p:spPr>
          <a:xfrm flipV="1">
            <a:off x="282503" y="5159466"/>
            <a:ext cx="11160000" cy="0"/>
          </a:xfrm>
          <a:prstGeom prst="line">
            <a:avLst/>
          </a:prstGeom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19" descr="A black rectangle with white lines&#10;&#10;AI-generated content may be incorrect.">
            <a:extLst>
              <a:ext uri="{FF2B5EF4-FFF2-40B4-BE49-F238E27FC236}">
                <a16:creationId xmlns:a16="http://schemas.microsoft.com/office/drawing/2014/main" id="{1391D64F-4777-5338-6027-E511A1B5DEF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2503" y="4925986"/>
            <a:ext cx="466961" cy="466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object 3">
            <a:extLst>
              <a:ext uri="{FF2B5EF4-FFF2-40B4-BE49-F238E27FC236}">
                <a16:creationId xmlns:a16="http://schemas.microsoft.com/office/drawing/2014/main" id="{148B2523-E679-3190-7462-9F8D275BA09C}"/>
              </a:ext>
            </a:extLst>
          </p:cNvPr>
          <p:cNvSpPr txBox="1"/>
          <p:nvPr/>
        </p:nvSpPr>
        <p:spPr>
          <a:xfrm>
            <a:off x="366848" y="4033520"/>
            <a:ext cx="1666338" cy="1052211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665"/>
              </a:spcBef>
            </a:pPr>
            <a:r>
              <a:rPr sz="1900" b="1" spc="-25" dirty="0">
                <a:solidFill>
                  <a:srgbClr val="EB8B34"/>
                </a:solidFill>
                <a:latin typeface="Arial Narrow" panose="020B0606020202030204" pitchFamily="34" charset="0"/>
                <a:cs typeface="Arial"/>
              </a:rPr>
              <a:t>1.</a:t>
            </a:r>
            <a:r>
              <a:rPr lang="pt-PT" sz="1900" b="1" spc="-25" dirty="0">
                <a:solidFill>
                  <a:srgbClr val="EB8B34"/>
                </a:solidFill>
                <a:latin typeface="Arial Narrow" panose="020B0606020202030204" pitchFamily="34" charset="0"/>
                <a:cs typeface="Arial"/>
              </a:rPr>
              <a:t> </a:t>
            </a:r>
          </a:p>
          <a:p>
            <a:pPr marL="24765">
              <a:lnSpc>
                <a:spcPct val="100000"/>
              </a:lnSpc>
              <a:spcBef>
                <a:spcPts val="665"/>
              </a:spcBef>
            </a:pPr>
            <a:r>
              <a:rPr lang="pt-PT" sz="1900" b="1" spc="-25" dirty="0">
                <a:latin typeface="Arial Narrow" panose="020B0606020202030204" pitchFamily="34" charset="0"/>
                <a:cs typeface="Arial"/>
              </a:rPr>
              <a:t>Sumário Executivo </a:t>
            </a: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15E0901D-C35B-19A8-9C65-0142211AED3D}"/>
              </a:ext>
            </a:extLst>
          </p:cNvPr>
          <p:cNvSpPr txBox="1"/>
          <p:nvPr/>
        </p:nvSpPr>
        <p:spPr>
          <a:xfrm>
            <a:off x="1839685" y="4033357"/>
            <a:ext cx="1676400" cy="729046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>
            <a:defPPr>
              <a:defRPr lang="pt-PT"/>
            </a:defPPr>
            <a:lvl1pPr marL="24765">
              <a:lnSpc>
                <a:spcPct val="100000"/>
              </a:lnSpc>
              <a:spcBef>
                <a:spcPts val="665"/>
              </a:spcBef>
              <a:defRPr b="1" spc="-25">
                <a:solidFill>
                  <a:srgbClr val="EB8B34"/>
                </a:solidFill>
                <a:latin typeface="Arial"/>
                <a:cs typeface="Arial"/>
              </a:defRPr>
            </a:lvl1pPr>
          </a:lstStyle>
          <a:p>
            <a:r>
              <a:rPr lang="pt-PT" dirty="0">
                <a:latin typeface="Arial Narrow" panose="020B0606020202030204" pitchFamily="34" charset="0"/>
              </a:rPr>
              <a:t>2</a:t>
            </a:r>
            <a:r>
              <a:rPr dirty="0">
                <a:latin typeface="Arial Narrow" panose="020B0606020202030204" pitchFamily="34" charset="0"/>
              </a:rPr>
              <a:t>.</a:t>
            </a:r>
            <a:r>
              <a:rPr lang="pt-PT" dirty="0">
                <a:latin typeface="Arial Narrow" panose="020B0606020202030204" pitchFamily="34" charset="0"/>
              </a:rPr>
              <a:t> </a:t>
            </a:r>
          </a:p>
          <a:p>
            <a:r>
              <a:rPr lang="pt-PT" dirty="0">
                <a:solidFill>
                  <a:schemeClr val="tx1"/>
                </a:solidFill>
                <a:latin typeface="Arial Narrow" panose="020B0606020202030204" pitchFamily="34" charset="0"/>
              </a:rPr>
              <a:t>Liquidez (MN)</a:t>
            </a:r>
            <a:endParaRPr lang="pt-PT" dirty="0">
              <a:latin typeface="Arial Narrow" panose="020B0606020202030204" pitchFamily="34" charset="0"/>
            </a:endParaRPr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09762907-FD16-1E58-355C-B4604F14B68A}"/>
              </a:ext>
            </a:extLst>
          </p:cNvPr>
          <p:cNvSpPr txBox="1"/>
          <p:nvPr/>
        </p:nvSpPr>
        <p:spPr>
          <a:xfrm>
            <a:off x="3229744" y="4047233"/>
            <a:ext cx="1538572" cy="729046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>
            <a:defPPr>
              <a:defRPr lang="pt-PT"/>
            </a:defPPr>
            <a:lvl1pPr marL="24765">
              <a:lnSpc>
                <a:spcPct val="100000"/>
              </a:lnSpc>
              <a:spcBef>
                <a:spcPts val="665"/>
              </a:spcBef>
              <a:defRPr b="1" spc="-25">
                <a:solidFill>
                  <a:srgbClr val="EB8B34"/>
                </a:solidFill>
                <a:latin typeface="Arial"/>
                <a:cs typeface="Arial"/>
              </a:defRPr>
            </a:lvl1pPr>
          </a:lstStyle>
          <a:p>
            <a:r>
              <a:rPr lang="pt-PT" dirty="0">
                <a:latin typeface="Arial Narrow" panose="020B0606020202030204" pitchFamily="34" charset="0"/>
              </a:rPr>
              <a:t>3</a:t>
            </a:r>
            <a:r>
              <a:rPr dirty="0">
                <a:latin typeface="Arial Narrow" panose="020B0606020202030204" pitchFamily="34" charset="0"/>
              </a:rPr>
              <a:t>.</a:t>
            </a:r>
            <a:endParaRPr lang="pt-PT" dirty="0">
              <a:latin typeface="Arial Narrow" panose="020B0606020202030204" pitchFamily="34" charset="0"/>
            </a:endParaRPr>
          </a:p>
          <a:p>
            <a:r>
              <a:rPr lang="pt-PT" dirty="0">
                <a:solidFill>
                  <a:schemeClr val="tx1"/>
                </a:solidFill>
                <a:latin typeface="Arial Narrow" panose="020B0606020202030204" pitchFamily="34" charset="0"/>
              </a:rPr>
              <a:t>Liquidez (ME)</a:t>
            </a:r>
            <a:endParaRPr lang="pt-PT" dirty="0">
              <a:latin typeface="Arial Narrow" panose="020B0606020202030204" pitchFamily="34" charset="0"/>
            </a:endParaRP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0CF08E4A-A145-0AC2-CF30-DE57A9561245}"/>
              </a:ext>
            </a:extLst>
          </p:cNvPr>
          <p:cNvSpPr txBox="1"/>
          <p:nvPr/>
        </p:nvSpPr>
        <p:spPr>
          <a:xfrm>
            <a:off x="4668265" y="4000559"/>
            <a:ext cx="1666338" cy="146258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>
            <a:defPPr>
              <a:defRPr lang="pt-PT"/>
            </a:defPPr>
            <a:lvl1pPr marL="24765">
              <a:lnSpc>
                <a:spcPct val="100000"/>
              </a:lnSpc>
              <a:spcBef>
                <a:spcPts val="665"/>
              </a:spcBef>
              <a:defRPr b="1" spc="-25">
                <a:solidFill>
                  <a:srgbClr val="EB8B34"/>
                </a:solidFill>
                <a:latin typeface="Arial"/>
                <a:cs typeface="Arial"/>
              </a:defRPr>
            </a:lvl1pPr>
          </a:lstStyle>
          <a:p>
            <a:r>
              <a:rPr lang="pt-PT" dirty="0">
                <a:latin typeface="Arial Narrow" panose="020B0606020202030204" pitchFamily="34" charset="0"/>
              </a:rPr>
              <a:t>4</a:t>
            </a:r>
            <a:r>
              <a:rPr dirty="0">
                <a:latin typeface="Arial Narrow" panose="020B0606020202030204" pitchFamily="34" charset="0"/>
              </a:rPr>
              <a:t>.</a:t>
            </a:r>
            <a:r>
              <a:rPr lang="pt-PT" dirty="0">
                <a:latin typeface="Arial Narrow" panose="020B0606020202030204" pitchFamily="34" charset="0"/>
              </a:rPr>
              <a:t> </a:t>
            </a:r>
          </a:p>
          <a:p>
            <a:r>
              <a:rPr lang="pt-PT" dirty="0">
                <a:solidFill>
                  <a:schemeClr val="tx1"/>
                </a:solidFill>
                <a:latin typeface="Arial Narrow" panose="020B0606020202030204" pitchFamily="34" charset="0"/>
              </a:rPr>
              <a:t>Mercado</a:t>
            </a:r>
          </a:p>
          <a:p>
            <a:r>
              <a:rPr lang="pt-PT" dirty="0">
                <a:solidFill>
                  <a:schemeClr val="tx1"/>
                </a:solidFill>
                <a:latin typeface="Arial Narrow" panose="020B0606020202030204" pitchFamily="34" charset="0"/>
              </a:rPr>
              <a:t> Cambial</a:t>
            </a:r>
          </a:p>
          <a:p>
            <a:endParaRPr lang="pt-PT" dirty="0">
              <a:latin typeface="Arial Narrow" panose="020B0606020202030204" pitchFamily="34" charset="0"/>
            </a:endParaRPr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75CEC741-5B7E-7991-50A9-2C6A9C69317A}"/>
              </a:ext>
            </a:extLst>
          </p:cNvPr>
          <p:cNvSpPr txBox="1"/>
          <p:nvPr/>
        </p:nvSpPr>
        <p:spPr>
          <a:xfrm>
            <a:off x="5868377" y="4021144"/>
            <a:ext cx="2033470" cy="1095813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>
            <a:defPPr>
              <a:defRPr lang="pt-PT"/>
            </a:defPPr>
            <a:lvl1pPr marL="24765">
              <a:lnSpc>
                <a:spcPct val="100000"/>
              </a:lnSpc>
              <a:spcBef>
                <a:spcPts val="665"/>
              </a:spcBef>
              <a:defRPr b="1" spc="-25">
                <a:solidFill>
                  <a:srgbClr val="EB8B34"/>
                </a:solidFill>
                <a:latin typeface="Arial"/>
                <a:cs typeface="Arial"/>
              </a:defRPr>
            </a:lvl1pPr>
          </a:lstStyle>
          <a:p>
            <a:r>
              <a:rPr lang="pt-PT" dirty="0">
                <a:latin typeface="Arial Narrow" panose="020B0606020202030204" pitchFamily="34" charset="0"/>
              </a:rPr>
              <a:t>5</a:t>
            </a:r>
            <a:r>
              <a:rPr dirty="0">
                <a:latin typeface="Arial Narrow" panose="020B0606020202030204" pitchFamily="34" charset="0"/>
              </a:rPr>
              <a:t>.</a:t>
            </a:r>
            <a:endParaRPr lang="pt-PT" dirty="0">
              <a:latin typeface="Arial Narrow" panose="020B0606020202030204" pitchFamily="34" charset="0"/>
            </a:endParaRPr>
          </a:p>
          <a:p>
            <a:r>
              <a:rPr lang="pt-PT" dirty="0">
                <a:solidFill>
                  <a:schemeClr val="tx1"/>
                </a:solidFill>
                <a:latin typeface="Arial Narrow" panose="020B0606020202030204" pitchFamily="34" charset="0"/>
              </a:rPr>
              <a:t>Mercado </a:t>
            </a:r>
          </a:p>
          <a:p>
            <a:r>
              <a:rPr lang="pt-PT" dirty="0">
                <a:solidFill>
                  <a:schemeClr val="tx1"/>
                </a:solidFill>
                <a:latin typeface="Arial Narrow" panose="020B0606020202030204" pitchFamily="34" charset="0"/>
              </a:rPr>
              <a:t>Capitais</a:t>
            </a:r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F77C5783-C131-27C1-A766-EA36E00C47FF}"/>
              </a:ext>
            </a:extLst>
          </p:cNvPr>
          <p:cNvSpPr txBox="1"/>
          <p:nvPr/>
        </p:nvSpPr>
        <p:spPr>
          <a:xfrm>
            <a:off x="7288605" y="4023168"/>
            <a:ext cx="1666338" cy="146258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>
            <a:defPPr>
              <a:defRPr lang="pt-PT"/>
            </a:defPPr>
            <a:lvl1pPr marL="24765">
              <a:lnSpc>
                <a:spcPct val="100000"/>
              </a:lnSpc>
              <a:spcBef>
                <a:spcPts val="665"/>
              </a:spcBef>
              <a:defRPr b="1" spc="-25">
                <a:solidFill>
                  <a:srgbClr val="EB8B34"/>
                </a:solidFill>
                <a:latin typeface="Arial"/>
                <a:cs typeface="Arial"/>
              </a:defRPr>
            </a:lvl1pPr>
          </a:lstStyle>
          <a:p>
            <a:r>
              <a:rPr lang="pt-PT" dirty="0">
                <a:latin typeface="Arial Narrow" panose="020B0606020202030204" pitchFamily="34" charset="0"/>
              </a:rPr>
              <a:t>6</a:t>
            </a:r>
            <a:r>
              <a:rPr dirty="0">
                <a:latin typeface="Arial Narrow" panose="020B0606020202030204" pitchFamily="34" charset="0"/>
              </a:rPr>
              <a:t>.</a:t>
            </a:r>
            <a:r>
              <a:rPr lang="pt-PT" dirty="0">
                <a:latin typeface="Arial Narrow" panose="020B0606020202030204" pitchFamily="34" charset="0"/>
              </a:rPr>
              <a:t> </a:t>
            </a:r>
          </a:p>
          <a:p>
            <a:r>
              <a:rPr lang="pt-PT" dirty="0">
                <a:solidFill>
                  <a:schemeClr val="tx1"/>
                </a:solidFill>
                <a:latin typeface="Arial Narrow" panose="020B0606020202030204" pitchFamily="34" charset="0"/>
              </a:rPr>
              <a:t>Informação</a:t>
            </a:r>
          </a:p>
          <a:p>
            <a:r>
              <a:rPr lang="pt-PT" dirty="0">
                <a:solidFill>
                  <a:schemeClr val="tx1"/>
                </a:solidFill>
                <a:latin typeface="Arial Narrow" panose="020B0606020202030204" pitchFamily="34" charset="0"/>
              </a:rPr>
              <a:t>De Mercado</a:t>
            </a:r>
          </a:p>
          <a:p>
            <a:endParaRPr lang="pt-PT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6674"/>
            <a:ext cx="253288" cy="3630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2102" y="555040"/>
            <a:ext cx="11640312" cy="137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foot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  <p:grpSp>
        <p:nvGrpSpPr>
          <p:cNvPr id="5" name="Agrupar 46">
            <a:extLst>
              <a:ext uri="{FF2B5EF4-FFF2-40B4-BE49-F238E27FC236}">
                <a16:creationId xmlns:a16="http://schemas.microsoft.com/office/drawing/2014/main" id="{3D2A2AD4-8B94-8E86-49CE-F0858E92EA10}"/>
              </a:ext>
            </a:extLst>
          </p:cNvPr>
          <p:cNvGrpSpPr/>
          <p:nvPr/>
        </p:nvGrpSpPr>
        <p:grpSpPr>
          <a:xfrm>
            <a:off x="1662362" y="1556019"/>
            <a:ext cx="4667425" cy="1290700"/>
            <a:chOff x="1607414" y="1656166"/>
            <a:chExt cx="4667425" cy="1290700"/>
          </a:xfrm>
        </p:grpSpPr>
        <p:pic>
          <p:nvPicPr>
            <p:cNvPr id="6" name="Imagem 39">
              <a:extLst>
                <a:ext uri="{FF2B5EF4-FFF2-40B4-BE49-F238E27FC236}">
                  <a16:creationId xmlns:a16="http://schemas.microsoft.com/office/drawing/2014/main" id="{B4545AD4-E081-CB88-834D-BF3C74734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12554" y="1656166"/>
              <a:ext cx="403895" cy="502964"/>
            </a:xfrm>
            <a:prstGeom prst="rect">
              <a:avLst/>
            </a:prstGeom>
          </p:spPr>
        </p:pic>
        <p:cxnSp>
          <p:nvCxnSpPr>
            <p:cNvPr id="7" name="Conexão reta 24">
              <a:extLst>
                <a:ext uri="{FF2B5EF4-FFF2-40B4-BE49-F238E27FC236}">
                  <a16:creationId xmlns:a16="http://schemas.microsoft.com/office/drawing/2014/main" id="{334880EC-D7BF-A54E-8277-C71E9434EF55}"/>
                </a:ext>
              </a:extLst>
            </p:cNvPr>
            <p:cNvCxnSpPr>
              <a:cxnSpLocks/>
            </p:cNvCxnSpPr>
            <p:nvPr/>
          </p:nvCxnSpPr>
          <p:spPr>
            <a:xfrm>
              <a:off x="3934932" y="2089695"/>
              <a:ext cx="0" cy="782259"/>
            </a:xfrm>
            <a:prstGeom prst="line">
              <a:avLst/>
            </a:prstGeom>
            <a:ln/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A9791F-78EC-CA7F-8D0D-8C8491078B20}"/>
                </a:ext>
              </a:extLst>
            </p:cNvPr>
            <p:cNvSpPr/>
            <p:nvPr/>
          </p:nvSpPr>
          <p:spPr>
            <a:xfrm>
              <a:off x="3916026" y="1838870"/>
              <a:ext cx="2358813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pt-BR" sz="1600" dirty="0">
                <a:solidFill>
                  <a:schemeClr val="bg1"/>
                </a:solidFill>
              </a:endParaRPr>
            </a:p>
            <a:p>
              <a:r>
                <a:rPr lang="pt-BR" sz="1200" dirty="0">
                  <a:solidFill>
                    <a:schemeClr val="accent2">
                      <a:lumMod val="50000"/>
                    </a:schemeClr>
                  </a:solidFill>
                </a:rPr>
                <a:t>Liquidez MN</a:t>
              </a:r>
            </a:p>
            <a:p>
              <a:r>
                <a:rPr lang="pt-BR" b="1" dirty="0">
                  <a:solidFill>
                    <a:schemeClr val="accent2">
                      <a:lumMod val="50000"/>
                    </a:schemeClr>
                  </a:solidFill>
                </a:rPr>
                <a:t>73,59</a:t>
              </a:r>
            </a:p>
            <a:p>
              <a:r>
                <a:rPr lang="pt-BR" sz="800" dirty="0">
                  <a:solidFill>
                    <a:schemeClr val="accent2">
                      <a:lumMod val="50000"/>
                    </a:schemeClr>
                  </a:solidFill>
                </a:rPr>
                <a:t>mM Kz</a:t>
              </a:r>
            </a:p>
            <a:p>
              <a:endParaRPr lang="pt-BR" sz="16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A8A50701-C84C-108A-B462-EE0C06723FCB}"/>
                </a:ext>
              </a:extLst>
            </p:cNvPr>
            <p:cNvSpPr/>
            <p:nvPr/>
          </p:nvSpPr>
          <p:spPr>
            <a:xfrm>
              <a:off x="1607414" y="2068895"/>
              <a:ext cx="2358813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pt-BR" sz="1600" dirty="0">
                  <a:solidFill>
                    <a:schemeClr val="bg1"/>
                  </a:solidFill>
                </a:rPr>
                <a:t>Resu</a:t>
              </a:r>
            </a:p>
            <a:p>
              <a:pPr algn="r"/>
              <a:r>
                <a:rPr lang="pt-BR" sz="1800" b="1" dirty="0">
                  <a:solidFill>
                    <a:schemeClr val="accent2">
                      <a:lumMod val="50000"/>
                    </a:schemeClr>
                  </a:solidFill>
                </a:rPr>
                <a:t>+0,26%</a:t>
              </a:r>
            </a:p>
            <a:p>
              <a:pPr algn="r"/>
              <a:r>
                <a:rPr lang="pt-BR" sz="800" dirty="0">
                  <a:solidFill>
                    <a:schemeClr val="accent2">
                      <a:lumMod val="50000"/>
                    </a:schemeClr>
                  </a:solidFill>
                </a:rPr>
                <a:t>Face ao dia anterior</a:t>
              </a:r>
            </a:p>
          </p:txBody>
        </p:sp>
      </p:grpSp>
      <p:grpSp>
        <p:nvGrpSpPr>
          <p:cNvPr id="10" name="Agrupar 13">
            <a:extLst>
              <a:ext uri="{FF2B5EF4-FFF2-40B4-BE49-F238E27FC236}">
                <a16:creationId xmlns:a16="http://schemas.microsoft.com/office/drawing/2014/main" id="{9CF310DD-40F7-CD82-1754-E40FD719AC84}"/>
              </a:ext>
            </a:extLst>
          </p:cNvPr>
          <p:cNvGrpSpPr/>
          <p:nvPr/>
        </p:nvGrpSpPr>
        <p:grpSpPr>
          <a:xfrm>
            <a:off x="4037577" y="4676458"/>
            <a:ext cx="4743495" cy="1422568"/>
            <a:chOff x="6285708" y="3551134"/>
            <a:chExt cx="4743495" cy="1422568"/>
          </a:xfrm>
        </p:grpSpPr>
        <p:cxnSp>
          <p:nvCxnSpPr>
            <p:cNvPr id="11" name="Conexão reta 26">
              <a:extLst>
                <a:ext uri="{FF2B5EF4-FFF2-40B4-BE49-F238E27FC236}">
                  <a16:creationId xmlns:a16="http://schemas.microsoft.com/office/drawing/2014/main" id="{C1273B03-35D2-3529-48DB-CF8EB498E8B3}"/>
                </a:ext>
              </a:extLst>
            </p:cNvPr>
            <p:cNvCxnSpPr>
              <a:cxnSpLocks/>
            </p:cNvCxnSpPr>
            <p:nvPr/>
          </p:nvCxnSpPr>
          <p:spPr>
            <a:xfrm>
              <a:off x="8649152" y="3919354"/>
              <a:ext cx="0" cy="782259"/>
            </a:xfrm>
            <a:prstGeom prst="line">
              <a:avLst/>
            </a:prstGeom>
            <a:ln/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pic>
          <p:nvPicPr>
            <p:cNvPr id="12" name="Imagem 31">
              <a:extLst>
                <a:ext uri="{FF2B5EF4-FFF2-40B4-BE49-F238E27FC236}">
                  <a16:creationId xmlns:a16="http://schemas.microsoft.com/office/drawing/2014/main" id="{8CFBE619-0529-EFBD-C181-3776951CB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40425" y="3551134"/>
              <a:ext cx="502964" cy="396274"/>
            </a:xfrm>
            <a:prstGeom prst="rect">
              <a:avLst/>
            </a:prstGeom>
          </p:spPr>
        </p:pic>
        <p:sp>
          <p:nvSpPr>
            <p:cNvPr id="13" name="Rectangle 21">
              <a:extLst>
                <a:ext uri="{FF2B5EF4-FFF2-40B4-BE49-F238E27FC236}">
                  <a16:creationId xmlns:a16="http://schemas.microsoft.com/office/drawing/2014/main" id="{745DEBFC-D907-4705-003B-B911AAB2CD29}"/>
                </a:ext>
              </a:extLst>
            </p:cNvPr>
            <p:cNvSpPr/>
            <p:nvPr/>
          </p:nvSpPr>
          <p:spPr>
            <a:xfrm>
              <a:off x="6285708" y="3675469"/>
              <a:ext cx="2358813" cy="113877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pt-BR" sz="1600" dirty="0">
                <a:solidFill>
                  <a:schemeClr val="bg1"/>
                </a:solidFill>
              </a:endParaRPr>
            </a:p>
            <a:p>
              <a:pPr algn="r"/>
              <a:r>
                <a:rPr lang="pt-BR" sz="1200" dirty="0">
                  <a:solidFill>
                    <a:schemeClr val="accent2">
                      <a:lumMod val="50000"/>
                    </a:schemeClr>
                  </a:solidFill>
                </a:rPr>
                <a:t>Reembolsos</a:t>
              </a:r>
            </a:p>
            <a:p>
              <a:pPr algn="r"/>
              <a:r>
                <a:rPr lang="pt-BR" b="1" dirty="0">
                  <a:solidFill>
                    <a:schemeClr val="accent2">
                      <a:lumMod val="50000"/>
                    </a:schemeClr>
                  </a:solidFill>
                </a:rPr>
                <a:t>9,82</a:t>
              </a:r>
            </a:p>
            <a:p>
              <a:pPr algn="r"/>
              <a:r>
                <a:rPr lang="pt-BR" sz="800" dirty="0">
                  <a:solidFill>
                    <a:schemeClr val="accent2">
                      <a:lumMod val="50000"/>
                    </a:schemeClr>
                  </a:solidFill>
                </a:rPr>
                <a:t>M Kz</a:t>
              </a:r>
            </a:p>
            <a:p>
              <a:endParaRPr lang="pt-BR" sz="1600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21">
              <a:extLst>
                <a:ext uri="{FF2B5EF4-FFF2-40B4-BE49-F238E27FC236}">
                  <a16:creationId xmlns:a16="http://schemas.microsoft.com/office/drawing/2014/main" id="{38BB6B0C-77AD-2365-112D-4DB3A797FE76}"/>
                </a:ext>
              </a:extLst>
            </p:cNvPr>
            <p:cNvSpPr/>
            <p:nvPr/>
          </p:nvSpPr>
          <p:spPr>
            <a:xfrm>
              <a:off x="8670390" y="3834929"/>
              <a:ext cx="2358813" cy="113877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r"/>
              <a:r>
                <a:rPr lang="pt-BR" sz="1600" dirty="0">
                  <a:solidFill>
                    <a:schemeClr val="bg1"/>
                  </a:solidFill>
                </a:rPr>
                <a:t>Ree</a:t>
              </a:r>
            </a:p>
            <a:p>
              <a:r>
                <a:rPr lang="pt-BR" sz="1200" dirty="0">
                  <a:solidFill>
                    <a:schemeClr val="accent2">
                      <a:lumMod val="50000"/>
                    </a:schemeClr>
                  </a:solidFill>
                </a:rPr>
                <a:t>Desembolsos</a:t>
              </a:r>
            </a:p>
            <a:p>
              <a:r>
                <a:rPr lang="pt-BR" b="1" dirty="0">
                  <a:solidFill>
                    <a:schemeClr val="accent2">
                      <a:lumMod val="50000"/>
                    </a:schemeClr>
                  </a:solidFill>
                </a:rPr>
                <a:t>0,00</a:t>
              </a:r>
            </a:p>
            <a:p>
              <a:r>
                <a:rPr lang="pt-BR" sz="800" dirty="0">
                  <a:solidFill>
                    <a:schemeClr val="accent2">
                      <a:lumMod val="50000"/>
                    </a:schemeClr>
                  </a:solidFill>
                </a:rPr>
                <a:t>mM Kz</a:t>
              </a:r>
            </a:p>
            <a:p>
              <a:endParaRPr lang="pt-BR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Agrupar 12">
            <a:extLst>
              <a:ext uri="{FF2B5EF4-FFF2-40B4-BE49-F238E27FC236}">
                <a16:creationId xmlns:a16="http://schemas.microsoft.com/office/drawing/2014/main" id="{D0B5CFB5-BBEF-D923-0A25-F8FB915F348B}"/>
              </a:ext>
            </a:extLst>
          </p:cNvPr>
          <p:cNvGrpSpPr/>
          <p:nvPr/>
        </p:nvGrpSpPr>
        <p:grpSpPr>
          <a:xfrm>
            <a:off x="991375" y="2970203"/>
            <a:ext cx="4717626" cy="1156193"/>
            <a:chOff x="5787985" y="1772443"/>
            <a:chExt cx="4717626" cy="1156193"/>
          </a:xfrm>
        </p:grpSpPr>
        <p:pic>
          <p:nvPicPr>
            <p:cNvPr id="16" name="Imagem 33">
              <a:extLst>
                <a:ext uri="{FF2B5EF4-FFF2-40B4-BE49-F238E27FC236}">
                  <a16:creationId xmlns:a16="http://schemas.microsoft.com/office/drawing/2014/main" id="{A2A23C68-B969-02BB-83EB-602E5DC6D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53507" y="1772443"/>
              <a:ext cx="388654" cy="350550"/>
            </a:xfrm>
            <a:prstGeom prst="rect">
              <a:avLst/>
            </a:prstGeom>
          </p:spPr>
        </p:pic>
        <p:grpSp>
          <p:nvGrpSpPr>
            <p:cNvPr id="17" name="Agrupar 10">
              <a:extLst>
                <a:ext uri="{FF2B5EF4-FFF2-40B4-BE49-F238E27FC236}">
                  <a16:creationId xmlns:a16="http://schemas.microsoft.com/office/drawing/2014/main" id="{234ABF6B-5F23-D35D-7A4B-4857C8464D7C}"/>
                </a:ext>
              </a:extLst>
            </p:cNvPr>
            <p:cNvGrpSpPr/>
            <p:nvPr/>
          </p:nvGrpSpPr>
          <p:grpSpPr>
            <a:xfrm>
              <a:off x="5787985" y="1820640"/>
              <a:ext cx="4717626" cy="1107996"/>
              <a:chOff x="5787985" y="1820640"/>
              <a:chExt cx="4717626" cy="1107996"/>
            </a:xfrm>
          </p:grpSpPr>
          <p:cxnSp>
            <p:nvCxnSpPr>
              <p:cNvPr id="18" name="Conexão reta 27">
                <a:extLst>
                  <a:ext uri="{FF2B5EF4-FFF2-40B4-BE49-F238E27FC236}">
                    <a16:creationId xmlns:a16="http://schemas.microsoft.com/office/drawing/2014/main" id="{F2046451-9BAC-F460-0568-72C6992323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8268" y="1949100"/>
                <a:ext cx="0" cy="782259"/>
              </a:xfrm>
              <a:prstGeom prst="line">
                <a:avLst/>
              </a:prstGeom>
              <a:ln/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9" name="Rectangle 21">
                <a:extLst>
                  <a:ext uri="{FF2B5EF4-FFF2-40B4-BE49-F238E27FC236}">
                    <a16:creationId xmlns:a16="http://schemas.microsoft.com/office/drawing/2014/main" id="{601982BC-C5D1-BC62-D567-E727C7D0872D}"/>
                  </a:ext>
                </a:extLst>
              </p:cNvPr>
              <p:cNvSpPr/>
              <p:nvPr/>
            </p:nvSpPr>
            <p:spPr>
              <a:xfrm>
                <a:off x="8146798" y="1820640"/>
                <a:ext cx="2358813" cy="1107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r"/>
                <a:endParaRPr lang="pt-BR" sz="1600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r>
                  <a:rPr lang="pt-BR" sz="1200" dirty="0">
                    <a:solidFill>
                      <a:schemeClr val="accent2">
                        <a:lumMod val="50000"/>
                      </a:schemeClr>
                    </a:solidFill>
                  </a:rPr>
                  <a:t>Liquidez ME</a:t>
                </a:r>
              </a:p>
              <a:p>
                <a:r>
                  <a:rPr lang="pt-BR" b="1" dirty="0">
                    <a:solidFill>
                      <a:schemeClr val="accent2">
                        <a:lumMod val="50000"/>
                      </a:schemeClr>
                    </a:solidFill>
                  </a:rPr>
                  <a:t>17,10</a:t>
                </a:r>
              </a:p>
              <a:p>
                <a:r>
                  <a:rPr lang="pt-BR" sz="800" dirty="0">
                    <a:solidFill>
                      <a:schemeClr val="accent2">
                        <a:lumMod val="50000"/>
                      </a:schemeClr>
                    </a:solidFill>
                  </a:rPr>
                  <a:t>M USD</a:t>
                </a:r>
              </a:p>
              <a:p>
                <a:endParaRPr lang="pt-BR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Rectangle 21">
                <a:extLst>
                  <a:ext uri="{FF2B5EF4-FFF2-40B4-BE49-F238E27FC236}">
                    <a16:creationId xmlns:a16="http://schemas.microsoft.com/office/drawing/2014/main" id="{738189F8-8A16-175E-CAE4-2ED0880BA911}"/>
                  </a:ext>
                </a:extLst>
              </p:cNvPr>
              <p:cNvSpPr/>
              <p:nvPr/>
            </p:nvSpPr>
            <p:spPr>
              <a:xfrm>
                <a:off x="5787985" y="2023954"/>
                <a:ext cx="2358813" cy="4924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r"/>
                <a:r>
                  <a:rPr lang="pt-BR" sz="1800" b="1" dirty="0">
                    <a:solidFill>
                      <a:schemeClr val="accent2">
                        <a:lumMod val="50000"/>
                      </a:schemeClr>
                    </a:solidFill>
                  </a:rPr>
                  <a:t>+0,50%</a:t>
                </a:r>
              </a:p>
              <a:p>
                <a:pPr algn="r"/>
                <a:r>
                  <a:rPr lang="pt-BR" sz="800" dirty="0">
                    <a:solidFill>
                      <a:schemeClr val="accent2">
                        <a:lumMod val="50000"/>
                      </a:schemeClr>
                    </a:solidFill>
                  </a:rPr>
                  <a:t>Face ao dia anterior</a:t>
                </a:r>
              </a:p>
            </p:txBody>
          </p:sp>
        </p:grpSp>
      </p:grpSp>
      <p:grpSp>
        <p:nvGrpSpPr>
          <p:cNvPr id="21" name="Agrupar 44">
            <a:extLst>
              <a:ext uri="{FF2B5EF4-FFF2-40B4-BE49-F238E27FC236}">
                <a16:creationId xmlns:a16="http://schemas.microsoft.com/office/drawing/2014/main" id="{19515171-C9AA-EB6C-28D1-899C4143B720}"/>
              </a:ext>
            </a:extLst>
          </p:cNvPr>
          <p:cNvGrpSpPr/>
          <p:nvPr/>
        </p:nvGrpSpPr>
        <p:grpSpPr>
          <a:xfrm>
            <a:off x="6483001" y="3081520"/>
            <a:ext cx="5782678" cy="1032778"/>
            <a:chOff x="5912922" y="1930939"/>
            <a:chExt cx="5782678" cy="1032778"/>
          </a:xfrm>
        </p:grpSpPr>
        <p:cxnSp>
          <p:nvCxnSpPr>
            <p:cNvPr id="22" name="Conexão reta 28">
              <a:extLst>
                <a:ext uri="{FF2B5EF4-FFF2-40B4-BE49-F238E27FC236}">
                  <a16:creationId xmlns:a16="http://schemas.microsoft.com/office/drawing/2014/main" id="{4EE98B25-AD90-AFBA-1AFB-FD960D552360}"/>
                </a:ext>
              </a:extLst>
            </p:cNvPr>
            <p:cNvCxnSpPr>
              <a:cxnSpLocks/>
            </p:cNvCxnSpPr>
            <p:nvPr/>
          </p:nvCxnSpPr>
          <p:spPr>
            <a:xfrm>
              <a:off x="8222189" y="2133847"/>
              <a:ext cx="0" cy="782259"/>
            </a:xfrm>
            <a:prstGeom prst="line">
              <a:avLst/>
            </a:prstGeom>
            <a:ln/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pic>
          <p:nvPicPr>
            <p:cNvPr id="23" name="Imagem 37">
              <a:extLst>
                <a:ext uri="{FF2B5EF4-FFF2-40B4-BE49-F238E27FC236}">
                  <a16:creationId xmlns:a16="http://schemas.microsoft.com/office/drawing/2014/main" id="{266F3C5A-D51B-BC8F-4A7E-0AE6835EF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50331" y="1930939"/>
              <a:ext cx="424975" cy="274344"/>
            </a:xfrm>
            <a:prstGeom prst="rect">
              <a:avLst/>
            </a:prstGeom>
          </p:spPr>
        </p:pic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FAD70D82-DF63-C801-4327-95A12620F234}"/>
                </a:ext>
              </a:extLst>
            </p:cNvPr>
            <p:cNvSpPr/>
            <p:nvPr/>
          </p:nvSpPr>
          <p:spPr>
            <a:xfrm>
              <a:off x="8190276" y="2132720"/>
              <a:ext cx="350532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pt-BR" sz="1200" dirty="0">
                  <a:solidFill>
                    <a:schemeClr val="accent2">
                      <a:lumMod val="50000"/>
                    </a:schemeClr>
                  </a:solidFill>
                </a:rPr>
                <a:t>Rentabilidade ME</a:t>
              </a:r>
            </a:p>
            <a:p>
              <a:r>
                <a:rPr lang="pt-BR" sz="1200" b="1" dirty="0">
                  <a:solidFill>
                    <a:schemeClr val="accent2">
                      <a:lumMod val="50000"/>
                    </a:schemeClr>
                  </a:solidFill>
                </a:rPr>
                <a:t>1 351,69</a:t>
              </a:r>
            </a:p>
            <a:p>
              <a:r>
                <a:rPr lang="pt-BR" sz="800" dirty="0">
                  <a:solidFill>
                    <a:schemeClr val="accent2">
                      <a:lumMod val="50000"/>
                    </a:schemeClr>
                  </a:solidFill>
                </a:rPr>
                <a:t>USD</a:t>
              </a:r>
            </a:p>
            <a:p>
              <a:endParaRPr lang="pt-BR" sz="1600" dirty="0">
                <a:solidFill>
                  <a:schemeClr val="bg1"/>
                </a:solidFill>
              </a:endParaRPr>
            </a:p>
          </p:txBody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FE8E1AD6-AFEC-98BA-0289-039630A9E9AE}"/>
                </a:ext>
              </a:extLst>
            </p:cNvPr>
            <p:cNvSpPr/>
            <p:nvPr/>
          </p:nvSpPr>
          <p:spPr>
            <a:xfrm>
              <a:off x="5912922" y="2086621"/>
              <a:ext cx="2358813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pt-BR" sz="1600" dirty="0">
                <a:solidFill>
                  <a:schemeClr val="bg1"/>
                </a:solidFill>
              </a:endParaRPr>
            </a:p>
            <a:p>
              <a:pPr algn="r"/>
              <a:r>
                <a:rPr lang="pt-BR" sz="1800" b="1" dirty="0">
                  <a:solidFill>
                    <a:schemeClr val="accent2">
                      <a:lumMod val="50000"/>
                    </a:schemeClr>
                  </a:solidFill>
                </a:rPr>
                <a:t>-0,66%</a:t>
              </a:r>
            </a:p>
            <a:p>
              <a:pPr algn="r"/>
              <a:r>
                <a:rPr lang="pt-BR" sz="800" dirty="0">
                  <a:solidFill>
                    <a:schemeClr val="accent2">
                      <a:lumMod val="50000"/>
                    </a:schemeClr>
                  </a:solidFill>
                </a:rPr>
                <a:t>Face ao dia anterior</a:t>
              </a:r>
            </a:p>
          </p:txBody>
        </p:sp>
      </p:grpSp>
      <p:grpSp>
        <p:nvGrpSpPr>
          <p:cNvPr id="26" name="Agrupar 45">
            <a:extLst>
              <a:ext uri="{FF2B5EF4-FFF2-40B4-BE49-F238E27FC236}">
                <a16:creationId xmlns:a16="http://schemas.microsoft.com/office/drawing/2014/main" id="{074560F1-E9D9-2988-17C4-601BAD31ABEF}"/>
              </a:ext>
            </a:extLst>
          </p:cNvPr>
          <p:cNvGrpSpPr/>
          <p:nvPr/>
        </p:nvGrpSpPr>
        <p:grpSpPr>
          <a:xfrm>
            <a:off x="5986707" y="2019448"/>
            <a:ext cx="5052512" cy="966846"/>
            <a:chOff x="5043164" y="1345684"/>
            <a:chExt cx="5052512" cy="966846"/>
          </a:xfrm>
        </p:grpSpPr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D181F54C-11CC-D4B9-A7D6-DF3BB751351A}"/>
                </a:ext>
              </a:extLst>
            </p:cNvPr>
            <p:cNvSpPr/>
            <p:nvPr/>
          </p:nvSpPr>
          <p:spPr>
            <a:xfrm>
              <a:off x="7344359" y="1345684"/>
              <a:ext cx="2751317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pt-BR" sz="1200" dirty="0">
                  <a:solidFill>
                    <a:schemeClr val="accent2">
                      <a:lumMod val="50000"/>
                    </a:schemeClr>
                  </a:solidFill>
                </a:rPr>
                <a:t>Rentabilidade MN</a:t>
              </a:r>
            </a:p>
            <a:p>
              <a:r>
                <a:rPr lang="pt-BR" sz="1600" b="1" dirty="0">
                  <a:solidFill>
                    <a:schemeClr val="accent2">
                      <a:lumMod val="50000"/>
                    </a:schemeClr>
                  </a:solidFill>
                </a:rPr>
                <a:t>23,56</a:t>
              </a:r>
            </a:p>
            <a:p>
              <a:r>
                <a:rPr lang="pt-BR" sz="800" dirty="0">
                  <a:solidFill>
                    <a:schemeClr val="accent2">
                      <a:lumMod val="50000"/>
                    </a:schemeClr>
                  </a:solidFill>
                </a:rPr>
                <a:t>M Kz</a:t>
              </a:r>
            </a:p>
            <a:p>
              <a:endParaRPr lang="pt-BR" sz="1600" dirty="0">
                <a:solidFill>
                  <a:schemeClr val="bg1"/>
                </a:solidFill>
              </a:endParaRPr>
            </a:p>
          </p:txBody>
        </p:sp>
        <p:pic>
          <p:nvPicPr>
            <p:cNvPr id="28" name="Imagem 30">
              <a:extLst>
                <a:ext uri="{FF2B5EF4-FFF2-40B4-BE49-F238E27FC236}">
                  <a16:creationId xmlns:a16="http://schemas.microsoft.com/office/drawing/2014/main" id="{16D8B91D-5CB2-C06E-4DBB-F43914550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54136" y="1385858"/>
              <a:ext cx="158510" cy="926672"/>
            </a:xfrm>
            <a:prstGeom prst="rect">
              <a:avLst/>
            </a:prstGeom>
          </p:spPr>
        </p:pic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FE261013-2470-6B3D-ABA6-B817409E2738}"/>
                </a:ext>
              </a:extLst>
            </p:cNvPr>
            <p:cNvSpPr/>
            <p:nvPr/>
          </p:nvSpPr>
          <p:spPr>
            <a:xfrm>
              <a:off x="5043164" y="1419621"/>
              <a:ext cx="2353414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r"/>
              <a:endParaRPr lang="pt-BR" sz="1600" dirty="0">
                <a:solidFill>
                  <a:schemeClr val="bg1"/>
                </a:solidFill>
              </a:endParaRPr>
            </a:p>
            <a:p>
              <a:pPr algn="r"/>
              <a:r>
                <a:rPr lang="pt-BR" sz="1800" b="1" dirty="0">
                  <a:solidFill>
                    <a:schemeClr val="accent2">
                      <a:lumMod val="50000"/>
                    </a:schemeClr>
                  </a:solidFill>
                </a:rPr>
                <a:t>-6,45% </a:t>
              </a:r>
            </a:p>
            <a:p>
              <a:pPr algn="r"/>
              <a:r>
                <a:rPr lang="pt-BR" sz="800" dirty="0">
                  <a:solidFill>
                    <a:schemeClr val="accent2">
                      <a:lumMod val="50000"/>
                    </a:schemeClr>
                  </a:solidFill>
                </a:rPr>
                <a:t>Face ao dia anterior</a:t>
              </a:r>
            </a:p>
          </p:txBody>
        </p:sp>
      </p:grpSp>
      <p:grpSp>
        <p:nvGrpSpPr>
          <p:cNvPr id="30" name="Agrupar 47">
            <a:extLst>
              <a:ext uri="{FF2B5EF4-FFF2-40B4-BE49-F238E27FC236}">
                <a16:creationId xmlns:a16="http://schemas.microsoft.com/office/drawing/2014/main" id="{E845D537-8A7C-85CA-2590-0217ABCD66D8}"/>
              </a:ext>
            </a:extLst>
          </p:cNvPr>
          <p:cNvGrpSpPr/>
          <p:nvPr/>
        </p:nvGrpSpPr>
        <p:grpSpPr>
          <a:xfrm>
            <a:off x="6110450" y="4203037"/>
            <a:ext cx="5060243" cy="1390924"/>
            <a:chOff x="5024465" y="1087858"/>
            <a:chExt cx="5060243" cy="1390924"/>
          </a:xfrm>
        </p:grpSpPr>
        <p:sp>
          <p:nvSpPr>
            <p:cNvPr id="31" name="Rectangle 21">
              <a:extLst>
                <a:ext uri="{FF2B5EF4-FFF2-40B4-BE49-F238E27FC236}">
                  <a16:creationId xmlns:a16="http://schemas.microsoft.com/office/drawing/2014/main" id="{DC0D3C60-F8E2-6A05-7C8F-C9B87AA4491A}"/>
                </a:ext>
              </a:extLst>
            </p:cNvPr>
            <p:cNvSpPr/>
            <p:nvPr/>
          </p:nvSpPr>
          <p:spPr>
            <a:xfrm>
              <a:off x="7333391" y="1617008"/>
              <a:ext cx="2751317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pt-BR" sz="1200" dirty="0">
                  <a:solidFill>
                    <a:schemeClr val="accent2">
                      <a:lumMod val="50000"/>
                    </a:schemeClr>
                  </a:solidFill>
                </a:rPr>
                <a:t>Rentabilidade Títulos</a:t>
              </a:r>
            </a:p>
            <a:p>
              <a:r>
                <a:rPr lang="pt-BR" b="1" dirty="0">
                  <a:solidFill>
                    <a:schemeClr val="accent2">
                      <a:lumMod val="50000"/>
                    </a:schemeClr>
                  </a:solidFill>
                </a:rPr>
                <a:t>26,85</a:t>
              </a:r>
            </a:p>
            <a:p>
              <a:r>
                <a:rPr lang="pt-BR" sz="800" dirty="0">
                  <a:solidFill>
                    <a:schemeClr val="accent2">
                      <a:lumMod val="50000"/>
                    </a:schemeClr>
                  </a:solidFill>
                </a:rPr>
                <a:t>M Kz</a:t>
              </a:r>
            </a:p>
            <a:p>
              <a:endParaRPr lang="pt-BR" sz="1600" dirty="0">
                <a:solidFill>
                  <a:schemeClr val="bg1"/>
                </a:solidFill>
              </a:endParaRPr>
            </a:p>
          </p:txBody>
        </p:sp>
        <p:pic>
          <p:nvPicPr>
            <p:cNvPr id="32" name="Imagem 52">
              <a:extLst>
                <a:ext uri="{FF2B5EF4-FFF2-40B4-BE49-F238E27FC236}">
                  <a16:creationId xmlns:a16="http://schemas.microsoft.com/office/drawing/2014/main" id="{7C2C24F8-217B-339D-A504-19F255A63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54136" y="1385858"/>
              <a:ext cx="158510" cy="926672"/>
            </a:xfrm>
            <a:prstGeom prst="rect">
              <a:avLst/>
            </a:prstGeom>
          </p:spPr>
        </p:pic>
        <p:sp>
          <p:nvSpPr>
            <p:cNvPr id="33" name="Rectangle 21">
              <a:extLst>
                <a:ext uri="{FF2B5EF4-FFF2-40B4-BE49-F238E27FC236}">
                  <a16:creationId xmlns:a16="http://schemas.microsoft.com/office/drawing/2014/main" id="{B8D84E19-C6CF-CAFE-6B83-335DA72F0E32}"/>
                </a:ext>
              </a:extLst>
            </p:cNvPr>
            <p:cNvSpPr/>
            <p:nvPr/>
          </p:nvSpPr>
          <p:spPr>
            <a:xfrm>
              <a:off x="5024465" y="1087858"/>
              <a:ext cx="2358813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pt-BR" sz="1600" dirty="0">
                <a:solidFill>
                  <a:schemeClr val="bg1"/>
                </a:solidFill>
              </a:endParaRPr>
            </a:p>
            <a:p>
              <a:pPr algn="r"/>
              <a:r>
                <a:rPr lang="pt-BR" sz="1800" b="1" dirty="0">
                  <a:solidFill>
                    <a:schemeClr val="accent2">
                      <a:lumMod val="50000"/>
                    </a:schemeClr>
                  </a:solidFill>
                </a:rPr>
                <a:t>0,00%</a:t>
              </a:r>
            </a:p>
            <a:p>
              <a:pPr algn="r"/>
              <a:r>
                <a:rPr lang="pt-BR" sz="800" dirty="0">
                  <a:solidFill>
                    <a:schemeClr val="accent2">
                      <a:lumMod val="50000"/>
                    </a:schemeClr>
                  </a:solidFill>
                </a:rPr>
                <a:t>Face ao dia anterior</a:t>
              </a:r>
            </a:p>
          </p:txBody>
        </p:sp>
      </p:grpSp>
      <p:grpSp>
        <p:nvGrpSpPr>
          <p:cNvPr id="34" name="Agrupar 63">
            <a:extLst>
              <a:ext uri="{FF2B5EF4-FFF2-40B4-BE49-F238E27FC236}">
                <a16:creationId xmlns:a16="http://schemas.microsoft.com/office/drawing/2014/main" id="{1CE34D74-B7FE-BD37-5FD9-AC31A485AD3C}"/>
              </a:ext>
            </a:extLst>
          </p:cNvPr>
          <p:cNvGrpSpPr/>
          <p:nvPr/>
        </p:nvGrpSpPr>
        <p:grpSpPr>
          <a:xfrm>
            <a:off x="1581113" y="4145577"/>
            <a:ext cx="4686312" cy="1399061"/>
            <a:chOff x="3560768" y="863470"/>
            <a:chExt cx="4686312" cy="1399061"/>
          </a:xfrm>
        </p:grpSpPr>
        <p:cxnSp>
          <p:nvCxnSpPr>
            <p:cNvPr id="36" name="Conexão reta 29">
              <a:extLst>
                <a:ext uri="{FF2B5EF4-FFF2-40B4-BE49-F238E27FC236}">
                  <a16:creationId xmlns:a16="http://schemas.microsoft.com/office/drawing/2014/main" id="{08CDE5EE-AF85-6FCA-E7AB-40D8E125D67E}"/>
                </a:ext>
              </a:extLst>
            </p:cNvPr>
            <p:cNvCxnSpPr>
              <a:cxnSpLocks/>
            </p:cNvCxnSpPr>
            <p:nvPr/>
          </p:nvCxnSpPr>
          <p:spPr>
            <a:xfrm>
              <a:off x="5911573" y="1155588"/>
              <a:ext cx="0" cy="782259"/>
            </a:xfrm>
            <a:prstGeom prst="line">
              <a:avLst/>
            </a:prstGeom>
            <a:ln/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5FC18E0C-00F1-32AE-B357-5F715414AF40}"/>
                </a:ext>
              </a:extLst>
            </p:cNvPr>
            <p:cNvSpPr/>
            <p:nvPr/>
          </p:nvSpPr>
          <p:spPr>
            <a:xfrm>
              <a:off x="5888267" y="1123758"/>
              <a:ext cx="2358813" cy="113877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pt-BR" sz="1600" dirty="0">
                <a:solidFill>
                  <a:schemeClr val="accent2">
                    <a:lumMod val="50000"/>
                  </a:schemeClr>
                </a:solidFill>
              </a:endParaRPr>
            </a:p>
            <a:p>
              <a:r>
                <a:rPr lang="pt-BR" sz="1200" dirty="0">
                  <a:solidFill>
                    <a:schemeClr val="accent2">
                      <a:lumMod val="50000"/>
                    </a:schemeClr>
                  </a:solidFill>
                </a:rPr>
                <a:t>Carteira Titulos</a:t>
              </a:r>
            </a:p>
            <a:p>
              <a:r>
                <a:rPr lang="pt-BR" b="1" dirty="0">
                  <a:solidFill>
                    <a:schemeClr val="accent2">
                      <a:lumMod val="50000"/>
                    </a:schemeClr>
                  </a:solidFill>
                </a:rPr>
                <a:t>135,69</a:t>
              </a:r>
            </a:p>
            <a:p>
              <a:r>
                <a:rPr lang="pt-BR" sz="800" dirty="0">
                  <a:solidFill>
                    <a:schemeClr val="accent2">
                      <a:lumMod val="50000"/>
                    </a:schemeClr>
                  </a:solidFill>
                </a:rPr>
                <a:t>mM Kz</a:t>
              </a:r>
            </a:p>
            <a:p>
              <a:endParaRPr lang="pt-BR" sz="1600" dirty="0">
                <a:solidFill>
                  <a:schemeClr val="bg1"/>
                </a:solidFill>
              </a:endParaRPr>
            </a:p>
          </p:txBody>
        </p:sp>
        <p:sp>
          <p:nvSpPr>
            <p:cNvPr id="38" name="Rectangle 21">
              <a:extLst>
                <a:ext uri="{FF2B5EF4-FFF2-40B4-BE49-F238E27FC236}">
                  <a16:creationId xmlns:a16="http://schemas.microsoft.com/office/drawing/2014/main" id="{4244A29F-E912-6A82-271E-3B725FCB7DDF}"/>
                </a:ext>
              </a:extLst>
            </p:cNvPr>
            <p:cNvSpPr/>
            <p:nvPr/>
          </p:nvSpPr>
          <p:spPr>
            <a:xfrm>
              <a:off x="3560768" y="863470"/>
              <a:ext cx="2358813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pt-BR" sz="1600" dirty="0">
                <a:solidFill>
                  <a:schemeClr val="bg1"/>
                </a:solidFill>
              </a:endParaRPr>
            </a:p>
            <a:p>
              <a:pPr algn="r"/>
              <a:r>
                <a:rPr lang="pt-BR" sz="1800" b="1" dirty="0">
                  <a:solidFill>
                    <a:schemeClr val="accent2">
                      <a:lumMod val="50000"/>
                    </a:schemeClr>
                  </a:solidFill>
                </a:rPr>
                <a:t>0,00%</a:t>
              </a:r>
            </a:p>
            <a:p>
              <a:pPr algn="r"/>
              <a:r>
                <a:rPr lang="pt-BR" sz="800" dirty="0">
                  <a:solidFill>
                    <a:schemeClr val="accent2">
                      <a:lumMod val="50000"/>
                    </a:schemeClr>
                  </a:solidFill>
                </a:rPr>
                <a:t>Face ao dia anterior</a:t>
              </a:r>
            </a:p>
          </p:txBody>
        </p:sp>
      </p:grpSp>
      <p:sp>
        <p:nvSpPr>
          <p:cNvPr id="39" name="Text Placeholder 1">
            <a:extLst>
              <a:ext uri="{FF2B5EF4-FFF2-40B4-BE49-F238E27FC236}">
                <a16:creationId xmlns:a16="http://schemas.microsoft.com/office/drawing/2014/main" id="{8FBC8ED3-B919-4212-AF05-A48FA9C391C0}"/>
              </a:ext>
            </a:extLst>
          </p:cNvPr>
          <p:cNvSpPr txBox="1">
            <a:spLocks/>
          </p:cNvSpPr>
          <p:nvPr/>
        </p:nvSpPr>
        <p:spPr>
          <a:xfrm>
            <a:off x="400165" y="138909"/>
            <a:ext cx="10180843" cy="415568"/>
          </a:xfrm>
          <a:prstGeom prst="rect">
            <a:avLst/>
          </a:prstGeom>
          <a:noFill/>
          <a:ln w="9525">
            <a:solidFill>
              <a:srgbClr val="A31E1E"/>
            </a:solidFill>
            <a:prstDash val="sysDot"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00"/>
              </a:spcBef>
              <a:buNone/>
              <a:defRPr/>
            </a:pPr>
            <a:r>
              <a:rPr lang="pt-PT" sz="3000" b="1" i="1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Sumário Executivo</a:t>
            </a:r>
            <a:endParaRPr kumimoji="0" lang="pt-PT" sz="3000" b="0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DIN2014-DemiBold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1C3A807-DE26-0409-4E83-5CC880EE20B6}"/>
              </a:ext>
            </a:extLst>
          </p:cNvPr>
          <p:cNvSpPr/>
          <p:nvPr/>
        </p:nvSpPr>
        <p:spPr>
          <a:xfrm>
            <a:off x="5249491" y="2751463"/>
            <a:ext cx="1626857" cy="1363032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chemeClr val="bg1"/>
                </a:solidFill>
              </a:rPr>
              <a:t>275,45M</a:t>
            </a:r>
          </a:p>
          <a:p>
            <a:pPr algn="ctr"/>
            <a:r>
              <a:rPr lang="pt-PT" sz="1100" b="1" dirty="0">
                <a:solidFill>
                  <a:schemeClr val="bg1"/>
                </a:solidFill>
              </a:rPr>
              <a:t>Juros de DP</a:t>
            </a:r>
          </a:p>
        </p:txBody>
      </p:sp>
      <p:grpSp>
        <p:nvGrpSpPr>
          <p:cNvPr id="43" name="Agrupar 14">
            <a:extLst>
              <a:ext uri="{FF2B5EF4-FFF2-40B4-BE49-F238E27FC236}">
                <a16:creationId xmlns:a16="http://schemas.microsoft.com/office/drawing/2014/main" id="{873533D6-A5B1-C76C-044B-15A1BE4158DC}"/>
              </a:ext>
            </a:extLst>
          </p:cNvPr>
          <p:cNvGrpSpPr/>
          <p:nvPr/>
        </p:nvGrpSpPr>
        <p:grpSpPr>
          <a:xfrm>
            <a:off x="2746301" y="999443"/>
            <a:ext cx="5798285" cy="1318659"/>
            <a:chOff x="182544" y="4212482"/>
            <a:chExt cx="5798285" cy="1318659"/>
          </a:xfrm>
        </p:grpSpPr>
        <p:grpSp>
          <p:nvGrpSpPr>
            <p:cNvPr id="44" name="Agrupar 8">
              <a:extLst>
                <a:ext uri="{FF2B5EF4-FFF2-40B4-BE49-F238E27FC236}">
                  <a16:creationId xmlns:a16="http://schemas.microsoft.com/office/drawing/2014/main" id="{0DFBAF33-2713-777D-1389-E8770364AFE5}"/>
                </a:ext>
              </a:extLst>
            </p:cNvPr>
            <p:cNvGrpSpPr/>
            <p:nvPr/>
          </p:nvGrpSpPr>
          <p:grpSpPr>
            <a:xfrm>
              <a:off x="182544" y="4212482"/>
              <a:ext cx="4076036" cy="1318659"/>
              <a:chOff x="446817" y="3587331"/>
              <a:chExt cx="4076036" cy="1318659"/>
            </a:xfrm>
          </p:grpSpPr>
          <p:pic>
            <p:nvPicPr>
              <p:cNvPr id="46" name="Imagem 41">
                <a:extLst>
                  <a:ext uri="{FF2B5EF4-FFF2-40B4-BE49-F238E27FC236}">
                    <a16:creationId xmlns:a16="http://schemas.microsoft.com/office/drawing/2014/main" id="{A86D2E4E-33F9-786D-B580-1339F4E527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12269" y="3587331"/>
                <a:ext cx="510584" cy="403895"/>
              </a:xfrm>
              <a:prstGeom prst="rect">
                <a:avLst/>
              </a:prstGeom>
            </p:spPr>
          </p:pic>
          <p:sp>
            <p:nvSpPr>
              <p:cNvPr id="48" name="Rectangle 21">
                <a:extLst>
                  <a:ext uri="{FF2B5EF4-FFF2-40B4-BE49-F238E27FC236}">
                    <a16:creationId xmlns:a16="http://schemas.microsoft.com/office/drawing/2014/main" id="{B860C505-97A6-A9EF-55D4-2C3625B2F566}"/>
                  </a:ext>
                </a:extLst>
              </p:cNvPr>
              <p:cNvSpPr/>
              <p:nvPr/>
            </p:nvSpPr>
            <p:spPr>
              <a:xfrm>
                <a:off x="446817" y="3797994"/>
                <a:ext cx="3457161" cy="1107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r>
                  <a:rPr lang="pt-BR" sz="1600" dirty="0">
                    <a:solidFill>
                      <a:schemeClr val="bg1"/>
                    </a:solidFill>
                  </a:rPr>
                  <a:t>Resu</a:t>
                </a:r>
              </a:p>
              <a:p>
                <a:pPr algn="r"/>
                <a:r>
                  <a:rPr lang="pt-BR" sz="1200" dirty="0">
                    <a:solidFill>
                      <a:schemeClr val="accent2">
                        <a:lumMod val="50000"/>
                      </a:schemeClr>
                    </a:solidFill>
                  </a:rPr>
                  <a:t>Posição Cambial</a:t>
                </a:r>
              </a:p>
              <a:p>
                <a:pPr algn="r"/>
                <a:r>
                  <a:rPr lang="pt-BR" b="1" dirty="0">
                    <a:solidFill>
                      <a:schemeClr val="accent2">
                        <a:lumMod val="50000"/>
                      </a:schemeClr>
                    </a:solidFill>
                  </a:rPr>
                  <a:t>39,16</a:t>
                </a:r>
              </a:p>
              <a:p>
                <a:pPr algn="r"/>
                <a:r>
                  <a:rPr lang="pt-BR" sz="800" dirty="0">
                    <a:solidFill>
                      <a:schemeClr val="accent2">
                        <a:lumMod val="50000"/>
                      </a:schemeClr>
                    </a:solidFill>
                  </a:rPr>
                  <a:t>                                                                            mM Kz</a:t>
                </a:r>
              </a:p>
              <a:p>
                <a:endParaRPr lang="pt-BR" sz="16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9" name="Conexão reta 25">
                <a:extLst>
                  <a:ext uri="{FF2B5EF4-FFF2-40B4-BE49-F238E27FC236}">
                    <a16:creationId xmlns:a16="http://schemas.microsoft.com/office/drawing/2014/main" id="{9994DDD7-AFBF-744A-2B1B-29117EE589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3239" y="3919354"/>
                <a:ext cx="0" cy="782259"/>
              </a:xfrm>
              <a:prstGeom prst="line">
                <a:avLst/>
              </a:prstGeom>
              <a:ln/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45" name="Rectangle 21">
              <a:extLst>
                <a:ext uri="{FF2B5EF4-FFF2-40B4-BE49-F238E27FC236}">
                  <a16:creationId xmlns:a16="http://schemas.microsoft.com/office/drawing/2014/main" id="{33D20C27-32E5-1FD8-635D-9D5EB0C8ACDC}"/>
                </a:ext>
              </a:extLst>
            </p:cNvPr>
            <p:cNvSpPr/>
            <p:nvPr/>
          </p:nvSpPr>
          <p:spPr>
            <a:xfrm>
              <a:off x="3622016" y="4497874"/>
              <a:ext cx="235881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pt-BR" sz="800" dirty="0">
                <a:solidFill>
                  <a:schemeClr val="accent2">
                    <a:lumMod val="50000"/>
                  </a:schemeClr>
                </a:solidFill>
              </a:endParaRPr>
            </a:p>
            <a:p>
              <a:endParaRPr lang="pt-BR" sz="800" dirty="0">
                <a:solidFill>
                  <a:schemeClr val="accent2">
                    <a:lumMod val="50000"/>
                  </a:schemeClr>
                </a:solidFill>
              </a:endParaRPr>
            </a:p>
            <a:p>
              <a:r>
                <a:rPr lang="pt-BR" sz="800" dirty="0">
                  <a:solidFill>
                    <a:schemeClr val="accent2">
                      <a:lumMod val="50000"/>
                    </a:schemeClr>
                  </a:solidFill>
                </a:rPr>
                <a:t>Face ao dia anterior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6674"/>
            <a:ext cx="253288" cy="3630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2102" y="555040"/>
            <a:ext cx="11640312" cy="137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9" name="Picture 228" descr="foot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  <p:graphicFrame>
        <p:nvGraphicFramePr>
          <p:cNvPr id="230" name="Objeto 33">
            <a:extLst>
              <a:ext uri="{FF2B5EF4-FFF2-40B4-BE49-F238E27FC236}">
                <a16:creationId xmlns:a16="http://schemas.microsoft.com/office/drawing/2014/main" id="{50B92BE1-D502-46F1-2E9C-C9509F1AF2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081330"/>
              </p:ext>
            </p:extLst>
          </p:nvPr>
        </p:nvGraphicFramePr>
        <p:xfrm>
          <a:off x="8229600" y="4794250"/>
          <a:ext cx="3956050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3" imgW="4487790" imgH="1874143" progId="Excel.SheetBinaryMacroEnabled.12">
                  <p:link updateAutomatic="1"/>
                </p:oleObj>
              </mc:Choice>
              <mc:Fallback>
                <p:oleObj name="Binary Worksheet" r:id="rId3" imgW="4487790" imgH="1874143" progId="Excel.SheetBinaryMacroEnabled.12">
                  <p:link updateAutomatic="1"/>
                  <p:pic>
                    <p:nvPicPr>
                      <p:cNvPr id="34" name="Objeto 33">
                        <a:extLst>
                          <a:ext uri="{FF2B5EF4-FFF2-40B4-BE49-F238E27FC236}">
                            <a16:creationId xmlns:a16="http://schemas.microsoft.com/office/drawing/2014/main" id="{4BC65C0C-5FA5-C3D0-A9E7-8CB6AAA176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29600" y="4794250"/>
                        <a:ext cx="3956050" cy="1131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" name="Objeto 32">
            <a:extLst>
              <a:ext uri="{FF2B5EF4-FFF2-40B4-BE49-F238E27FC236}">
                <a16:creationId xmlns:a16="http://schemas.microsoft.com/office/drawing/2014/main" id="{0424BFAC-EC6A-0112-D758-6F534B259F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552212"/>
              </p:ext>
            </p:extLst>
          </p:nvPr>
        </p:nvGraphicFramePr>
        <p:xfrm>
          <a:off x="8196800" y="3369677"/>
          <a:ext cx="3928525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5" imgW="6560714" imgH="1417273" progId="Excel.SheetBinaryMacroEnabled.12">
                  <p:link updateAutomatic="1"/>
                </p:oleObj>
              </mc:Choice>
              <mc:Fallback>
                <p:oleObj name="Binary Worksheet" r:id="rId5" imgW="6560714" imgH="1417273" progId="Excel.SheetBinaryMacroEnabled.12">
                  <p:link updateAutomatic="1"/>
                  <p:pic>
                    <p:nvPicPr>
                      <p:cNvPr id="33" name="Objeto 32">
                        <a:extLst>
                          <a:ext uri="{FF2B5EF4-FFF2-40B4-BE49-F238E27FC236}">
                            <a16:creationId xmlns:a16="http://schemas.microsoft.com/office/drawing/2014/main" id="{842D6C3A-0BAF-FC99-FBF4-D083EF2A7D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96800" y="3369677"/>
                        <a:ext cx="3928525" cy="141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" name="Objeto 19">
            <a:extLst>
              <a:ext uri="{FF2B5EF4-FFF2-40B4-BE49-F238E27FC236}">
                <a16:creationId xmlns:a16="http://schemas.microsoft.com/office/drawing/2014/main" id="{31CE7ABB-CB6E-8941-E6D5-CFE5F76018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794549"/>
              </p:ext>
            </p:extLst>
          </p:nvPr>
        </p:nvGraphicFramePr>
        <p:xfrm>
          <a:off x="8462964" y="401517"/>
          <a:ext cx="3662362" cy="2968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7" imgW="4389120" imgH="2956293" progId="Excel.SheetBinaryMacroEnabled.12">
                  <p:link updateAutomatic="1"/>
                </p:oleObj>
              </mc:Choice>
              <mc:Fallback>
                <p:oleObj name="Binary Worksheet" r:id="rId7" imgW="4389120" imgH="2956293" progId="Excel.SheetBinaryMacroEnabled.12">
                  <p:link updateAutomatic="1"/>
                  <p:pic>
                    <p:nvPicPr>
                      <p:cNvPr id="20" name="Objeto 19">
                        <a:extLst>
                          <a:ext uri="{FF2B5EF4-FFF2-40B4-BE49-F238E27FC236}">
                            <a16:creationId xmlns:a16="http://schemas.microsoft.com/office/drawing/2014/main" id="{C5F274F2-EB1D-2B29-D02A-7F93732611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62964" y="401517"/>
                        <a:ext cx="3662362" cy="29681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3" name="Agrupar 14">
            <a:extLst>
              <a:ext uri="{FF2B5EF4-FFF2-40B4-BE49-F238E27FC236}">
                <a16:creationId xmlns:a16="http://schemas.microsoft.com/office/drawing/2014/main" id="{B0055E0A-B13A-8403-580A-44100B127BA6}"/>
              </a:ext>
            </a:extLst>
          </p:cNvPr>
          <p:cNvGrpSpPr/>
          <p:nvPr/>
        </p:nvGrpSpPr>
        <p:grpSpPr>
          <a:xfrm>
            <a:off x="1562607" y="4700275"/>
            <a:ext cx="3363926" cy="1124893"/>
            <a:chOff x="2368913" y="4143835"/>
            <a:chExt cx="5333742" cy="1393257"/>
          </a:xfrm>
        </p:grpSpPr>
        <p:grpSp>
          <p:nvGrpSpPr>
            <p:cNvPr id="234" name="Agrupar 15">
              <a:extLst>
                <a:ext uri="{FF2B5EF4-FFF2-40B4-BE49-F238E27FC236}">
                  <a16:creationId xmlns:a16="http://schemas.microsoft.com/office/drawing/2014/main" id="{C28BDC45-3B2A-3B39-B995-C7E2FAE348FB}"/>
                </a:ext>
              </a:extLst>
            </p:cNvPr>
            <p:cNvGrpSpPr/>
            <p:nvPr/>
          </p:nvGrpSpPr>
          <p:grpSpPr>
            <a:xfrm>
              <a:off x="2933122" y="4143835"/>
              <a:ext cx="4769533" cy="1393257"/>
              <a:chOff x="6539922" y="4143835"/>
              <a:chExt cx="4769533" cy="1393257"/>
            </a:xfrm>
          </p:grpSpPr>
          <p:sp>
            <p:nvSpPr>
              <p:cNvPr id="237" name="Rectangle 15">
                <a:extLst>
                  <a:ext uri="{FF2B5EF4-FFF2-40B4-BE49-F238E27FC236}">
                    <a16:creationId xmlns:a16="http://schemas.microsoft.com/office/drawing/2014/main" id="{5509E485-2D60-AFA2-2DAA-7CA1B57CC4CA}"/>
                  </a:ext>
                </a:extLst>
              </p:cNvPr>
              <p:cNvSpPr/>
              <p:nvPr/>
            </p:nvSpPr>
            <p:spPr>
              <a:xfrm>
                <a:off x="6905278" y="4232616"/>
                <a:ext cx="4365840" cy="13044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endParaRPr lang="pt-BR" sz="160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8" name="Rectangle 19">
                <a:extLst>
                  <a:ext uri="{FF2B5EF4-FFF2-40B4-BE49-F238E27FC236}">
                    <a16:creationId xmlns:a16="http://schemas.microsoft.com/office/drawing/2014/main" id="{AEEEF2A1-7F57-1638-63D5-F225D9EB0B19}"/>
                  </a:ext>
                </a:extLst>
              </p:cNvPr>
              <p:cNvSpPr/>
              <p:nvPr/>
            </p:nvSpPr>
            <p:spPr>
              <a:xfrm>
                <a:off x="6539922" y="4143835"/>
                <a:ext cx="4769533" cy="21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pt-PT" sz="800" dirty="0"/>
              </a:p>
            </p:txBody>
          </p:sp>
        </p:grpSp>
        <p:sp>
          <p:nvSpPr>
            <p:cNvPr id="235" name="Arrow: Chevron 18">
              <a:extLst>
                <a:ext uri="{FF2B5EF4-FFF2-40B4-BE49-F238E27FC236}">
                  <a16:creationId xmlns:a16="http://schemas.microsoft.com/office/drawing/2014/main" id="{91D5F632-3B18-9F44-B242-FD555D09A13E}"/>
                </a:ext>
              </a:extLst>
            </p:cNvPr>
            <p:cNvSpPr/>
            <p:nvPr/>
          </p:nvSpPr>
          <p:spPr>
            <a:xfrm>
              <a:off x="2719763" y="4699722"/>
              <a:ext cx="426721" cy="245641"/>
            </a:xfrm>
            <a:prstGeom prst="chevron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pt-PT" sz="1600" dirty="0">
                <a:solidFill>
                  <a:schemeClr val="tx1"/>
                </a:solidFill>
              </a:endParaRPr>
            </a:p>
          </p:txBody>
        </p:sp>
        <p:sp>
          <p:nvSpPr>
            <p:cNvPr id="236" name="Arrow: Chevron 23">
              <a:extLst>
                <a:ext uri="{FF2B5EF4-FFF2-40B4-BE49-F238E27FC236}">
                  <a16:creationId xmlns:a16="http://schemas.microsoft.com/office/drawing/2014/main" id="{0FDFD9F3-3AB1-DDA9-1AC0-C7D1804D44FC}"/>
                </a:ext>
              </a:extLst>
            </p:cNvPr>
            <p:cNvSpPr/>
            <p:nvPr/>
          </p:nvSpPr>
          <p:spPr>
            <a:xfrm>
              <a:off x="2368913" y="4703657"/>
              <a:ext cx="426721" cy="245641"/>
            </a:xfrm>
            <a:prstGeom prst="chevron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pt-PT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39" name="Oval 238">
            <a:extLst>
              <a:ext uri="{FF2B5EF4-FFF2-40B4-BE49-F238E27FC236}">
                <a16:creationId xmlns:a16="http://schemas.microsoft.com/office/drawing/2014/main" id="{AD516903-2D27-E984-C6F6-499913611794}"/>
              </a:ext>
            </a:extLst>
          </p:cNvPr>
          <p:cNvSpPr/>
          <p:nvPr/>
        </p:nvSpPr>
        <p:spPr>
          <a:xfrm>
            <a:off x="2451009" y="4923082"/>
            <a:ext cx="1002006" cy="790597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glow rad="101600">
              <a:schemeClr val="accent2">
                <a:lumMod val="50000"/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900" b="1" dirty="0" err="1">
                <a:solidFill>
                  <a:schemeClr val="bg1"/>
                </a:solidFill>
              </a:rPr>
              <a:t>Kz</a:t>
            </a:r>
            <a:r>
              <a:rPr lang="pt-PT" sz="9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pt-PT" sz="900" b="1" dirty="0">
                <a:solidFill>
                  <a:schemeClr val="bg1"/>
                </a:solidFill>
              </a:rPr>
              <a:t>73,59mM</a:t>
            </a:r>
          </a:p>
          <a:p>
            <a:pPr algn="ctr"/>
            <a:r>
              <a:rPr lang="pt-PT" sz="800" b="1" dirty="0">
                <a:solidFill>
                  <a:schemeClr val="bg1"/>
                </a:solidFill>
              </a:rPr>
              <a:t>Liquidez Total</a:t>
            </a: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51049C8E-AEEF-6B81-D67F-A628E77E4D73}"/>
              </a:ext>
            </a:extLst>
          </p:cNvPr>
          <p:cNvSpPr/>
          <p:nvPr/>
        </p:nvSpPr>
        <p:spPr>
          <a:xfrm>
            <a:off x="3841982" y="4940815"/>
            <a:ext cx="1002006" cy="790597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glow rad="101600">
              <a:schemeClr val="accent2">
                <a:lumMod val="50000"/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900" b="1" dirty="0" err="1">
                <a:solidFill>
                  <a:schemeClr val="bg1"/>
                </a:solidFill>
              </a:rPr>
              <a:t>Kz</a:t>
            </a:r>
            <a:r>
              <a:rPr lang="pt-PT" sz="900" b="1" dirty="0">
                <a:solidFill>
                  <a:schemeClr val="bg1"/>
                </a:solidFill>
              </a:rPr>
              <a:t> 22,04M</a:t>
            </a:r>
          </a:p>
          <a:p>
            <a:pPr algn="ctr"/>
            <a:r>
              <a:rPr lang="pt-PT" sz="800" b="1" dirty="0">
                <a:solidFill>
                  <a:schemeClr val="bg1"/>
                </a:solidFill>
              </a:rPr>
              <a:t>Juros Diário</a:t>
            </a:r>
          </a:p>
        </p:txBody>
      </p:sp>
      <p:pic>
        <p:nvPicPr>
          <p:cNvPr id="241" name="Picture 12" descr="A calculator with a dollar sign and graph&#10;&#10;AI-generated content may be incorrect.">
            <a:extLst>
              <a:ext uri="{FF2B5EF4-FFF2-40B4-BE49-F238E27FC236}">
                <a16:creationId xmlns:a16="http://schemas.microsoft.com/office/drawing/2014/main" id="{20B4816A-8337-2BAE-E701-6CACF049F8C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512" y="5111372"/>
            <a:ext cx="523102" cy="609007"/>
          </a:xfrm>
          <a:prstGeom prst="rect">
            <a:avLst/>
          </a:prstGeom>
        </p:spPr>
      </p:pic>
      <p:pic>
        <p:nvPicPr>
          <p:cNvPr id="242" name="Imagem 3">
            <a:extLst>
              <a:ext uri="{FF2B5EF4-FFF2-40B4-BE49-F238E27FC236}">
                <a16:creationId xmlns:a16="http://schemas.microsoft.com/office/drawing/2014/main" id="{D07825E8-E3CB-768D-E901-71A2DAAC65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1707" y="4985818"/>
            <a:ext cx="738268" cy="71555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</p:pic>
      <p:graphicFrame>
        <p:nvGraphicFramePr>
          <p:cNvPr id="243" name="Objeto 28">
            <a:extLst>
              <a:ext uri="{FF2B5EF4-FFF2-40B4-BE49-F238E27FC236}">
                <a16:creationId xmlns:a16="http://schemas.microsoft.com/office/drawing/2014/main" id="{FB52ACC6-9886-BA57-68FA-02D4BB23C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457184"/>
              </p:ext>
            </p:extLst>
          </p:nvPr>
        </p:nvGraphicFramePr>
        <p:xfrm>
          <a:off x="371944" y="640489"/>
          <a:ext cx="782485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11" imgW="8854369" imgH="1295526" progId="Excel.SheetBinaryMacroEnabled.12">
                  <p:link updateAutomatic="1"/>
                </p:oleObj>
              </mc:Choice>
              <mc:Fallback>
                <p:oleObj name="Binary Worksheet" r:id="rId11" imgW="8854369" imgH="1295526" progId="Excel.SheetBinaryMacroEnabled.12">
                  <p:link updateAutomatic="1"/>
                  <p:pic>
                    <p:nvPicPr>
                      <p:cNvPr id="29" name="Objeto 28">
                        <a:extLst>
                          <a:ext uri="{FF2B5EF4-FFF2-40B4-BE49-F238E27FC236}">
                            <a16:creationId xmlns:a16="http://schemas.microsoft.com/office/drawing/2014/main" id="{D3D18FBF-1A83-D0F3-898C-930F8D1329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1944" y="640489"/>
                        <a:ext cx="7824857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" name="Objeto 29">
            <a:extLst>
              <a:ext uri="{FF2B5EF4-FFF2-40B4-BE49-F238E27FC236}">
                <a16:creationId xmlns:a16="http://schemas.microsoft.com/office/drawing/2014/main" id="{C35393AE-0261-EAEC-9945-48F66B246B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28617"/>
              </p:ext>
            </p:extLst>
          </p:nvPr>
        </p:nvGraphicFramePr>
        <p:xfrm>
          <a:off x="371944" y="2015038"/>
          <a:ext cx="7824856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13" imgW="7665649" imgH="678306" progId="Excel.SheetBinaryMacroEnabled.12">
                  <p:link updateAutomatic="1"/>
                </p:oleObj>
              </mc:Choice>
              <mc:Fallback>
                <p:oleObj name="Binary Worksheet" r:id="rId13" imgW="7665649" imgH="678306" progId="Excel.SheetBinaryMacroEnabled.12">
                  <p:link updateAutomatic="1"/>
                  <p:pic>
                    <p:nvPicPr>
                      <p:cNvPr id="30" name="Objeto 29">
                        <a:extLst>
                          <a:ext uri="{FF2B5EF4-FFF2-40B4-BE49-F238E27FC236}">
                            <a16:creationId xmlns:a16="http://schemas.microsoft.com/office/drawing/2014/main" id="{0928BE57-658D-B60D-16F9-6EFADB82C6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1944" y="2015038"/>
                        <a:ext cx="7824856" cy="67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" name="Objeto 31">
            <a:extLst>
              <a:ext uri="{FF2B5EF4-FFF2-40B4-BE49-F238E27FC236}">
                <a16:creationId xmlns:a16="http://schemas.microsoft.com/office/drawing/2014/main" id="{E77A59FD-1E32-CBC0-4852-F535D2FA54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34833"/>
              </p:ext>
            </p:extLst>
          </p:nvPr>
        </p:nvGraphicFramePr>
        <p:xfrm>
          <a:off x="355321" y="2753935"/>
          <a:ext cx="7841480" cy="19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15" imgW="7612486" imgH="1935653" progId="Excel.SheetBinaryMacroEnabled.12">
                  <p:link updateAutomatic="1"/>
                </p:oleObj>
              </mc:Choice>
              <mc:Fallback>
                <p:oleObj name="Binary Worksheet" r:id="rId15" imgW="7612486" imgH="1935653" progId="Excel.SheetBinaryMacroEnabled.12">
                  <p:link updateAutomatic="1"/>
                  <p:pic>
                    <p:nvPicPr>
                      <p:cNvPr id="32" name="Objeto 31">
                        <a:extLst>
                          <a:ext uri="{FF2B5EF4-FFF2-40B4-BE49-F238E27FC236}">
                            <a16:creationId xmlns:a16="http://schemas.microsoft.com/office/drawing/2014/main" id="{AADB73ED-AC9F-DA0B-6FD5-5CBE17404F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5321" y="2753935"/>
                        <a:ext cx="7841480" cy="1935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" name="object 132">
            <a:extLst>
              <a:ext uri="{FF2B5EF4-FFF2-40B4-BE49-F238E27FC236}">
                <a16:creationId xmlns:a16="http://schemas.microsoft.com/office/drawing/2014/main" id="{9DCC6CB6-6F5E-8A08-60F2-A17FBF31C8D7}"/>
              </a:ext>
            </a:extLst>
          </p:cNvPr>
          <p:cNvSpPr txBox="1">
            <a:spLocks/>
          </p:cNvSpPr>
          <p:nvPr/>
        </p:nvSpPr>
        <p:spPr>
          <a:xfrm>
            <a:off x="361784" y="204966"/>
            <a:ext cx="1035193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pt-PT" sz="2000" b="1" i="1" dirty="0">
                <a:latin typeface="Arial Narrow" panose="020B0606020202030204" pitchFamily="34" charset="0"/>
              </a:rPr>
              <a:t>LIQUIDEZ - MOEDA NACIONAL</a:t>
            </a:r>
            <a:endParaRPr lang="pt-AO" sz="2000" b="1" i="1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6674"/>
            <a:ext cx="253288" cy="3630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2102" y="555040"/>
            <a:ext cx="11640312" cy="137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2" name="Picture 141" descr="icon_kz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5468112"/>
            <a:ext cx="512064" cy="374904"/>
          </a:xfrm>
          <a:prstGeom prst="rect">
            <a:avLst/>
          </a:prstGeom>
        </p:spPr>
      </p:pic>
      <p:pic>
        <p:nvPicPr>
          <p:cNvPr id="144" name="Picture 143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  <p:sp>
        <p:nvSpPr>
          <p:cNvPr id="146" name="object 132">
            <a:extLst>
              <a:ext uri="{FF2B5EF4-FFF2-40B4-BE49-F238E27FC236}">
                <a16:creationId xmlns:a16="http://schemas.microsoft.com/office/drawing/2014/main" id="{40F48EB9-C915-F67B-0E29-37CB622D772D}"/>
              </a:ext>
            </a:extLst>
          </p:cNvPr>
          <p:cNvSpPr txBox="1">
            <a:spLocks/>
          </p:cNvSpPr>
          <p:nvPr/>
        </p:nvSpPr>
        <p:spPr>
          <a:xfrm>
            <a:off x="361784" y="204966"/>
            <a:ext cx="1035193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pt-PT" sz="2000" b="1" i="1" dirty="0">
                <a:latin typeface="Arial Narrow" panose="020B0606020202030204" pitchFamily="34" charset="0"/>
              </a:rPr>
              <a:t>LIQUIDEZ - MOEDA NACIONAL</a:t>
            </a:r>
            <a:endParaRPr lang="pt-AO" sz="2000" b="1" i="1" dirty="0">
              <a:latin typeface="Arial Narrow" panose="020B0606020202030204" pitchFamily="34" charset="0"/>
            </a:endParaRPr>
          </a:p>
        </p:txBody>
      </p:sp>
      <p:graphicFrame>
        <p:nvGraphicFramePr>
          <p:cNvPr id="148" name="Objeto 3">
            <a:extLst>
              <a:ext uri="{FF2B5EF4-FFF2-40B4-BE49-F238E27FC236}">
                <a16:creationId xmlns:a16="http://schemas.microsoft.com/office/drawing/2014/main" id="{1BE788D0-BC51-64A0-5C36-38A3D5DBE9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539360"/>
              </p:ext>
            </p:extLst>
          </p:nvPr>
        </p:nvGraphicFramePr>
        <p:xfrm>
          <a:off x="7794625" y="3154363"/>
          <a:ext cx="3741738" cy="275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4" imgW="5570185" imgH="2506634" progId="Excel.SheetBinaryMacroEnabled.12">
                  <p:link updateAutomatic="1"/>
                </p:oleObj>
              </mc:Choice>
              <mc:Fallback>
                <p:oleObj name="Binary Worksheet" r:id="rId4" imgW="5570185" imgH="2506634" progId="Excel.SheetBinaryMacroEnabled.12">
                  <p:link updateAutomatic="1"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15EF524E-566B-6299-771D-D6E8BAB4A4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94625" y="3154363"/>
                        <a:ext cx="3741738" cy="275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Objeto 2">
            <a:extLst>
              <a:ext uri="{FF2B5EF4-FFF2-40B4-BE49-F238E27FC236}">
                <a16:creationId xmlns:a16="http://schemas.microsoft.com/office/drawing/2014/main" id="{A7E51D0B-301B-D7F4-52FE-85AD7CBD6D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404097"/>
              </p:ext>
            </p:extLst>
          </p:nvPr>
        </p:nvGraphicFramePr>
        <p:xfrm>
          <a:off x="366713" y="3162300"/>
          <a:ext cx="5278437" cy="219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6" imgW="4533723" imgH="2666984" progId="Excel.SheetBinaryMacroEnabled.12">
                  <p:link updateAutomatic="1"/>
                </p:oleObj>
              </mc:Choice>
              <mc:Fallback>
                <p:oleObj name="Binary Worksheet" r:id="rId6" imgW="4533723" imgH="2666984" progId="Excel.SheetBinaryMacroEnabled.12">
                  <p:link updateAutomatic="1"/>
                  <p:pic>
                    <p:nvPicPr>
                      <p:cNvPr id="3" name="Objeto 2">
                        <a:extLst>
                          <a:ext uri="{FF2B5EF4-FFF2-40B4-BE49-F238E27FC236}">
                            <a16:creationId xmlns:a16="http://schemas.microsoft.com/office/drawing/2014/main" id="{C253B30F-A0B0-4BB0-9FC4-0ECC16FE04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6713" y="3162300"/>
                        <a:ext cx="5278437" cy="2198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0" name="Imagem 14">
            <a:extLst>
              <a:ext uri="{FF2B5EF4-FFF2-40B4-BE49-F238E27FC236}">
                <a16:creationId xmlns:a16="http://schemas.microsoft.com/office/drawing/2014/main" id="{039DFA02-0E25-B27D-E347-8CDBB1A5B5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0187" y="3057889"/>
            <a:ext cx="2459928" cy="2314790"/>
          </a:xfrm>
          <a:prstGeom prst="rect">
            <a:avLst/>
          </a:prstGeom>
        </p:spPr>
      </p:pic>
      <p:graphicFrame>
        <p:nvGraphicFramePr>
          <p:cNvPr id="151" name="Objeto 1">
            <a:extLst>
              <a:ext uri="{FF2B5EF4-FFF2-40B4-BE49-F238E27FC236}">
                <a16:creationId xmlns:a16="http://schemas.microsoft.com/office/drawing/2014/main" id="{B9782674-619B-BB5B-02F8-AF6471D849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693337"/>
              </p:ext>
            </p:extLst>
          </p:nvPr>
        </p:nvGraphicFramePr>
        <p:xfrm>
          <a:off x="361057" y="381904"/>
          <a:ext cx="11154853" cy="279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9" imgW="5753065" imgH="2796367" progId="Excel.SheetBinaryMacroEnabled.12">
                  <p:link updateAutomatic="1"/>
                </p:oleObj>
              </mc:Choice>
              <mc:Fallback>
                <p:oleObj name="Binary Worksheet" r:id="rId9" imgW="5753065" imgH="2796367" progId="Excel.SheetBinaryMacroEnabled.12">
                  <p:link updateAutomatic="1"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432A2BD8-6AB9-482E-2DD3-9069A1A55B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1057" y="381904"/>
                        <a:ext cx="11154853" cy="2795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" name="Objeto 10">
            <a:extLst>
              <a:ext uri="{FF2B5EF4-FFF2-40B4-BE49-F238E27FC236}">
                <a16:creationId xmlns:a16="http://schemas.microsoft.com/office/drawing/2014/main" id="{E63A5A2C-A40E-5070-3614-D39797E2CD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722435"/>
              </p:ext>
            </p:extLst>
          </p:nvPr>
        </p:nvGraphicFramePr>
        <p:xfrm>
          <a:off x="371944" y="5123243"/>
          <a:ext cx="5273206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11" imgW="5036855" imgH="746603" progId="Excel.SheetBinaryMacroEnabled.12">
                  <p:link updateAutomatic="1"/>
                </p:oleObj>
              </mc:Choice>
              <mc:Fallback>
                <p:oleObj name="Binary Worksheet" r:id="rId11" imgW="5036855" imgH="746603" progId="Excel.SheetBinaryMacroEnabled.12">
                  <p:link updateAutomatic="1"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72CC8CAA-8CE8-8BF1-2432-F788E4DF07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1944" y="5123243"/>
                        <a:ext cx="5273206" cy="746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6674"/>
            <a:ext cx="253288" cy="3630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2102" y="555040"/>
            <a:ext cx="11640312" cy="137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2102" y="619048"/>
            <a:ext cx="7117689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2902" y="631748"/>
            <a:ext cx="7016089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ME  (M USD)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2102" y="847648"/>
            <a:ext cx="2103120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7502" y="860348"/>
            <a:ext cx="2052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65222" y="847648"/>
            <a:ext cx="1002913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90622" y="8603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26/03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8135" y="847648"/>
            <a:ext cx="1002913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535" y="8603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27/03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049" y="847648"/>
            <a:ext cx="1002913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6449" y="8603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28/03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73963" y="847648"/>
            <a:ext cx="1002913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99363" y="8603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31/03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6877" y="847648"/>
            <a:ext cx="1002913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2277" y="8603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01/04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2102" y="1076248"/>
            <a:ext cx="2103120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7502" y="1088948"/>
            <a:ext cx="2052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SALDO D.O Estrangeiros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5222" y="10762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90622" y="10889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8,20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8135" y="10762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93535" y="10889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8,50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71049" y="10762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96449" y="10889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8,30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73963" y="10762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99363" y="10889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8,60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6877" y="10762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02277" y="10889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8,80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2102" y="1304848"/>
            <a:ext cx="210312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7502" y="1317548"/>
            <a:ext cx="2052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DPs 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5222" y="1304848"/>
            <a:ext cx="100291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90622" y="13175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2,50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68135" y="1304848"/>
            <a:ext cx="100291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93535" y="13175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2,50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71049" y="1304848"/>
            <a:ext cx="100291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96449" y="13175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2,50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73963" y="1304848"/>
            <a:ext cx="100291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99363" y="13175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2,50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6877" y="1304848"/>
            <a:ext cx="1002913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02277" y="13175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2,50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2102" y="1533448"/>
            <a:ext cx="2103120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7502" y="1546148"/>
            <a:ext cx="2052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COLATERAL CDI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5222" y="15334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490622" y="15461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1,30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68135" y="15334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93535" y="15461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1,30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71049" y="15334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496449" y="15461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1,30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73963" y="15334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99363" y="15461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1,30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76877" y="15334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02277" y="15461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1,30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2102" y="1762048"/>
            <a:ext cx="2103120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7502" y="1774748"/>
            <a:ext cx="2052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65222" y="17620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90622" y="17747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5000"/>
                </a:solidFill>
                <a:latin typeface="Calibri"/>
              </a:rPr>
              <a:t>12,00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68135" y="17620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93535" y="17747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5000"/>
                </a:solidFill>
                <a:latin typeface="Calibri"/>
              </a:rPr>
              <a:t>12,30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71049" y="17620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496449" y="17747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5000"/>
                </a:solidFill>
                <a:latin typeface="Calibri"/>
              </a:rPr>
              <a:t>12,10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73963" y="17620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99363" y="17747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5000"/>
                </a:solidFill>
                <a:latin typeface="Calibri"/>
              </a:rPr>
              <a:t>12,40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76877" y="1762048"/>
            <a:ext cx="1002913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02277" y="1774748"/>
            <a:ext cx="95211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5000"/>
                </a:solidFill>
                <a:latin typeface="Calibri"/>
              </a:rPr>
              <a:t>12,60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2102" y="1680667"/>
            <a:ext cx="7117689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12902" y="1693367"/>
            <a:ext cx="7016089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 err="1">
                <a:solidFill>
                  <a:srgbClr val="FFFFFF"/>
                </a:solidFill>
                <a:latin typeface="Calibri"/>
              </a:rPr>
              <a:t>Transações</a:t>
            </a:r>
            <a:r>
              <a:rPr sz="800" b="1" i="0" dirty="0">
                <a:solidFill>
                  <a:srgbClr val="FFFFFF"/>
                </a:solidFill>
                <a:latin typeface="Calibri"/>
              </a:rPr>
              <a:t> 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2102" y="1909267"/>
            <a:ext cx="1016812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87502" y="19219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8914" y="1909267"/>
            <a:ext cx="1016812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404314" y="19219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95727" y="1909267"/>
            <a:ext cx="1016812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421127" y="19219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12540" y="1909267"/>
            <a:ext cx="1016812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437940" y="19219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29352" y="1909267"/>
            <a:ext cx="1016812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54752" y="19219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46165" y="1909267"/>
            <a:ext cx="1016812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471565" y="19219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62978" y="1909267"/>
            <a:ext cx="1016812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88378" y="19219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2102" y="2137867"/>
            <a:ext cx="1016812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87502" y="21505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DP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78914" y="2137867"/>
            <a:ext cx="1016812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404314" y="21505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USD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395727" y="2137867"/>
            <a:ext cx="1016812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421127" y="21505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Citibank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412540" y="2137867"/>
            <a:ext cx="1016812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437940" y="21505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4,50%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429352" y="2137867"/>
            <a:ext cx="1016812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454752" y="21505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2,5 M USD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46165" y="2137867"/>
            <a:ext cx="1016812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471565" y="21505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30/04/2026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62978" y="2137867"/>
            <a:ext cx="1016812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488378" y="2150567"/>
            <a:ext cx="966012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0,03 M USD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2102" y="2577693"/>
            <a:ext cx="7117689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12902" y="2590393"/>
            <a:ext cx="7016089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 ME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62102" y="2806293"/>
            <a:ext cx="1186281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87502" y="28189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48383" y="2806293"/>
            <a:ext cx="1186281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573783" y="28189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34665" y="2806293"/>
            <a:ext cx="1186281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760065" y="28189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920946" y="2806293"/>
            <a:ext cx="1186281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946346" y="28189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107228" y="2806293"/>
            <a:ext cx="1186281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132628" y="28189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93509" y="2806293"/>
            <a:ext cx="1186281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18909" y="28189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62102" y="3034893"/>
            <a:ext cx="1186281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87502" y="30475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Citibank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548383" y="3034893"/>
            <a:ext cx="1186281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573783" y="30475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2,5 M USD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734665" y="3034893"/>
            <a:ext cx="1186281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760065" y="30475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4,50%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20946" y="3034893"/>
            <a:ext cx="1186281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946346" y="30475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107228" y="3034893"/>
            <a:ext cx="1186281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5132628" y="30475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30/04/2026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293509" y="3034893"/>
            <a:ext cx="1186281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318909" y="30475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0,031 M USD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62102" y="3263493"/>
            <a:ext cx="1186281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87502" y="32761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ABSA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548383" y="3263493"/>
            <a:ext cx="1186281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573783" y="32761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1,8 M USD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34665" y="3263493"/>
            <a:ext cx="1186281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760065" y="32761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4,25%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920946" y="3263493"/>
            <a:ext cx="1186281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946346" y="32761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60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107228" y="3263493"/>
            <a:ext cx="1186281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132628" y="32761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31/05/2026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293509" y="3263493"/>
            <a:ext cx="1186281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318909" y="3276193"/>
            <a:ext cx="1135481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0,021 M USD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25512" y="2814523"/>
            <a:ext cx="459120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576312" y="2827223"/>
            <a:ext cx="448960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525512" y="3043123"/>
            <a:ext cx="1645920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7550912" y="3055823"/>
            <a:ext cx="159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9171432" y="3043123"/>
            <a:ext cx="589056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196832" y="30558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26/03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760488" y="3043123"/>
            <a:ext cx="589056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9785888" y="30558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27/03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349544" y="3043123"/>
            <a:ext cx="589056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0374944" y="30558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28/03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938601" y="3043123"/>
            <a:ext cx="589056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0964001" y="30558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31/03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1527657" y="3043123"/>
            <a:ext cx="589056" cy="228600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1553057" y="30558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01/04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525512" y="3271723"/>
            <a:ext cx="1645920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550912" y="3284423"/>
            <a:ext cx="159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71432" y="32717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9196832" y="32844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0,50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760488" y="32717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9785888" y="32844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0,30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349544" y="32717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10374944" y="32844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0,40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938601" y="32717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964001" y="32844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0,35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1527657" y="32717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11553057" y="32844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0,45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525512" y="3500323"/>
            <a:ext cx="164592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550912" y="3513023"/>
            <a:ext cx="159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Outros recebimentos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171432" y="3500323"/>
            <a:ext cx="589056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9196832" y="35130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0,10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760488" y="3500323"/>
            <a:ext cx="589056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785888" y="35130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0,10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349544" y="3500323"/>
            <a:ext cx="589056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10374944" y="35130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0,10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938601" y="3500323"/>
            <a:ext cx="589056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964001" y="35130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0,10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527657" y="3500323"/>
            <a:ext cx="589056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11553057" y="35130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0,10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525512" y="3728923"/>
            <a:ext cx="1645920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7550912" y="3741623"/>
            <a:ext cx="159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Reembolsos de DP + Juros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171432" y="37289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9196832" y="37416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0,40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760488" y="37289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9785888" y="37416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0,20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349544" y="37289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10374944" y="37416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0,30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938601" y="37289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10964001" y="37416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0,25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1527657" y="37289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11553057" y="37416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0,35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525512" y="3957523"/>
            <a:ext cx="164592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7550912" y="3970223"/>
            <a:ext cx="159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171432" y="3957523"/>
            <a:ext cx="589056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9196832" y="39702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0,40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9760488" y="3957523"/>
            <a:ext cx="589056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9785888" y="39702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0,25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0349544" y="3957523"/>
            <a:ext cx="589056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10374944" y="39702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0,35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0938601" y="3957523"/>
            <a:ext cx="589056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10964001" y="39702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0,28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1527657" y="3957523"/>
            <a:ext cx="589056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11553057" y="39702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0,40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525512" y="4186123"/>
            <a:ext cx="1645920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7550912" y="4198823"/>
            <a:ext cx="159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Aplicação em DP ME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9171432" y="41861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9196832" y="41988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0,40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760488" y="41861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9785888" y="41988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0,25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349544" y="41861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10374944" y="41988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0,35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0938601" y="41861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10964001" y="41988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0,28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1527657" y="41861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11553057" y="41988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0,40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525512" y="4414723"/>
            <a:ext cx="1645920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550912" y="4427423"/>
            <a:ext cx="1595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9171432" y="44147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9196832" y="44274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5000"/>
                </a:solidFill>
                <a:latin typeface="Calibri"/>
              </a:rPr>
              <a:t>+0,10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760488" y="44147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9785888" y="44274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5000"/>
                </a:solidFill>
                <a:latin typeface="Calibri"/>
              </a:rPr>
              <a:t>+0,05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0349544" y="44147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10374944" y="44274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5000"/>
                </a:solidFill>
                <a:latin typeface="Calibri"/>
              </a:rPr>
              <a:t>+0,05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938601" y="44147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964001" y="44274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5000"/>
                </a:solidFill>
                <a:latin typeface="Calibri"/>
              </a:rPr>
              <a:t>+0,07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1527657" y="4414723"/>
            <a:ext cx="589056" cy="228600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11553057" y="4427423"/>
            <a:ext cx="538256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5000"/>
                </a:solidFill>
                <a:latin typeface="Calibri"/>
              </a:rPr>
              <a:t>+0,05</a:t>
            </a:r>
          </a:p>
        </p:txBody>
      </p:sp>
      <p:pic>
        <p:nvPicPr>
          <p:cNvPr id="221" name="Picture 2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322" y="344728"/>
            <a:ext cx="4233672" cy="2725826"/>
          </a:xfrm>
          <a:prstGeom prst="rect">
            <a:avLst/>
          </a:prstGeom>
        </p:spPr>
      </p:pic>
      <p:pic>
        <p:nvPicPr>
          <p:cNvPr id="228" name="Picture 227" descr="icon_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329" y="5127040"/>
            <a:ext cx="562356" cy="651052"/>
          </a:xfrm>
          <a:prstGeom prst="rect">
            <a:avLst/>
          </a:prstGeom>
        </p:spPr>
      </p:pic>
      <p:pic>
        <p:nvPicPr>
          <p:cNvPr id="229" name="Picture 228" descr="footer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  <p:sp>
        <p:nvSpPr>
          <p:cNvPr id="230" name="object 132">
            <a:extLst>
              <a:ext uri="{FF2B5EF4-FFF2-40B4-BE49-F238E27FC236}">
                <a16:creationId xmlns:a16="http://schemas.microsoft.com/office/drawing/2014/main" id="{AE08A8E3-FC09-2461-CF94-5648E58349C3}"/>
              </a:ext>
            </a:extLst>
          </p:cNvPr>
          <p:cNvSpPr txBox="1">
            <a:spLocks/>
          </p:cNvSpPr>
          <p:nvPr/>
        </p:nvSpPr>
        <p:spPr>
          <a:xfrm>
            <a:off x="361784" y="204966"/>
            <a:ext cx="1035193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pt-PT" sz="2000" b="1" i="1" dirty="0">
                <a:latin typeface="Arial Narrow" panose="020B0606020202030204" pitchFamily="34" charset="0"/>
              </a:rPr>
              <a:t>LIQUIDEZ - MOEDA ESTRANGEIRA</a:t>
            </a:r>
            <a:endParaRPr lang="pt-AO" sz="2000" b="1" i="1" dirty="0">
              <a:latin typeface="Arial Narrow" panose="020B0606020202030204" pitchFamily="34" charset="0"/>
            </a:endParaRPr>
          </a:p>
        </p:txBody>
      </p:sp>
      <p:grpSp>
        <p:nvGrpSpPr>
          <p:cNvPr id="231" name="Agrupar 16">
            <a:extLst>
              <a:ext uri="{FF2B5EF4-FFF2-40B4-BE49-F238E27FC236}">
                <a16:creationId xmlns:a16="http://schemas.microsoft.com/office/drawing/2014/main" id="{44B60E87-2316-EDA8-D1DB-364B6D67BB65}"/>
              </a:ext>
            </a:extLst>
          </p:cNvPr>
          <p:cNvGrpSpPr/>
          <p:nvPr/>
        </p:nvGrpSpPr>
        <p:grpSpPr>
          <a:xfrm>
            <a:off x="1851882" y="4664722"/>
            <a:ext cx="3363926" cy="1213360"/>
            <a:chOff x="2368913" y="4143835"/>
            <a:chExt cx="5333742" cy="1442417"/>
          </a:xfrm>
        </p:grpSpPr>
        <p:grpSp>
          <p:nvGrpSpPr>
            <p:cNvPr id="232" name="Agrupar 18">
              <a:extLst>
                <a:ext uri="{FF2B5EF4-FFF2-40B4-BE49-F238E27FC236}">
                  <a16:creationId xmlns:a16="http://schemas.microsoft.com/office/drawing/2014/main" id="{3DD0F7B2-3E94-1CB4-8612-6831810C782C}"/>
                </a:ext>
              </a:extLst>
            </p:cNvPr>
            <p:cNvGrpSpPr/>
            <p:nvPr/>
          </p:nvGrpSpPr>
          <p:grpSpPr>
            <a:xfrm>
              <a:off x="2933122" y="4143835"/>
              <a:ext cx="4769533" cy="1442417"/>
              <a:chOff x="6539922" y="4143835"/>
              <a:chExt cx="4769533" cy="1442417"/>
            </a:xfrm>
          </p:grpSpPr>
          <p:sp>
            <p:nvSpPr>
              <p:cNvPr id="235" name="Rectangle 15">
                <a:extLst>
                  <a:ext uri="{FF2B5EF4-FFF2-40B4-BE49-F238E27FC236}">
                    <a16:creationId xmlns:a16="http://schemas.microsoft.com/office/drawing/2014/main" id="{B457D5D0-DE27-A87E-067B-54789412A7AB}"/>
                  </a:ext>
                </a:extLst>
              </p:cNvPr>
              <p:cNvSpPr/>
              <p:nvPr/>
            </p:nvSpPr>
            <p:spPr>
              <a:xfrm>
                <a:off x="6905279" y="4281776"/>
                <a:ext cx="4365840" cy="13044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endParaRPr lang="pt-BR" sz="160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236" name="Rectangle 19">
                <a:extLst>
                  <a:ext uri="{FF2B5EF4-FFF2-40B4-BE49-F238E27FC236}">
                    <a16:creationId xmlns:a16="http://schemas.microsoft.com/office/drawing/2014/main" id="{7DA10774-076B-DD16-8B84-59501C19329B}"/>
                  </a:ext>
                </a:extLst>
              </p:cNvPr>
              <p:cNvSpPr/>
              <p:nvPr/>
            </p:nvSpPr>
            <p:spPr>
              <a:xfrm>
                <a:off x="6539922" y="4143835"/>
                <a:ext cx="4769533" cy="21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pt-PT" sz="800" dirty="0"/>
              </a:p>
            </p:txBody>
          </p:sp>
        </p:grpSp>
        <p:sp>
          <p:nvSpPr>
            <p:cNvPr id="233" name="Arrow: Chevron 18">
              <a:extLst>
                <a:ext uri="{FF2B5EF4-FFF2-40B4-BE49-F238E27FC236}">
                  <a16:creationId xmlns:a16="http://schemas.microsoft.com/office/drawing/2014/main" id="{B595F1E7-4A15-DD84-B666-5C883DFA74CC}"/>
                </a:ext>
              </a:extLst>
            </p:cNvPr>
            <p:cNvSpPr/>
            <p:nvPr/>
          </p:nvSpPr>
          <p:spPr>
            <a:xfrm>
              <a:off x="2719763" y="4680059"/>
              <a:ext cx="426721" cy="245641"/>
            </a:xfrm>
            <a:prstGeom prst="chevron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pt-PT" sz="1600" dirty="0">
                <a:solidFill>
                  <a:schemeClr val="tx1"/>
                </a:solidFill>
              </a:endParaRPr>
            </a:p>
          </p:txBody>
        </p:sp>
        <p:sp>
          <p:nvSpPr>
            <p:cNvPr id="234" name="Arrow: Chevron 23">
              <a:extLst>
                <a:ext uri="{FF2B5EF4-FFF2-40B4-BE49-F238E27FC236}">
                  <a16:creationId xmlns:a16="http://schemas.microsoft.com/office/drawing/2014/main" id="{82DB4871-5261-77EA-9E60-0397FC4FFD08}"/>
                </a:ext>
              </a:extLst>
            </p:cNvPr>
            <p:cNvSpPr/>
            <p:nvPr/>
          </p:nvSpPr>
          <p:spPr>
            <a:xfrm>
              <a:off x="2368913" y="4674160"/>
              <a:ext cx="426721" cy="245641"/>
            </a:xfrm>
            <a:prstGeom prst="chevron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pt-PT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37" name="Oval 236">
            <a:extLst>
              <a:ext uri="{FF2B5EF4-FFF2-40B4-BE49-F238E27FC236}">
                <a16:creationId xmlns:a16="http://schemas.microsoft.com/office/drawing/2014/main" id="{F065FD61-1FB0-90AF-FBC7-61A72C742DB3}"/>
              </a:ext>
            </a:extLst>
          </p:cNvPr>
          <p:cNvSpPr/>
          <p:nvPr/>
        </p:nvSpPr>
        <p:spPr>
          <a:xfrm>
            <a:off x="2575662" y="4809357"/>
            <a:ext cx="1075588" cy="860059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glow rad="101600">
              <a:schemeClr val="accent2">
                <a:lumMod val="50000"/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1200" b="1" dirty="0">
                <a:solidFill>
                  <a:schemeClr val="bg1"/>
                </a:solidFill>
              </a:rPr>
              <a:t>USD </a:t>
            </a:r>
          </a:p>
          <a:p>
            <a:pPr algn="ctr"/>
            <a:r>
              <a:rPr lang="pt-PT" sz="1200" b="1" dirty="0">
                <a:solidFill>
                  <a:schemeClr val="bg1"/>
                </a:solidFill>
              </a:rPr>
              <a:t>17,10M</a:t>
            </a:r>
          </a:p>
          <a:p>
            <a:pPr algn="ctr"/>
            <a:r>
              <a:rPr lang="pt-PT" sz="800" b="1" dirty="0">
                <a:solidFill>
                  <a:schemeClr val="bg1"/>
                </a:solidFill>
              </a:rPr>
              <a:t>Liquidez Total</a:t>
            </a: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AC8AD312-9934-D2B4-FB99-9811AD0608E4}"/>
              </a:ext>
            </a:extLst>
          </p:cNvPr>
          <p:cNvSpPr/>
          <p:nvPr/>
        </p:nvSpPr>
        <p:spPr>
          <a:xfrm>
            <a:off x="3977237" y="4809356"/>
            <a:ext cx="1074106" cy="86006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glow rad="101600">
              <a:schemeClr val="accent2">
                <a:lumMod val="50000"/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1200" b="1" dirty="0">
                <a:solidFill>
                  <a:schemeClr val="bg1"/>
                </a:solidFill>
              </a:rPr>
              <a:t>USD</a:t>
            </a:r>
          </a:p>
          <a:p>
            <a:pPr algn="ctr"/>
            <a:r>
              <a:rPr lang="pt-PT" sz="1200" b="1" dirty="0">
                <a:solidFill>
                  <a:schemeClr val="bg1"/>
                </a:solidFill>
              </a:rPr>
              <a:t>1.358</a:t>
            </a:r>
          </a:p>
          <a:p>
            <a:pPr algn="ctr"/>
            <a:r>
              <a:rPr lang="pt-PT" sz="800" b="1" dirty="0">
                <a:solidFill>
                  <a:schemeClr val="bg1"/>
                </a:solidFill>
              </a:rPr>
              <a:t>Juros Diário</a:t>
            </a:r>
          </a:p>
        </p:txBody>
      </p:sp>
      <p:graphicFrame>
        <p:nvGraphicFramePr>
          <p:cNvPr id="239" name="Objeto 22">
            <a:extLst>
              <a:ext uri="{FF2B5EF4-FFF2-40B4-BE49-F238E27FC236}">
                <a16:creationId xmlns:a16="http://schemas.microsoft.com/office/drawing/2014/main" id="{9FA3A73C-1E93-2DFB-50BE-967B293DDE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198489"/>
              </p:ext>
            </p:extLst>
          </p:nvPr>
        </p:nvGraphicFramePr>
        <p:xfrm>
          <a:off x="7391400" y="4786313"/>
          <a:ext cx="476408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5" imgW="4472905" imgH="1531384" progId="Excel.SheetBinaryMacroEnabled.12">
                  <p:link updateAutomatic="1"/>
                </p:oleObj>
              </mc:Choice>
              <mc:Fallback>
                <p:oleObj name="Binary Worksheet" r:id="rId5" imgW="4472905" imgH="1531384" progId="Excel.SheetBinaryMacroEnabled.12">
                  <p:link updateAutomatic="1"/>
                  <p:pic>
                    <p:nvPicPr>
                      <p:cNvPr id="23" name="Objeto 22">
                        <a:extLst>
                          <a:ext uri="{FF2B5EF4-FFF2-40B4-BE49-F238E27FC236}">
                            <a16:creationId xmlns:a16="http://schemas.microsoft.com/office/drawing/2014/main" id="{8204C8E6-028C-8F39-38D9-38DCE57BBA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91400" y="4786313"/>
                        <a:ext cx="4764088" cy="109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6674"/>
            <a:ext cx="253288" cy="3630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2102" y="204825"/>
            <a:ext cx="10351922" cy="320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2102" y="555040"/>
            <a:ext cx="11640312" cy="137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2102" y="644652"/>
            <a:ext cx="558881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2902" y="657352"/>
            <a:ext cx="54872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Cambiais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2102" y="900684"/>
            <a:ext cx="12801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7502" y="913384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Par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2262" y="900684"/>
            <a:ext cx="1077163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7662" y="913384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9425" y="900684"/>
            <a:ext cx="1077163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4825" y="913384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6588" y="900684"/>
            <a:ext cx="1077163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21988" y="913384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3751" y="900684"/>
            <a:ext cx="1077163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9151" y="913384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2102" y="1156716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7502" y="1169416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USD/AKZ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2262" y="1156716"/>
            <a:ext cx="1077163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67662" y="1169416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920.50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19425" y="1156716"/>
            <a:ext cx="1077163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4825" y="1169416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921.00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6588" y="1156716"/>
            <a:ext cx="1077163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21988" y="1169416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922.30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3751" y="1156716"/>
            <a:ext cx="1077163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9151" y="1169416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+0,14%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2102" y="1412748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7502" y="1425448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EUR/AKZ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2262" y="1412748"/>
            <a:ext cx="1077163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67662" y="1425448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1010.20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19425" y="1412748"/>
            <a:ext cx="1077163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4825" y="1425448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1012.00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6588" y="1412748"/>
            <a:ext cx="1077163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21988" y="1425448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1015.50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73751" y="1412748"/>
            <a:ext cx="1077163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9151" y="1425448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+0,35%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2102" y="1668780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7502" y="1681480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EUR/USD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2262" y="1668780"/>
            <a:ext cx="1077163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67662" y="1681480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1,098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19425" y="1668780"/>
            <a:ext cx="1077163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4825" y="1681480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1,099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96588" y="1668780"/>
            <a:ext cx="1077163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21988" y="1681480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1,101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73751" y="1668780"/>
            <a:ext cx="1077163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99151" y="1681480"/>
            <a:ext cx="102636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+0,18%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2102" y="1705356"/>
            <a:ext cx="558881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2902" y="1718056"/>
            <a:ext cx="54872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BDA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2102" y="1961388"/>
            <a:ext cx="6400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87502" y="1974088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2182" y="1961388"/>
            <a:ext cx="129113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7582" y="1974088"/>
            <a:ext cx="124033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Par de moeda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93314" y="1961388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318714" y="1974088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 Debt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64914" y="1961388"/>
            <a:ext cx="1188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90314" y="1974088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Câmbio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53634" y="196138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879034" y="19740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P/L AKZ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102" y="2217420"/>
            <a:ext cx="6400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87502" y="2230120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2182" y="2217420"/>
            <a:ext cx="129113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27582" y="2230120"/>
            <a:ext cx="124033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USD/AKZ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93314" y="2217420"/>
            <a:ext cx="13716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318714" y="2230120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5,0 M USD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64914" y="2217420"/>
            <a:ext cx="1188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90314" y="2230120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922,30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53634" y="221742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879034" y="22301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+120 mM Kz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2102" y="2473452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87502" y="2486152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V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2182" y="2473452"/>
            <a:ext cx="129113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27582" y="2486152"/>
            <a:ext cx="124033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USD/AKZ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93314" y="247345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318714" y="2486152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7,5 M USD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64914" y="2473452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690314" y="2486152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922,50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53634" y="247345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879034" y="24861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+180 mM Kz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2102" y="2786176"/>
            <a:ext cx="4953304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12902" y="2798876"/>
            <a:ext cx="485170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do Mercado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2102" y="3042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87502" y="3054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Liquidação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459382" y="3042208"/>
            <a:ext cx="1407261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484782" y="3054908"/>
            <a:ext cx="1356461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 USD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866643" y="3042208"/>
            <a:ext cx="1224381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892043" y="3054908"/>
            <a:ext cx="1173581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Mínimo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91024" y="3042208"/>
            <a:ext cx="1224381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116424" y="3054908"/>
            <a:ext cx="1173581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Máximo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2102" y="3298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87502" y="3310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59382" y="3298240"/>
            <a:ext cx="140726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484782" y="3310940"/>
            <a:ext cx="1356461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12,5 M USD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866643" y="3298240"/>
            <a:ext cx="122438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892043" y="3310940"/>
            <a:ext cx="1173581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920,00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091024" y="3298240"/>
            <a:ext cx="122438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116424" y="3310940"/>
            <a:ext cx="1173581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923,00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2102" y="3554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87502" y="3566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59382" y="3554272"/>
            <a:ext cx="140726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484782" y="3566972"/>
            <a:ext cx="1356461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8,2 M USD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66643" y="3554272"/>
            <a:ext cx="122438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892043" y="3566972"/>
            <a:ext cx="1173581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921,50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091024" y="3554272"/>
            <a:ext cx="122438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116424" y="3566972"/>
            <a:ext cx="1173581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922,80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2102" y="3810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87502" y="3823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459382" y="3810304"/>
            <a:ext cx="140726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484782" y="3823004"/>
            <a:ext cx="1356461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3,1 M USD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66643" y="3810304"/>
            <a:ext cx="122438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892043" y="3823004"/>
            <a:ext cx="1173581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921,00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091024" y="3810304"/>
            <a:ext cx="122438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116424" y="3823004"/>
            <a:ext cx="1173581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923,50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462211" y="1695918"/>
            <a:ext cx="1061618" cy="50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5.230 mM Kz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34986" y="2703880"/>
            <a:ext cx="2977286" cy="277063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434986" y="2726740"/>
            <a:ext cx="297728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dirty="0" err="1">
                <a:solidFill>
                  <a:srgbClr val="000000"/>
                </a:solidFill>
                <a:latin typeface="Calibri"/>
              </a:rPr>
              <a:t>Posição</a:t>
            </a:r>
            <a:r>
              <a:rPr sz="800" b="1" i="0" dirty="0">
                <a:solidFill>
                  <a:srgbClr val="000000"/>
                </a:solidFill>
                <a:latin typeface="Calibri"/>
              </a:rPr>
              <a:t> Cambial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843336" y="4204411"/>
            <a:ext cx="297728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Taxa de Cambio</a:t>
            </a:r>
          </a:p>
        </p:txBody>
      </p:sp>
      <p:pic>
        <p:nvPicPr>
          <p:cNvPr id="124" name="Picture 1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" y="4400092"/>
            <a:ext cx="5838444" cy="1698955"/>
          </a:xfrm>
          <a:prstGeom prst="rect">
            <a:avLst/>
          </a:prstGeom>
        </p:spPr>
      </p:pic>
      <p:pic>
        <p:nvPicPr>
          <p:cNvPr id="125" name="Picture 124" descr="icon_fx_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4181" y="609904"/>
            <a:ext cx="432511" cy="427024"/>
          </a:xfrm>
          <a:prstGeom prst="rect">
            <a:avLst/>
          </a:prstGeom>
        </p:spPr>
      </p:pic>
      <p:pic>
        <p:nvPicPr>
          <p:cNvPr id="127" name="Picture 126" descr="footer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  <p:sp>
        <p:nvSpPr>
          <p:cNvPr id="128" name="Oval 127">
            <a:extLst>
              <a:ext uri="{FF2B5EF4-FFF2-40B4-BE49-F238E27FC236}">
                <a16:creationId xmlns:a16="http://schemas.microsoft.com/office/drawing/2014/main" id="{A5AD922E-F479-5BE3-5487-58F74ECE9165}"/>
              </a:ext>
            </a:extLst>
          </p:cNvPr>
          <p:cNvSpPr/>
          <p:nvPr/>
        </p:nvSpPr>
        <p:spPr>
          <a:xfrm>
            <a:off x="7774345" y="1300249"/>
            <a:ext cx="1134621" cy="892386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glow rad="101600">
              <a:schemeClr val="accent2">
                <a:lumMod val="50000"/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1100" b="1" dirty="0">
                <a:solidFill>
                  <a:schemeClr val="bg1"/>
                </a:solidFill>
              </a:rPr>
              <a:t>USD </a:t>
            </a:r>
          </a:p>
          <a:p>
            <a:pPr algn="ctr"/>
            <a:r>
              <a:rPr lang="pt-PT" sz="1100" b="1" dirty="0">
                <a:solidFill>
                  <a:schemeClr val="bg1"/>
                </a:solidFill>
              </a:rPr>
              <a:t>{{</a:t>
            </a:r>
            <a:r>
              <a:rPr lang="pt-PT" sz="1100" b="1" dirty="0" err="1">
                <a:solidFill>
                  <a:schemeClr val="bg1"/>
                </a:solidFill>
              </a:rPr>
              <a:t>insert</a:t>
            </a:r>
            <a:r>
              <a:rPr lang="pt-PT" sz="1100" b="1" dirty="0">
                <a:solidFill>
                  <a:schemeClr val="bg1"/>
                </a:solidFill>
              </a:rPr>
              <a:t>}</a:t>
            </a:r>
          </a:p>
          <a:p>
            <a:pPr algn="ctr"/>
            <a:r>
              <a:rPr lang="pt-PT" sz="1100" b="1" dirty="0">
                <a:solidFill>
                  <a:schemeClr val="bg1"/>
                </a:solidFill>
              </a:rPr>
              <a:t>M</a:t>
            </a:r>
          </a:p>
          <a:p>
            <a:pPr algn="ctr"/>
            <a:r>
              <a:rPr lang="pt-PT" sz="800" b="1" dirty="0">
                <a:solidFill>
                  <a:schemeClr val="bg1"/>
                </a:solidFill>
              </a:rPr>
              <a:t>Transações 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0A239A06-EEEE-BBAF-2406-CB038D35942B}"/>
              </a:ext>
            </a:extLst>
          </p:cNvPr>
          <p:cNvSpPr/>
          <p:nvPr/>
        </p:nvSpPr>
        <p:spPr>
          <a:xfrm>
            <a:off x="9425224" y="1329456"/>
            <a:ext cx="1134621" cy="872266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glow rad="101600">
              <a:schemeClr val="accent2">
                <a:lumMod val="50000"/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1100" b="1" dirty="0" err="1">
                <a:solidFill>
                  <a:schemeClr val="bg1"/>
                </a:solidFill>
              </a:rPr>
              <a:t>Kz</a:t>
            </a:r>
            <a:r>
              <a:rPr lang="pt-PT" sz="11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pt-PT" sz="1100" b="1" dirty="0">
                <a:solidFill>
                  <a:schemeClr val="bg1"/>
                </a:solidFill>
              </a:rPr>
              <a:t>{{</a:t>
            </a:r>
            <a:r>
              <a:rPr lang="pt-PT" sz="1100" b="1" dirty="0" err="1">
                <a:solidFill>
                  <a:schemeClr val="bg1"/>
                </a:solidFill>
              </a:rPr>
              <a:t>insert</a:t>
            </a:r>
            <a:r>
              <a:rPr lang="pt-PT" sz="1100" b="1" dirty="0">
                <a:solidFill>
                  <a:schemeClr val="bg1"/>
                </a:solidFill>
              </a:rPr>
              <a:t>}]</a:t>
            </a:r>
            <a:r>
              <a:rPr lang="pt-PT" sz="1100" b="1" dirty="0" err="1">
                <a:solidFill>
                  <a:schemeClr val="bg1"/>
                </a:solidFill>
              </a:rPr>
              <a:t>mM</a:t>
            </a:r>
            <a:endParaRPr lang="pt-PT" sz="1100" b="1" dirty="0">
              <a:solidFill>
                <a:schemeClr val="bg1"/>
              </a:solidFill>
            </a:endParaRPr>
          </a:p>
          <a:p>
            <a:pPr algn="ctr"/>
            <a:r>
              <a:rPr lang="pt-PT" sz="800" b="1" dirty="0">
                <a:solidFill>
                  <a:schemeClr val="bg1"/>
                </a:solidFill>
              </a:rPr>
              <a:t>PC</a:t>
            </a:r>
          </a:p>
        </p:txBody>
      </p:sp>
      <p:pic>
        <p:nvPicPr>
          <p:cNvPr id="130" name="Picture 11" descr="Data, money, shopping, online, business, commerce icon - Download on ...">
            <a:extLst>
              <a:ext uri="{FF2B5EF4-FFF2-40B4-BE49-F238E27FC236}">
                <a16:creationId xmlns:a16="http://schemas.microsoft.com/office/drawing/2014/main" id="{1F6117B9-DCEB-0BE0-CBCF-C6C0B4B08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708" y="2242569"/>
            <a:ext cx="496594" cy="48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EA67EC37-420C-8074-3C53-178548E3FFF5}"/>
              </a:ext>
            </a:extLst>
          </p:cNvPr>
          <p:cNvSpPr txBox="1"/>
          <p:nvPr/>
        </p:nvSpPr>
        <p:spPr>
          <a:xfrm>
            <a:off x="6094412" y="4711521"/>
            <a:ext cx="59453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dirty="0"/>
              <a:t>{{</a:t>
            </a:r>
            <a:r>
              <a:rPr lang="pt-PT" sz="1800" b="1" dirty="0" err="1"/>
              <a:t>insert</a:t>
            </a:r>
            <a:r>
              <a:rPr lang="pt-PT" sz="1800" b="1" dirty="0"/>
              <a:t> Posi</a:t>
            </a:r>
            <a:r>
              <a:rPr lang="pt-PT" b="1" dirty="0"/>
              <a:t>ção Cambial </a:t>
            </a:r>
            <a:r>
              <a:rPr lang="pt-PT" b="1" dirty="0" err="1"/>
              <a:t>Graph</a:t>
            </a:r>
            <a:r>
              <a:rPr lang="pt-PT" b="1" dirty="0"/>
              <a:t> </a:t>
            </a:r>
            <a:r>
              <a:rPr lang="pt-PT" b="1" dirty="0" err="1"/>
              <a:t>Here</a:t>
            </a:r>
            <a:r>
              <a:rPr lang="pt-PT" b="1" dirty="0"/>
              <a:t> </a:t>
            </a:r>
            <a:r>
              <a:rPr lang="pt-PT" b="1" dirty="0" err="1"/>
              <a:t>Based</a:t>
            </a:r>
            <a:r>
              <a:rPr lang="pt-PT" b="1" dirty="0"/>
              <a:t> </a:t>
            </a:r>
            <a:r>
              <a:rPr lang="pt-PT" b="1" dirty="0" err="1"/>
              <a:t>on</a:t>
            </a:r>
            <a:r>
              <a:rPr lang="pt-PT" b="1" dirty="0"/>
              <a:t> </a:t>
            </a:r>
            <a:r>
              <a:rPr lang="pt-PT" b="1" dirty="0" err="1"/>
              <a:t>Internal</a:t>
            </a:r>
            <a:r>
              <a:rPr lang="pt-PT" b="1" dirty="0"/>
              <a:t> Data </a:t>
            </a:r>
            <a:r>
              <a:rPr lang="pt-PT" b="1" dirty="0" err="1"/>
              <a:t>and</a:t>
            </a:r>
            <a:r>
              <a:rPr lang="pt-PT" b="1" dirty="0"/>
              <a:t> </a:t>
            </a:r>
            <a:r>
              <a:rPr lang="pt-PT" b="1" dirty="0" err="1"/>
              <a:t>the</a:t>
            </a:r>
            <a:r>
              <a:rPr lang="pt-PT" b="1" dirty="0"/>
              <a:t> Sample </a:t>
            </a:r>
            <a:r>
              <a:rPr lang="pt-PT" b="1" dirty="0" err="1"/>
              <a:t>Graph</a:t>
            </a:r>
            <a:r>
              <a:rPr lang="pt-PT" sz="1800" b="1" dirty="0"/>
              <a:t>}}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6674"/>
            <a:ext cx="253288" cy="3630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2102" y="204825"/>
            <a:ext cx="10351922" cy="320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DE CAPITAIS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2102" y="555040"/>
            <a:ext cx="11640312" cy="137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2102" y="659282"/>
            <a:ext cx="6852513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2902" y="671982"/>
            <a:ext cx="6750913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Segmentado Por Produtos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2102" y="915314"/>
            <a:ext cx="27432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7502" y="92801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Segmento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5302" y="915314"/>
            <a:ext cx="1369771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75073" y="915314"/>
            <a:ext cx="1369771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44844" y="915314"/>
            <a:ext cx="1369771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70244" y="928014"/>
            <a:ext cx="1318971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102" y="1171346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7502" y="118404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De Tesouro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5302" y="1171346"/>
            <a:ext cx="136977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75073" y="1171346"/>
            <a:ext cx="136977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44844" y="1171346"/>
            <a:ext cx="136977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2102" y="1427378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7502" y="144007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Bilhetes Do Tesouro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5302" y="1427378"/>
            <a:ext cx="136977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75073" y="1427378"/>
            <a:ext cx="136977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44844" y="1427378"/>
            <a:ext cx="136977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2102" y="1683410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7502" y="1696110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Privadas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5302" y="1683410"/>
            <a:ext cx="136977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75073" y="1683410"/>
            <a:ext cx="136977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844844" y="1683410"/>
            <a:ext cx="136977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2102" y="1939442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7502" y="1952142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Unidades De Participações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5302" y="1939442"/>
            <a:ext cx="136977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475073" y="1939442"/>
            <a:ext cx="136977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844844" y="1939442"/>
            <a:ext cx="136977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62102" y="2195474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7502" y="220817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Acções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5302" y="2195474"/>
            <a:ext cx="136977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475073" y="2195474"/>
            <a:ext cx="136977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844844" y="2195474"/>
            <a:ext cx="136977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2102" y="2451506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7502" y="246420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Repos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05302" y="2451506"/>
            <a:ext cx="136977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475073" y="2451506"/>
            <a:ext cx="136977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844844" y="2451506"/>
            <a:ext cx="136977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62102" y="2707538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87502" y="272023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Total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05302" y="2707538"/>
            <a:ext cx="136977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475073" y="2707538"/>
            <a:ext cx="136977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844844" y="2707538"/>
            <a:ext cx="1369771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353458" y="2925165"/>
            <a:ext cx="1273759" cy="36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Kz  Transações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53458" y="3294911"/>
            <a:ext cx="1273759" cy="56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64.035 mM Kz</a:t>
            </a:r>
          </a:p>
        </p:txBody>
      </p:sp>
      <p:pic>
        <p:nvPicPr>
          <p:cNvPr id="124" name="Picture 123" descr="foot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  <p:graphicFrame>
        <p:nvGraphicFramePr>
          <p:cNvPr id="125" name="Table 124">
            <a:extLst>
              <a:ext uri="{FF2B5EF4-FFF2-40B4-BE49-F238E27FC236}">
                <a16:creationId xmlns:a16="http://schemas.microsoft.com/office/drawing/2014/main" id="{754B14BA-BF7E-70CE-C06B-F58FB4DE5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397282"/>
              </p:ext>
            </p:extLst>
          </p:nvPr>
        </p:nvGraphicFramePr>
        <p:xfrm>
          <a:off x="362102" y="4472543"/>
          <a:ext cx="8229601" cy="1669269"/>
        </p:xfrm>
        <a:graphic>
          <a:graphicData uri="http://schemas.openxmlformats.org/drawingml/2006/table">
            <a:tbl>
              <a:tblPr/>
              <a:tblGrid>
                <a:gridCol w="1901382">
                  <a:extLst>
                    <a:ext uri="{9D8B030D-6E8A-4147-A177-3AD203B41FA5}">
                      <a16:colId xmlns:a16="http://schemas.microsoft.com/office/drawing/2014/main" val="3563368310"/>
                    </a:ext>
                  </a:extLst>
                </a:gridCol>
                <a:gridCol w="1391042">
                  <a:extLst>
                    <a:ext uri="{9D8B030D-6E8A-4147-A177-3AD203B41FA5}">
                      <a16:colId xmlns:a16="http://schemas.microsoft.com/office/drawing/2014/main" val="3094032385"/>
                    </a:ext>
                  </a:extLst>
                </a:gridCol>
                <a:gridCol w="1294806">
                  <a:extLst>
                    <a:ext uri="{9D8B030D-6E8A-4147-A177-3AD203B41FA5}">
                      <a16:colId xmlns:a16="http://schemas.microsoft.com/office/drawing/2014/main" val="2073842671"/>
                    </a:ext>
                  </a:extLst>
                </a:gridCol>
                <a:gridCol w="1014848">
                  <a:extLst>
                    <a:ext uri="{9D8B030D-6E8A-4147-A177-3AD203B41FA5}">
                      <a16:colId xmlns:a16="http://schemas.microsoft.com/office/drawing/2014/main" val="2813513142"/>
                    </a:ext>
                  </a:extLst>
                </a:gridCol>
                <a:gridCol w="936110">
                  <a:extLst>
                    <a:ext uri="{9D8B030D-6E8A-4147-A177-3AD203B41FA5}">
                      <a16:colId xmlns:a16="http://schemas.microsoft.com/office/drawing/2014/main" val="379498125"/>
                    </a:ext>
                  </a:extLst>
                </a:gridCol>
                <a:gridCol w="1691413">
                  <a:extLst>
                    <a:ext uri="{9D8B030D-6E8A-4147-A177-3AD203B41FA5}">
                      <a16:colId xmlns:a16="http://schemas.microsoft.com/office/drawing/2014/main" val="2751443209"/>
                    </a:ext>
                  </a:extLst>
                </a:gridCol>
              </a:tblGrid>
              <a:tr h="163425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094733"/>
                  </a:ext>
                </a:extLst>
              </a:tr>
              <a:tr h="1634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C00000"/>
                          </a:solidFill>
                          <a:effectLst/>
                          <a:latin typeface="Arial Narrow" panose="020B0604020202020204" pitchFamily="34" charset="0"/>
                        </a:rPr>
                        <a:t>Mercado de Bolsas de Acções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Volume Transacionado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Preço Anterior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Preço Atual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Variação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Capitalização Bolsista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42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848535"/>
                  </a:ext>
                </a:extLst>
              </a:tr>
              <a:tr h="17509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BAIAAAAA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833375"/>
                  </a:ext>
                </a:extLst>
              </a:tr>
              <a:tr h="163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BDVAAAAA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728061"/>
                  </a:ext>
                </a:extLst>
              </a:tr>
              <a:tr h="163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BCGAAAAA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84583"/>
                  </a:ext>
                </a:extLst>
              </a:tr>
              <a:tr h="17509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ENSAAAAA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B05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705561"/>
                  </a:ext>
                </a:extLst>
              </a:tr>
              <a:tr h="163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BFAAAAAA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877332"/>
                  </a:ext>
                </a:extLst>
              </a:tr>
              <a:tr h="163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94924"/>
                  </a:ext>
                </a:extLst>
              </a:tr>
              <a:tr h="163425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621847"/>
                  </a:ext>
                </a:extLst>
              </a:tr>
              <a:tr h="175098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156932"/>
                  </a:ext>
                </a:extLst>
              </a:tr>
            </a:tbl>
          </a:graphicData>
        </a:graphic>
      </p:graphicFrame>
      <p:grpSp>
        <p:nvGrpSpPr>
          <p:cNvPr id="127" name="Agrupar 1">
            <a:extLst>
              <a:ext uri="{FF2B5EF4-FFF2-40B4-BE49-F238E27FC236}">
                <a16:creationId xmlns:a16="http://schemas.microsoft.com/office/drawing/2014/main" id="{90F1D7C6-54D8-FA76-CB79-4418B06DC7CC}"/>
              </a:ext>
            </a:extLst>
          </p:cNvPr>
          <p:cNvGrpSpPr/>
          <p:nvPr/>
        </p:nvGrpSpPr>
        <p:grpSpPr>
          <a:xfrm>
            <a:off x="2443772" y="3101857"/>
            <a:ext cx="3363926" cy="1393257"/>
            <a:chOff x="2368913" y="4143835"/>
            <a:chExt cx="5333742" cy="1393257"/>
          </a:xfrm>
        </p:grpSpPr>
        <p:grpSp>
          <p:nvGrpSpPr>
            <p:cNvPr id="128" name="Agrupar 3">
              <a:extLst>
                <a:ext uri="{FF2B5EF4-FFF2-40B4-BE49-F238E27FC236}">
                  <a16:creationId xmlns:a16="http://schemas.microsoft.com/office/drawing/2014/main" id="{C9A47F69-09D8-78EC-F37F-BFEFA3942D8C}"/>
                </a:ext>
              </a:extLst>
            </p:cNvPr>
            <p:cNvGrpSpPr/>
            <p:nvPr/>
          </p:nvGrpSpPr>
          <p:grpSpPr>
            <a:xfrm>
              <a:off x="2933122" y="4143835"/>
              <a:ext cx="4769533" cy="1393257"/>
              <a:chOff x="6539922" y="4143835"/>
              <a:chExt cx="4769533" cy="1393257"/>
            </a:xfrm>
          </p:grpSpPr>
          <p:sp>
            <p:nvSpPr>
              <p:cNvPr id="131" name="Rectangle 15">
                <a:extLst>
                  <a:ext uri="{FF2B5EF4-FFF2-40B4-BE49-F238E27FC236}">
                    <a16:creationId xmlns:a16="http://schemas.microsoft.com/office/drawing/2014/main" id="{931A592F-8F7E-0E5D-FCB1-1ACBE940874E}"/>
                  </a:ext>
                </a:extLst>
              </p:cNvPr>
              <p:cNvSpPr/>
              <p:nvPr/>
            </p:nvSpPr>
            <p:spPr>
              <a:xfrm>
                <a:off x="6905278" y="4232616"/>
                <a:ext cx="4365840" cy="13044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endParaRPr lang="pt-BR" sz="1600" dirty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132" name="Rectangle 19">
                <a:extLst>
                  <a:ext uri="{FF2B5EF4-FFF2-40B4-BE49-F238E27FC236}">
                    <a16:creationId xmlns:a16="http://schemas.microsoft.com/office/drawing/2014/main" id="{E88325A5-C52A-6179-4139-59CD75F7B848}"/>
                  </a:ext>
                </a:extLst>
              </p:cNvPr>
              <p:cNvSpPr/>
              <p:nvPr/>
            </p:nvSpPr>
            <p:spPr>
              <a:xfrm>
                <a:off x="6539922" y="4143835"/>
                <a:ext cx="4769533" cy="21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endParaRPr lang="pt-PT" sz="800" dirty="0"/>
              </a:p>
            </p:txBody>
          </p:sp>
        </p:grpSp>
        <p:sp>
          <p:nvSpPr>
            <p:cNvPr id="129" name="Arrow: Chevron 18">
              <a:extLst>
                <a:ext uri="{FF2B5EF4-FFF2-40B4-BE49-F238E27FC236}">
                  <a16:creationId xmlns:a16="http://schemas.microsoft.com/office/drawing/2014/main" id="{6D40C5CE-6AAC-2C6B-CA75-3B0C1AE5D547}"/>
                </a:ext>
              </a:extLst>
            </p:cNvPr>
            <p:cNvSpPr/>
            <p:nvPr/>
          </p:nvSpPr>
          <p:spPr>
            <a:xfrm>
              <a:off x="2719763" y="4857036"/>
              <a:ext cx="426721" cy="245641"/>
            </a:xfrm>
            <a:prstGeom prst="chevron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pt-PT" sz="1600" dirty="0">
                <a:solidFill>
                  <a:schemeClr val="tx1"/>
                </a:solidFill>
              </a:endParaRPr>
            </a:p>
          </p:txBody>
        </p:sp>
        <p:sp>
          <p:nvSpPr>
            <p:cNvPr id="130" name="Arrow: Chevron 23">
              <a:extLst>
                <a:ext uri="{FF2B5EF4-FFF2-40B4-BE49-F238E27FC236}">
                  <a16:creationId xmlns:a16="http://schemas.microsoft.com/office/drawing/2014/main" id="{206EA3E4-0CE2-4690-AEB9-7D585F3DF73E}"/>
                </a:ext>
              </a:extLst>
            </p:cNvPr>
            <p:cNvSpPr/>
            <p:nvPr/>
          </p:nvSpPr>
          <p:spPr>
            <a:xfrm>
              <a:off x="2368913" y="4860971"/>
              <a:ext cx="426721" cy="245641"/>
            </a:xfrm>
            <a:prstGeom prst="chevron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pt-PT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133" name="Oval 132">
            <a:extLst>
              <a:ext uri="{FF2B5EF4-FFF2-40B4-BE49-F238E27FC236}">
                <a16:creationId xmlns:a16="http://schemas.microsoft.com/office/drawing/2014/main" id="{8DA51418-5563-86DE-DCF9-28AB3025677E}"/>
              </a:ext>
            </a:extLst>
          </p:cNvPr>
          <p:cNvSpPr/>
          <p:nvPr/>
        </p:nvSpPr>
        <p:spPr>
          <a:xfrm>
            <a:off x="3829912" y="3372812"/>
            <a:ext cx="1346763" cy="967842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glow rad="101600">
              <a:schemeClr val="accent2">
                <a:lumMod val="50000"/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1200" b="1" dirty="0" err="1">
                <a:solidFill>
                  <a:schemeClr val="bg1"/>
                </a:solidFill>
              </a:rPr>
              <a:t>Kz</a:t>
            </a:r>
            <a:r>
              <a:rPr lang="pt-PT" sz="12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pt-PT" sz="1200" b="1" dirty="0">
                <a:solidFill>
                  <a:schemeClr val="bg1"/>
                </a:solidFill>
              </a:rPr>
              <a:t>{{</a:t>
            </a:r>
            <a:r>
              <a:rPr lang="pt-PT" sz="1200" b="1" dirty="0" err="1">
                <a:solidFill>
                  <a:schemeClr val="bg1"/>
                </a:solidFill>
              </a:rPr>
              <a:t>insert</a:t>
            </a:r>
            <a:r>
              <a:rPr lang="pt-PT" sz="1200" b="1" dirty="0">
                <a:solidFill>
                  <a:schemeClr val="bg1"/>
                </a:solidFill>
              </a:rPr>
              <a:t>}} </a:t>
            </a:r>
            <a:r>
              <a:rPr lang="pt-PT" sz="1200" b="1" dirty="0" err="1">
                <a:solidFill>
                  <a:schemeClr val="bg1"/>
                </a:solidFill>
              </a:rPr>
              <a:t>mM</a:t>
            </a:r>
            <a:endParaRPr lang="pt-PT" sz="1200" b="1" dirty="0">
              <a:solidFill>
                <a:schemeClr val="bg1"/>
              </a:solidFill>
            </a:endParaRPr>
          </a:p>
          <a:p>
            <a:pPr algn="ctr"/>
            <a:r>
              <a:rPr lang="pt-PT" sz="800" b="1" dirty="0">
                <a:solidFill>
                  <a:schemeClr val="bg1"/>
                </a:solidFill>
              </a:rPr>
              <a:t>Transações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E5A3485-CE5A-E671-3F7F-4F38BEB63181}"/>
              </a:ext>
            </a:extLst>
          </p:cNvPr>
          <p:cNvSpPr txBox="1"/>
          <p:nvPr/>
        </p:nvSpPr>
        <p:spPr>
          <a:xfrm>
            <a:off x="8302703" y="1234445"/>
            <a:ext cx="290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dirty="0"/>
              <a:t>{{</a:t>
            </a:r>
            <a:r>
              <a:rPr lang="pt-PT" sz="1800" b="1" dirty="0" err="1"/>
              <a:t>insert</a:t>
            </a:r>
            <a:r>
              <a:rPr lang="pt-PT" sz="1800" b="1" dirty="0"/>
              <a:t> Pie </a:t>
            </a:r>
            <a:r>
              <a:rPr lang="pt-PT" sz="1800" b="1" dirty="0" err="1"/>
              <a:t>chart</a:t>
            </a:r>
            <a:r>
              <a:rPr lang="pt-PT" sz="1800" b="1" dirty="0"/>
              <a:t> </a:t>
            </a:r>
            <a:r>
              <a:rPr lang="pt-PT" sz="1800" b="1" dirty="0" err="1"/>
              <a:t>Visualizing</a:t>
            </a:r>
            <a:r>
              <a:rPr lang="pt-PT" sz="1800" b="1" dirty="0"/>
              <a:t> </a:t>
            </a:r>
            <a:r>
              <a:rPr lang="pt-PT" sz="1800" b="1" dirty="0" err="1"/>
              <a:t>the</a:t>
            </a:r>
            <a:r>
              <a:rPr lang="pt-PT" sz="1800" b="1" dirty="0"/>
              <a:t> </a:t>
            </a:r>
            <a:r>
              <a:rPr lang="pt-PT" sz="1800" b="1" dirty="0" err="1"/>
              <a:t>Distribution</a:t>
            </a:r>
            <a:r>
              <a:rPr lang="pt-PT" sz="1800" b="1" dirty="0"/>
              <a:t> </a:t>
            </a:r>
            <a:r>
              <a:rPr lang="pt-PT" sz="1800" b="1" dirty="0" err="1"/>
              <a:t>of</a:t>
            </a:r>
            <a:r>
              <a:rPr lang="pt-PT" sz="1800" b="1" dirty="0"/>
              <a:t> </a:t>
            </a:r>
            <a:r>
              <a:rPr lang="pt-PT" sz="1800" b="1" dirty="0" err="1"/>
              <a:t>the</a:t>
            </a:r>
            <a:r>
              <a:rPr lang="pt-PT" sz="1800" b="1" dirty="0"/>
              <a:t> </a:t>
            </a:r>
            <a:r>
              <a:rPr lang="pt-PT" sz="1800" b="1" dirty="0" err="1"/>
              <a:t>First</a:t>
            </a:r>
            <a:r>
              <a:rPr lang="pt-PT" sz="1800" b="1" dirty="0"/>
              <a:t> </a:t>
            </a:r>
            <a:r>
              <a:rPr lang="pt-PT" sz="1800" b="1" dirty="0" err="1"/>
              <a:t>Table</a:t>
            </a:r>
            <a:r>
              <a:rPr lang="pt-PT" sz="1800" b="1" dirty="0"/>
              <a:t>}}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6674"/>
            <a:ext cx="253288" cy="3630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2102" y="204825"/>
            <a:ext cx="10351922" cy="320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DE CAPITAIS – OPERAÇÕES BDA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2102" y="555040"/>
            <a:ext cx="11640312" cy="137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151376" y="5687202"/>
            <a:ext cx="1115568" cy="466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674,9 mM Kz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522976" y="5687202"/>
            <a:ext cx="1115568" cy="466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18,5 mM Kz</a:t>
            </a:r>
          </a:p>
        </p:txBody>
      </p:sp>
      <p:pic>
        <p:nvPicPr>
          <p:cNvPr id="149" name="Picture 148" descr="foot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  <p:grpSp>
        <p:nvGrpSpPr>
          <p:cNvPr id="160" name="Group 159">
            <a:extLst>
              <a:ext uri="{FF2B5EF4-FFF2-40B4-BE49-F238E27FC236}">
                <a16:creationId xmlns:a16="http://schemas.microsoft.com/office/drawing/2014/main" id="{BBF247F4-210E-6B86-90BA-1BAC4C999F85}"/>
              </a:ext>
            </a:extLst>
          </p:cNvPr>
          <p:cNvGrpSpPr/>
          <p:nvPr/>
        </p:nvGrpSpPr>
        <p:grpSpPr>
          <a:xfrm>
            <a:off x="3856100" y="1512310"/>
            <a:ext cx="3363926" cy="1337965"/>
            <a:chOff x="3764813" y="1816465"/>
            <a:chExt cx="3363926" cy="1337965"/>
          </a:xfrm>
        </p:grpSpPr>
        <p:grpSp>
          <p:nvGrpSpPr>
            <p:cNvPr id="150" name="Agrupar 17">
              <a:extLst>
                <a:ext uri="{FF2B5EF4-FFF2-40B4-BE49-F238E27FC236}">
                  <a16:creationId xmlns:a16="http://schemas.microsoft.com/office/drawing/2014/main" id="{A6D064CC-358C-8EB9-2972-4A2CE060B711}"/>
                </a:ext>
              </a:extLst>
            </p:cNvPr>
            <p:cNvGrpSpPr/>
            <p:nvPr/>
          </p:nvGrpSpPr>
          <p:grpSpPr>
            <a:xfrm>
              <a:off x="3764813" y="1816465"/>
              <a:ext cx="3363926" cy="1337965"/>
              <a:chOff x="2368913" y="4143835"/>
              <a:chExt cx="5333742" cy="1337965"/>
            </a:xfrm>
          </p:grpSpPr>
          <p:grpSp>
            <p:nvGrpSpPr>
              <p:cNvPr id="151" name="Agrupar 19">
                <a:extLst>
                  <a:ext uri="{FF2B5EF4-FFF2-40B4-BE49-F238E27FC236}">
                    <a16:creationId xmlns:a16="http://schemas.microsoft.com/office/drawing/2014/main" id="{9DEF7015-CD2F-9911-A5EB-D3F7204D51C4}"/>
                  </a:ext>
                </a:extLst>
              </p:cNvPr>
              <p:cNvGrpSpPr/>
              <p:nvPr/>
            </p:nvGrpSpPr>
            <p:grpSpPr>
              <a:xfrm>
                <a:off x="2933122" y="4143835"/>
                <a:ext cx="4769533" cy="1337965"/>
                <a:chOff x="6539922" y="4143835"/>
                <a:chExt cx="4769533" cy="1337965"/>
              </a:xfrm>
            </p:grpSpPr>
            <p:sp>
              <p:nvSpPr>
                <p:cNvPr id="154" name="Rectangle 15">
                  <a:extLst>
                    <a:ext uri="{FF2B5EF4-FFF2-40B4-BE49-F238E27FC236}">
                      <a16:creationId xmlns:a16="http://schemas.microsoft.com/office/drawing/2014/main" id="{CAE15935-A775-5799-3492-54CF01BE58A5}"/>
                    </a:ext>
                  </a:extLst>
                </p:cNvPr>
                <p:cNvSpPr/>
                <p:nvPr/>
              </p:nvSpPr>
              <p:spPr>
                <a:xfrm>
                  <a:off x="6882277" y="4177324"/>
                  <a:ext cx="4365840" cy="130447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endParaRPr lang="pt-BR" sz="1600" dirty="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5" name="Rectangle 19">
                  <a:extLst>
                    <a:ext uri="{FF2B5EF4-FFF2-40B4-BE49-F238E27FC236}">
                      <a16:creationId xmlns:a16="http://schemas.microsoft.com/office/drawing/2014/main" id="{CAC85E44-2465-2D08-D59A-C6E51F967C0B}"/>
                    </a:ext>
                  </a:extLst>
                </p:cNvPr>
                <p:cNvSpPr/>
                <p:nvPr/>
              </p:nvSpPr>
              <p:spPr>
                <a:xfrm>
                  <a:off x="6539922" y="4143835"/>
                  <a:ext cx="4769533" cy="21544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endParaRPr lang="pt-PT" sz="800" dirty="0"/>
                </a:p>
              </p:txBody>
            </p:sp>
          </p:grpSp>
          <p:sp>
            <p:nvSpPr>
              <p:cNvPr id="152" name="Arrow: Chevron 18">
                <a:extLst>
                  <a:ext uri="{FF2B5EF4-FFF2-40B4-BE49-F238E27FC236}">
                    <a16:creationId xmlns:a16="http://schemas.microsoft.com/office/drawing/2014/main" id="{86476642-B877-9549-08A5-5EC6B603736F}"/>
                  </a:ext>
                </a:extLst>
              </p:cNvPr>
              <p:cNvSpPr/>
              <p:nvPr/>
            </p:nvSpPr>
            <p:spPr>
              <a:xfrm>
                <a:off x="2719763" y="4659809"/>
                <a:ext cx="426721" cy="245641"/>
              </a:xfrm>
              <a:prstGeom prst="chevron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endParaRPr lang="pt-PT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Arrow: Chevron 23">
                <a:extLst>
                  <a:ext uri="{FF2B5EF4-FFF2-40B4-BE49-F238E27FC236}">
                    <a16:creationId xmlns:a16="http://schemas.microsoft.com/office/drawing/2014/main" id="{2E7505E8-6859-86D7-D5A3-90BC158EA070}"/>
                  </a:ext>
                </a:extLst>
              </p:cNvPr>
              <p:cNvSpPr/>
              <p:nvPr/>
            </p:nvSpPr>
            <p:spPr>
              <a:xfrm>
                <a:off x="2368913" y="4663744"/>
                <a:ext cx="426721" cy="245641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endParaRPr lang="pt-PT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8835AC65-8A1B-B266-CFD8-511E00B17950}"/>
                </a:ext>
              </a:extLst>
            </p:cNvPr>
            <p:cNvSpPr/>
            <p:nvPr/>
          </p:nvSpPr>
          <p:spPr>
            <a:xfrm>
              <a:off x="4508414" y="2120166"/>
              <a:ext cx="1148640" cy="805877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  <a:effectLst>
              <a:glow rad="101600">
                <a:schemeClr val="accent2">
                  <a:lumMod val="50000"/>
                  <a:alpha val="6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1200" b="1" dirty="0" err="1">
                  <a:solidFill>
                    <a:schemeClr val="bg1"/>
                  </a:solidFill>
                </a:rPr>
                <a:t>Kz</a:t>
              </a:r>
              <a:r>
                <a:rPr lang="pt-PT" sz="1200" b="1" dirty="0">
                  <a:solidFill>
                    <a:schemeClr val="bg1"/>
                  </a:solidFill>
                </a:rPr>
                <a:t> </a:t>
              </a:r>
            </a:p>
            <a:p>
              <a:pPr algn="ctr"/>
              <a:r>
                <a:rPr lang="pt-PT" sz="1200" b="1" dirty="0">
                  <a:solidFill>
                    <a:schemeClr val="bg1"/>
                  </a:solidFill>
                </a:rPr>
                <a:t>{{</a:t>
              </a:r>
              <a:r>
                <a:rPr lang="pt-PT" sz="1200" b="1" dirty="0" err="1">
                  <a:solidFill>
                    <a:schemeClr val="bg1"/>
                  </a:solidFill>
                </a:rPr>
                <a:t>Insert</a:t>
              </a:r>
              <a:r>
                <a:rPr lang="pt-PT" sz="1200" b="1" dirty="0">
                  <a:solidFill>
                    <a:schemeClr val="bg1"/>
                  </a:solidFill>
                </a:rPr>
                <a:t>}}</a:t>
              </a:r>
            </a:p>
            <a:p>
              <a:pPr algn="ctr"/>
              <a:r>
                <a:rPr lang="pt-PT" sz="800" b="1" dirty="0">
                  <a:solidFill>
                    <a:schemeClr val="bg1"/>
                  </a:solidFill>
                </a:rPr>
                <a:t>Transações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E7FEBE27-9ABB-BF49-127D-16415774D8CD}"/>
                </a:ext>
              </a:extLst>
            </p:cNvPr>
            <p:cNvSpPr/>
            <p:nvPr/>
          </p:nvSpPr>
          <p:spPr>
            <a:xfrm>
              <a:off x="5657054" y="2120166"/>
              <a:ext cx="1148640" cy="805877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  <a:effectLst>
              <a:glow rad="101600">
                <a:schemeClr val="accent2">
                  <a:lumMod val="50000"/>
                  <a:alpha val="6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1200" b="1" dirty="0" err="1">
                  <a:solidFill>
                    <a:schemeClr val="bg1"/>
                  </a:solidFill>
                </a:rPr>
                <a:t>Kz</a:t>
              </a:r>
              <a:r>
                <a:rPr lang="pt-PT" sz="1200" b="1" dirty="0">
                  <a:solidFill>
                    <a:schemeClr val="bg1"/>
                  </a:solidFill>
                </a:rPr>
                <a:t> </a:t>
              </a:r>
            </a:p>
            <a:p>
              <a:pPr algn="ctr"/>
              <a:r>
                <a:rPr lang="pt-PT" sz="1200" b="1" dirty="0">
                  <a:solidFill>
                    <a:schemeClr val="bg1"/>
                  </a:solidFill>
                </a:rPr>
                <a:t>{{</a:t>
              </a:r>
              <a:r>
                <a:rPr lang="pt-PT" sz="1200" b="1" dirty="0" err="1">
                  <a:solidFill>
                    <a:schemeClr val="bg1"/>
                  </a:solidFill>
                </a:rPr>
                <a:t>insert</a:t>
              </a:r>
              <a:r>
                <a:rPr lang="pt-PT" sz="1200" b="1" dirty="0">
                  <a:solidFill>
                    <a:schemeClr val="bg1"/>
                  </a:solidFill>
                </a:rPr>
                <a:t>}}</a:t>
              </a:r>
            </a:p>
            <a:p>
              <a:pPr algn="ctr"/>
              <a:r>
                <a:rPr lang="pt-PT" sz="800" b="1" dirty="0">
                  <a:solidFill>
                    <a:schemeClr val="bg1"/>
                  </a:solidFill>
                </a:rPr>
                <a:t>Juros Diário</a:t>
              </a:r>
            </a:p>
          </p:txBody>
        </p:sp>
      </p:grpSp>
      <p:pic>
        <p:nvPicPr>
          <p:cNvPr id="158" name="Imagem 1">
            <a:extLst>
              <a:ext uri="{FF2B5EF4-FFF2-40B4-BE49-F238E27FC236}">
                <a16:creationId xmlns:a16="http://schemas.microsoft.com/office/drawing/2014/main" id="{1DBE03F7-B6D6-2710-D8BF-D77C33C5B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253" y="655007"/>
            <a:ext cx="7848600" cy="685800"/>
          </a:xfrm>
          <a:prstGeom prst="rect">
            <a:avLst/>
          </a:prstGeom>
        </p:spPr>
      </p:pic>
      <p:graphicFrame>
        <p:nvGraphicFramePr>
          <p:cNvPr id="162" name="Table 161">
            <a:extLst>
              <a:ext uri="{FF2B5EF4-FFF2-40B4-BE49-F238E27FC236}">
                <a16:creationId xmlns:a16="http://schemas.microsoft.com/office/drawing/2014/main" id="{43D08F0E-6615-74EB-8F4F-FFECDDC4D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76727"/>
              </p:ext>
            </p:extLst>
          </p:nvPr>
        </p:nvGraphicFramePr>
        <p:xfrm>
          <a:off x="1601183" y="3535922"/>
          <a:ext cx="8229599" cy="2069760"/>
        </p:xfrm>
        <a:graphic>
          <a:graphicData uri="http://schemas.openxmlformats.org/drawingml/2006/table">
            <a:tbl>
              <a:tblPr/>
              <a:tblGrid>
                <a:gridCol w="1381064">
                  <a:extLst>
                    <a:ext uri="{9D8B030D-6E8A-4147-A177-3AD203B41FA5}">
                      <a16:colId xmlns:a16="http://schemas.microsoft.com/office/drawing/2014/main" val="3946404817"/>
                    </a:ext>
                  </a:extLst>
                </a:gridCol>
                <a:gridCol w="592174">
                  <a:extLst>
                    <a:ext uri="{9D8B030D-6E8A-4147-A177-3AD203B41FA5}">
                      <a16:colId xmlns:a16="http://schemas.microsoft.com/office/drawing/2014/main" val="1218817222"/>
                    </a:ext>
                  </a:extLst>
                </a:gridCol>
                <a:gridCol w="1030221">
                  <a:extLst>
                    <a:ext uri="{9D8B030D-6E8A-4147-A177-3AD203B41FA5}">
                      <a16:colId xmlns:a16="http://schemas.microsoft.com/office/drawing/2014/main" val="4178787560"/>
                    </a:ext>
                  </a:extLst>
                </a:gridCol>
                <a:gridCol w="900429">
                  <a:extLst>
                    <a:ext uri="{9D8B030D-6E8A-4147-A177-3AD203B41FA5}">
                      <a16:colId xmlns:a16="http://schemas.microsoft.com/office/drawing/2014/main" val="1685342676"/>
                    </a:ext>
                  </a:extLst>
                </a:gridCol>
                <a:gridCol w="657070">
                  <a:extLst>
                    <a:ext uri="{9D8B030D-6E8A-4147-A177-3AD203B41FA5}">
                      <a16:colId xmlns:a16="http://schemas.microsoft.com/office/drawing/2014/main" val="2302682494"/>
                    </a:ext>
                  </a:extLst>
                </a:gridCol>
                <a:gridCol w="845673">
                  <a:extLst>
                    <a:ext uri="{9D8B030D-6E8A-4147-A177-3AD203B41FA5}">
                      <a16:colId xmlns:a16="http://schemas.microsoft.com/office/drawing/2014/main" val="2553717048"/>
                    </a:ext>
                  </a:extLst>
                </a:gridCol>
                <a:gridCol w="900429">
                  <a:extLst>
                    <a:ext uri="{9D8B030D-6E8A-4147-A177-3AD203B41FA5}">
                      <a16:colId xmlns:a16="http://schemas.microsoft.com/office/drawing/2014/main" val="48385403"/>
                    </a:ext>
                  </a:extLst>
                </a:gridCol>
                <a:gridCol w="973437">
                  <a:extLst>
                    <a:ext uri="{9D8B030D-6E8A-4147-A177-3AD203B41FA5}">
                      <a16:colId xmlns:a16="http://schemas.microsoft.com/office/drawing/2014/main" val="4235013572"/>
                    </a:ext>
                  </a:extLst>
                </a:gridCol>
                <a:gridCol w="949102">
                  <a:extLst>
                    <a:ext uri="{9D8B030D-6E8A-4147-A177-3AD203B41FA5}">
                      <a16:colId xmlns:a16="http://schemas.microsoft.com/office/drawing/2014/main" val="1467074436"/>
                    </a:ext>
                  </a:extLst>
                </a:gridCol>
              </a:tblGrid>
              <a:tr h="162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Carteira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Cod Neg.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Quantidades D-1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Quantidades 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Valor Nominal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Taxa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Montante 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Juros Anual (Liquido)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Juros Diário 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777811"/>
                  </a:ext>
                </a:extLst>
              </a:tr>
              <a:tr h="116870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891176"/>
                  </a:ext>
                </a:extLst>
              </a:tr>
              <a:tr h="162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Custo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amortizado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90725"/>
                  </a:ext>
                </a:extLst>
              </a:tr>
              <a:tr h="162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Custo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amortizado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910917"/>
                  </a:ext>
                </a:extLst>
              </a:tr>
              <a:tr h="162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Custo amortizado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444655"/>
                  </a:ext>
                </a:extLst>
              </a:tr>
              <a:tr h="162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Custo amortizado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831588"/>
                  </a:ext>
                </a:extLst>
              </a:tr>
              <a:tr h="162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Custo amortizado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635671"/>
                  </a:ext>
                </a:extLst>
              </a:tr>
              <a:tr h="162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Justo Valor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904102"/>
                  </a:ext>
                </a:extLst>
              </a:tr>
              <a:tr h="162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Justo Valor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650787"/>
                  </a:ext>
                </a:extLst>
              </a:tr>
              <a:tr h="162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Justo Valor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415143"/>
                  </a:ext>
                </a:extLst>
              </a:tr>
              <a:tr h="162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Justo Valor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075110"/>
                  </a:ext>
                </a:extLst>
              </a:tr>
              <a:tr h="162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Justo Valor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4020202020204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D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159438"/>
                  </a:ext>
                </a:extLst>
              </a:tr>
              <a:tr h="162320">
                <a:tc gridSpan="6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422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 Narrow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422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4020202020204" pitchFamily="34" charset="0"/>
                        </a:rPr>
                        <a:t>           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42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6084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6674"/>
            <a:ext cx="253288" cy="3630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2102" y="204825"/>
            <a:ext cx="10351922" cy="320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INFORMAÇÃO DE MERCADOS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2102" y="555040"/>
            <a:ext cx="11640312" cy="137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2102" y="633679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2902" y="646379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FFFFFF"/>
                </a:solidFill>
                <a:latin typeface="Calibri"/>
              </a:rPr>
              <a:t>Capital Markets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2102" y="889711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7502" y="902411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6662" y="889711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82062" y="902411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3942" y="889711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9342" y="902411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1222" y="889711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6622" y="902411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102" y="1145743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7502" y="1158443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S&amp;P 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56662" y="1145743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82062" y="1158443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5.254,35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3942" y="1145743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79342" y="1158443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5.218,19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1222" y="1145743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76622" y="1158443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-0,69%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2102" y="1401775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7502" y="1414475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Dow Jones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56662" y="1401775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82062" y="1414475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000000"/>
                </a:solidFill>
                <a:latin typeface="Calibri"/>
              </a:rPr>
              <a:t>39.807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3942" y="1401775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79342" y="1414475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39.737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1222" y="1401775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6622" y="1414475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-0,18%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2102" y="1657807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7502" y="1670507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NASDAQ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56662" y="1657807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82062" y="1670507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16.379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3942" y="1657807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79342" y="1670507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16.156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1222" y="1657807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76622" y="1670507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-1,36%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2102" y="1913839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7502" y="1926539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NIKKEI 225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56662" y="1913839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582062" y="1926539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35.617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3942" y="1913839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79342" y="1926539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35.327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1222" y="1913839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76622" y="1926539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-0,81%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2102" y="2169871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7502" y="2182571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IBOVESPA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56662" y="2169871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582062" y="2182571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128.542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3942" y="2169871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79342" y="2182571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129.203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1222" y="2169871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76622" y="2182571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+0,51%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2102" y="2425903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7502" y="2438603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EUROSTOXX 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56662" y="2425903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582062" y="2438603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4.892,23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3942" y="2425903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79342" y="2438603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4.876,45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51222" y="2425903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776622" y="2438603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-0,32%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2102" y="2681935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87502" y="2694635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Bolsa de Londres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56662" y="2681935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582062" y="2694635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7.932,10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3942" y="2681935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679342" y="2694635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7.958,30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51222" y="2681935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776622" y="2694635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+0,33%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2102" y="2937967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87502" y="2950667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PSI 20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56662" y="2937967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582062" y="2950667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6.712,45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3942" y="2937967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679342" y="2950667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6.698,20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51222" y="2937967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776622" y="2950667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-0,21%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2102" y="3693261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12902" y="3705961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Criptomoedas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2102" y="3949293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87502" y="3961993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56662" y="3949293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582062" y="3961993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3942" y="3949293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679342" y="3961993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51222" y="3949293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776622" y="3961993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2102" y="4205325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87502" y="4218025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BITCOIN (BTC)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556662" y="4205325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582062" y="4218025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71.230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3942" y="4205325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79342" y="4218025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000000"/>
                </a:solidFill>
                <a:latin typeface="Calibri"/>
              </a:rPr>
              <a:t>69.845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751222" y="4205325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776622" y="4218025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-1,94%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2102" y="4461357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87502" y="4474057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ETHEREUM (ETH)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556662" y="4461357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582062" y="4474057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3.512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3942" y="4461357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679342" y="4474057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000000"/>
                </a:solidFill>
                <a:latin typeface="Calibri"/>
              </a:rPr>
              <a:t>3.480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751222" y="4461357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776622" y="4474057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-0,91%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2102" y="4717389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87502" y="4730089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XRP (XRP)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556662" y="4717389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582062" y="4730089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0,612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3942" y="4717389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679342" y="4730089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0,608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751222" y="4717389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776622" y="4730089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-0,65%</a:t>
            </a:r>
          </a:p>
        </p:txBody>
      </p:sp>
      <p:pic>
        <p:nvPicPr>
          <p:cNvPr id="120" name="Picture 119" descr="foot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  <p:sp>
        <p:nvSpPr>
          <p:cNvPr id="121" name="Rectangle 120">
            <a:extLst>
              <a:ext uri="{FF2B5EF4-FFF2-40B4-BE49-F238E27FC236}">
                <a16:creationId xmlns:a16="http://schemas.microsoft.com/office/drawing/2014/main" id="{E6F4CBAD-7A77-8D4A-C223-F8B68F8D160F}"/>
              </a:ext>
            </a:extLst>
          </p:cNvPr>
          <p:cNvSpPr/>
          <p:nvPr/>
        </p:nvSpPr>
        <p:spPr>
          <a:xfrm>
            <a:off x="11182511" y="3376311"/>
            <a:ext cx="546615" cy="2881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txBody>
          <a:bodyPr wrap="square" lIns="108000" tIns="36000" rIns="108000" bIns="360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spcBef>
                <a:spcPts val="300"/>
              </a:spcBef>
              <a:buSzPts val="1400"/>
            </a:pPr>
            <a:r>
              <a:rPr lang="pt-PT" b="1" i="1" dirty="0">
                <a:solidFill>
                  <a:schemeClr val="bg1"/>
                </a:solidFill>
                <a:latin typeface="Arial Narrow" panose="020B0606020202030204" pitchFamily="34" charset="0"/>
              </a:rPr>
              <a:t>Nota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8A48B90-4EF2-808E-AE8B-DA459EFA7D9E}"/>
              </a:ext>
            </a:extLst>
          </p:cNvPr>
          <p:cNvSpPr/>
          <p:nvPr/>
        </p:nvSpPr>
        <p:spPr>
          <a:xfrm>
            <a:off x="6731564" y="3787063"/>
            <a:ext cx="4997562" cy="12924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just"/>
            <a:endParaRPr lang="pt-PT" sz="12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23" name="Arrow: Chevron 16">
            <a:extLst>
              <a:ext uri="{FF2B5EF4-FFF2-40B4-BE49-F238E27FC236}">
                <a16:creationId xmlns:a16="http://schemas.microsoft.com/office/drawing/2014/main" id="{14386989-BD7A-420A-4D08-DA73998BAA9A}"/>
              </a:ext>
            </a:extLst>
          </p:cNvPr>
          <p:cNvSpPr/>
          <p:nvPr/>
        </p:nvSpPr>
        <p:spPr>
          <a:xfrm>
            <a:off x="5941648" y="4317911"/>
            <a:ext cx="426721" cy="351615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pt-PT" sz="1600" dirty="0">
              <a:solidFill>
                <a:schemeClr val="tx1"/>
              </a:solidFill>
            </a:endParaRPr>
          </a:p>
        </p:txBody>
      </p:sp>
      <p:sp>
        <p:nvSpPr>
          <p:cNvPr id="124" name="Arrow: Chevron 19">
            <a:extLst>
              <a:ext uri="{FF2B5EF4-FFF2-40B4-BE49-F238E27FC236}">
                <a16:creationId xmlns:a16="http://schemas.microsoft.com/office/drawing/2014/main" id="{96E9B262-0257-A87F-A2A2-BE5E2C40DDF5}"/>
              </a:ext>
            </a:extLst>
          </p:cNvPr>
          <p:cNvSpPr/>
          <p:nvPr/>
        </p:nvSpPr>
        <p:spPr>
          <a:xfrm>
            <a:off x="6260167" y="4323433"/>
            <a:ext cx="426721" cy="351615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pt-PT" sz="1600" dirty="0">
              <a:solidFill>
                <a:schemeClr val="tx1"/>
              </a:solidFill>
            </a:endParaRPr>
          </a:p>
        </p:txBody>
      </p:sp>
      <p:sp>
        <p:nvSpPr>
          <p:cNvPr id="125" name="Arrow: Chevron 18">
            <a:extLst>
              <a:ext uri="{FF2B5EF4-FFF2-40B4-BE49-F238E27FC236}">
                <a16:creationId xmlns:a16="http://schemas.microsoft.com/office/drawing/2014/main" id="{24F1FFCB-0B18-2253-3FF5-DA2D33697B6B}"/>
              </a:ext>
            </a:extLst>
          </p:cNvPr>
          <p:cNvSpPr/>
          <p:nvPr/>
        </p:nvSpPr>
        <p:spPr>
          <a:xfrm>
            <a:off x="6227541" y="2050151"/>
            <a:ext cx="426721" cy="351615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pt-PT" sz="1600" dirty="0">
              <a:solidFill>
                <a:schemeClr val="tx1"/>
              </a:solidFill>
            </a:endParaRPr>
          </a:p>
        </p:txBody>
      </p:sp>
      <p:sp>
        <p:nvSpPr>
          <p:cNvPr id="126" name="Arrow: Chevron 23">
            <a:extLst>
              <a:ext uri="{FF2B5EF4-FFF2-40B4-BE49-F238E27FC236}">
                <a16:creationId xmlns:a16="http://schemas.microsoft.com/office/drawing/2014/main" id="{489A416F-D4C8-D5CA-970C-B0B9AB5B16CA}"/>
              </a:ext>
            </a:extLst>
          </p:cNvPr>
          <p:cNvSpPr/>
          <p:nvPr/>
        </p:nvSpPr>
        <p:spPr>
          <a:xfrm>
            <a:off x="5972417" y="2050150"/>
            <a:ext cx="352667" cy="351615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pt-PT" sz="160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6ED44E5-332C-B75D-3942-18D6567343A1}"/>
              </a:ext>
            </a:extLst>
          </p:cNvPr>
          <p:cNvSpPr/>
          <p:nvPr/>
        </p:nvSpPr>
        <p:spPr>
          <a:xfrm>
            <a:off x="6731564" y="1314331"/>
            <a:ext cx="5095159" cy="14373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just"/>
            <a:endParaRPr lang="pt-PT" sz="1200" dirty="0">
              <a:solidFill>
                <a:schemeClr val="tx1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6674"/>
            <a:ext cx="253288" cy="3630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2102" y="555040"/>
            <a:ext cx="11640312" cy="1371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2102" y="617220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2902" y="629920"/>
            <a:ext cx="5384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Commodities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2102" y="873252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7502" y="8859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Commodity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6662" y="87325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3942" y="87325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1222" y="87325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6622" y="8859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102" y="112928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7502" y="114198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PETRÓLEO (BRENT)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56662" y="112928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3942" y="112928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51222" y="112928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2102" y="138531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7502" y="139801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MILHO (USD/BU)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56662" y="138531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3942" y="138531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1222" y="138531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2102" y="164134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7502" y="165404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SOJA (USD/BU)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56662" y="164134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3942" y="164134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51222" y="164134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2102" y="189738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7502" y="191008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TRIGO (USD/LBS)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56662" y="18973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653942" y="18973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751222" y="18973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62102" y="215341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7502" y="216611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CAFÉ (USD/LBS)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56662" y="215341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653942" y="215341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751222" y="215341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2102" y="2409444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7502" y="242214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AÇÚCAR (USD/LBS)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56662" y="2409444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653942" y="2409444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751222" y="2409444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62102" y="266547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87502" y="267817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ÓLEO DE PALMA (USD/LBS)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56662" y="266547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653942" y="266547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751222" y="266547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62102" y="292150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87502" y="293420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ALGODÃO (USD/LBS)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56662" y="292150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653942" y="292150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751222" y="292150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62102" y="317754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87502" y="319024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BANANA (USD/LBS)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56662" y="31775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3653942" y="31775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751222" y="31775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62102" y="3598164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12902" y="3610864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Minerais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2102" y="3854196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87502" y="38668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Mineral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556662" y="3854196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3653942" y="3854196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751222" y="3854196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776622" y="38668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2102" y="411022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87502" y="412292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OURO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556662" y="411022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653942" y="411022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751222" y="411022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362102" y="436626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87502" y="437896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FERRO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556662" y="436626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3653942" y="436626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4751222" y="436626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362102" y="462229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87502" y="46349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COBRE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556662" y="462229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3653942" y="462229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4751222" y="462229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362102" y="4878324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87502" y="48910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MANGANÊS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556662" y="4878324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653942" y="4878324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4751222" y="4878324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4" name="Picture 133" descr="foot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  <p:sp>
        <p:nvSpPr>
          <p:cNvPr id="137" name="object 132">
            <a:extLst>
              <a:ext uri="{FF2B5EF4-FFF2-40B4-BE49-F238E27FC236}">
                <a16:creationId xmlns:a16="http://schemas.microsoft.com/office/drawing/2014/main" id="{7AA49999-9B8C-1842-5015-EC6DDF2B2A6B}"/>
              </a:ext>
            </a:extLst>
          </p:cNvPr>
          <p:cNvSpPr txBox="1">
            <a:spLocks/>
          </p:cNvSpPr>
          <p:nvPr/>
        </p:nvSpPr>
        <p:spPr>
          <a:xfrm>
            <a:off x="361784" y="204966"/>
            <a:ext cx="1035193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pt-PT" sz="2000" b="1" i="1" dirty="0">
                <a:latin typeface="Arial Narrow" panose="020B0606020202030204" pitchFamily="34" charset="0"/>
              </a:rPr>
              <a:t>INFORMAÇÃO DE MERCADOS</a:t>
            </a:r>
            <a:endParaRPr lang="pt-AO" sz="2000" b="1" i="1" dirty="0">
              <a:latin typeface="Arial Narrow" panose="020B0606020202030204" pitchFamily="34" charset="0"/>
            </a:endParaRPr>
          </a:p>
        </p:txBody>
      </p:sp>
      <p:sp>
        <p:nvSpPr>
          <p:cNvPr id="138" name="Arrow: Chevron 18">
            <a:extLst>
              <a:ext uri="{FF2B5EF4-FFF2-40B4-BE49-F238E27FC236}">
                <a16:creationId xmlns:a16="http://schemas.microsoft.com/office/drawing/2014/main" id="{2AF73752-DC90-DEDB-A1C7-635BAFE03C5B}"/>
              </a:ext>
            </a:extLst>
          </p:cNvPr>
          <p:cNvSpPr/>
          <p:nvPr/>
        </p:nvSpPr>
        <p:spPr>
          <a:xfrm>
            <a:off x="6227541" y="2050151"/>
            <a:ext cx="426721" cy="351615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pt-PT" sz="1600" dirty="0">
              <a:solidFill>
                <a:schemeClr val="tx1"/>
              </a:solidFill>
            </a:endParaRPr>
          </a:p>
        </p:txBody>
      </p:sp>
      <p:sp>
        <p:nvSpPr>
          <p:cNvPr id="139" name="Arrow: Chevron 23">
            <a:extLst>
              <a:ext uri="{FF2B5EF4-FFF2-40B4-BE49-F238E27FC236}">
                <a16:creationId xmlns:a16="http://schemas.microsoft.com/office/drawing/2014/main" id="{5D312933-F679-C95D-B2FA-E6BD3088B04F}"/>
              </a:ext>
            </a:extLst>
          </p:cNvPr>
          <p:cNvSpPr/>
          <p:nvPr/>
        </p:nvSpPr>
        <p:spPr>
          <a:xfrm>
            <a:off x="5972417" y="2050150"/>
            <a:ext cx="352667" cy="351615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pt-PT" sz="1600" dirty="0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711F7EC-0A75-1983-1D55-D43A228E8EB7}"/>
              </a:ext>
            </a:extLst>
          </p:cNvPr>
          <p:cNvSpPr/>
          <p:nvPr/>
        </p:nvSpPr>
        <p:spPr>
          <a:xfrm>
            <a:off x="6731564" y="1314331"/>
            <a:ext cx="5095159" cy="14373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just"/>
            <a:endParaRPr lang="pt-PT" sz="1200" dirty="0">
              <a:solidFill>
                <a:schemeClr val="tx1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2556DE7-D51A-18A2-04EA-6D4673B386A7}"/>
              </a:ext>
            </a:extLst>
          </p:cNvPr>
          <p:cNvSpPr/>
          <p:nvPr/>
        </p:nvSpPr>
        <p:spPr>
          <a:xfrm>
            <a:off x="11182511" y="3376311"/>
            <a:ext cx="546615" cy="2881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txBody>
          <a:bodyPr wrap="square" lIns="108000" tIns="36000" rIns="108000" bIns="360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spcBef>
                <a:spcPts val="300"/>
              </a:spcBef>
              <a:buSzPts val="1400"/>
            </a:pPr>
            <a:r>
              <a:rPr lang="pt-PT" b="1" i="1" dirty="0">
                <a:solidFill>
                  <a:schemeClr val="bg1"/>
                </a:solidFill>
                <a:latin typeface="Arial Narrow" panose="020B0606020202030204" pitchFamily="34" charset="0"/>
              </a:rPr>
              <a:t>Nota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632C61D6-F2A6-8969-4ECA-EDBAF6EB67ED}"/>
              </a:ext>
            </a:extLst>
          </p:cNvPr>
          <p:cNvSpPr/>
          <p:nvPr/>
        </p:nvSpPr>
        <p:spPr>
          <a:xfrm>
            <a:off x="6731564" y="3787063"/>
            <a:ext cx="4997562" cy="12924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just"/>
            <a:endParaRPr lang="pt-PT" sz="12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45" name="Arrow: Chevron 16">
            <a:extLst>
              <a:ext uri="{FF2B5EF4-FFF2-40B4-BE49-F238E27FC236}">
                <a16:creationId xmlns:a16="http://schemas.microsoft.com/office/drawing/2014/main" id="{333C96D2-74BE-695C-91BC-EA6A15C2A362}"/>
              </a:ext>
            </a:extLst>
          </p:cNvPr>
          <p:cNvSpPr/>
          <p:nvPr/>
        </p:nvSpPr>
        <p:spPr>
          <a:xfrm>
            <a:off x="5941648" y="4317911"/>
            <a:ext cx="426721" cy="351615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pt-PT" sz="1600" dirty="0">
              <a:solidFill>
                <a:schemeClr val="tx1"/>
              </a:solidFill>
            </a:endParaRPr>
          </a:p>
        </p:txBody>
      </p:sp>
      <p:sp>
        <p:nvSpPr>
          <p:cNvPr id="146" name="Arrow: Chevron 19">
            <a:extLst>
              <a:ext uri="{FF2B5EF4-FFF2-40B4-BE49-F238E27FC236}">
                <a16:creationId xmlns:a16="http://schemas.microsoft.com/office/drawing/2014/main" id="{30FE15A1-3216-A082-1235-78AABB6C8C11}"/>
              </a:ext>
            </a:extLst>
          </p:cNvPr>
          <p:cNvSpPr/>
          <p:nvPr/>
        </p:nvSpPr>
        <p:spPr>
          <a:xfrm>
            <a:off x="6260167" y="4323433"/>
            <a:ext cx="426721" cy="351615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pt-PT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825</Words>
  <Application>Microsoft Macintosh PowerPoint</Application>
  <PresentationFormat>Custom</PresentationFormat>
  <Paragraphs>423</Paragraphs>
  <Slides>11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11</vt:i4>
      </vt:variant>
      <vt:variant>
        <vt:lpstr>Slide Titles</vt:lpstr>
      </vt:variant>
      <vt:variant>
        <vt:i4>11</vt:i4>
      </vt:variant>
    </vt:vector>
  </HeadingPairs>
  <TitlesOfParts>
    <vt:vector size="27" baseType="lpstr">
      <vt:lpstr>Aptos</vt:lpstr>
      <vt:lpstr>Arial</vt:lpstr>
      <vt:lpstr>Arial Narrow</vt:lpstr>
      <vt:lpstr>Calibri</vt:lpstr>
      <vt:lpstr>Office Theme</vt:lpstr>
      <vt:lpstr>file:///\\FPS-P01.BDA.LOCAL\PARTILHA\DFI\RGF\2026\RESUMO%20DE%20MERCADO\Resumo%20diário2026.xlsb!Tabelas%20intermedias!%5bResumo%20diário2026.xlsb%5dTabelas%20intermedias%20Chart%201-1</vt:lpstr>
      <vt:lpstr>file:///\\FPS-P01.BDA.LOCAL\PARTILHA\DFI\RGF\2026\RESUMO%20DE%20MERCADO\Resumo%20diário2026.xlsb!Tabelas%20intermedias!%5bResumo%20diário2026.xlsb%5dTabelas%20intermedias%20Gráfico%206</vt:lpstr>
      <vt:lpstr>file:///\\FPS-P01.BDA.LOCAL\PARTILHA\DFI\RGF\2026\RESUMO%20DE%20MERCADO\Resumo%20diário2026.xlsb!Tabelas%20intermedias!%5bResumo%20diário2026.xlsb%5dTabelas%20intermedias%20Gráfico%202</vt:lpstr>
      <vt:lpstr>file:///\\FPS-P01.BDA.LOCAL\PARTILHA\DFI\RGF\2026\RESUMO%20DE%20MERCADO\Resumo%20diário2026.xlsb!Executado!L16C3:L43C8</vt:lpstr>
      <vt:lpstr>file:///\\FPS-P01.BDA.LOCAL\PARTILHA\DFI\RGF\2026\RESUMO%20DE%20MERCADO\Resumo%20diário2026.xlsb!Quadro%20Liquidez!L7C34:L11C36</vt:lpstr>
      <vt:lpstr>file:///\\FPS-P01.BDA.LOCAL\PARTILHA\DFI\RGF\2026\RESUMO%20DE%20MERCADO\Resumo%20diário2026.xlsb!Tabelas%20intermedias!%5bResumo%20diário2026.xlsb%5dTabelas%20intermedias%20Chart%201</vt:lpstr>
      <vt:lpstr>file:///\\FPS-P01.BDA.LOCAL\PARTILHA\DFI\RGF\2026\RESUMO%20DE%20MERCADO\Resumo%20diário2026.xlsb!Tabelas%20intermedias!L37C3:L44C7</vt:lpstr>
      <vt:lpstr>file:///\\FPS-P01.BDA.LOCAL\PARTILHA\DFI\RGF\2026\RESUMO%20DE%20MERCADO\Resumo%20diário2026.xlsb!Quadro%20Liquidez!%5bResumo%20diário2026.xlsb%5dQuadro%20Liquidez%20Chart%202</vt:lpstr>
      <vt:lpstr>file:///\\FPS-P01.BDA.LOCAL\PARTILHA\DFI\RGF\2026\RESUMO%20DE%20MERCADO\Resumo%20diário2026.xlsb!Quadro%20Liquidez!L7C2:L15C8</vt:lpstr>
      <vt:lpstr>file:///\\FPS-P01.BDA.LOCAL\PARTILHA\DFI\RGF\2026\RESUMO%20DE%20MERCADO\Resumo%20diário2026.xlsb!Filter%20-%20M.Monetário_MN!L10C12:L13C18</vt:lpstr>
      <vt:lpstr>file:///\\FPS-P01.BDA.LOCAL\PARTILHA\DFI\RGF\2026\RESUMO%20DE%20MERCADO\Resumo%20diário2026.xlsb!Filter%20-%20M.Monetário_MN!L33C13:L48C19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UG-Trindade, Reinaldo</cp:lastModifiedBy>
  <cp:revision>2</cp:revision>
  <dcterms:created xsi:type="dcterms:W3CDTF">2013-01-27T09:14:16Z</dcterms:created>
  <dcterms:modified xsi:type="dcterms:W3CDTF">2026-04-14T01:48:01Z</dcterms:modified>
  <cp:category/>
</cp:coreProperties>
</file>